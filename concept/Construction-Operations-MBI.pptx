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0" r:id="rId2"/>
    <p:sldId id="291" r:id="rId3"/>
    <p:sldId id="287" r:id="rId4"/>
    <p:sldId id="296" r:id="rId5"/>
    <p:sldId id="289" r:id="rId6"/>
    <p:sldId id="292" r:id="rId7"/>
    <p:sldId id="297" r:id="rId8"/>
    <p:sldId id="293" r:id="rId9"/>
    <p:sldId id="298" r:id="rId10"/>
    <p:sldId id="294" r:id="rId11"/>
    <p:sldId id="283" r:id="rId12"/>
    <p:sldId id="29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2" d="100"/>
          <a:sy n="52" d="100"/>
        </p:scale>
        <p:origin x="52"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C49BC-BEE1-4EE6-C078-928FA5B7D5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27EE07-7220-1A4E-7704-54B8BF30EE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23299A-AAC0-F105-221F-F45559117FAC}"/>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5" name="Footer Placeholder 4">
            <a:extLst>
              <a:ext uri="{FF2B5EF4-FFF2-40B4-BE49-F238E27FC236}">
                <a16:creationId xmlns:a16="http://schemas.microsoft.com/office/drawing/2014/main" id="{2A89A187-66A0-A1A5-BAD0-EBD689738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3FA723-E61C-5F5E-8D32-7867D66DAD49}"/>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75440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19BB2-4461-5D9B-5F79-1B90A7180B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9CACD7-EBEC-F9ED-70B5-AE3EFC5FB8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2102F6-0052-8A0B-FB17-F6F1609E6A48}"/>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5" name="Footer Placeholder 4">
            <a:extLst>
              <a:ext uri="{FF2B5EF4-FFF2-40B4-BE49-F238E27FC236}">
                <a16:creationId xmlns:a16="http://schemas.microsoft.com/office/drawing/2014/main" id="{0E27AE8A-E25E-94D2-6B74-30C9B9AB1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C126E-1F7C-5F39-D4C1-A253D3B416A8}"/>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2795222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64605-A253-98FD-ED31-20C449DE83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C817F0-5EE2-BFCA-509D-DEA8A1F1FD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E7E03E-F4DE-CABF-C82B-F66CDF5A579B}"/>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5" name="Footer Placeholder 4">
            <a:extLst>
              <a:ext uri="{FF2B5EF4-FFF2-40B4-BE49-F238E27FC236}">
                <a16:creationId xmlns:a16="http://schemas.microsoft.com/office/drawing/2014/main" id="{5093A259-816B-7A3B-1854-FB286C4E4A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78672-8D0A-1DA8-E579-FD6399C3F5E9}"/>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94977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4E91-E222-F664-BDCF-C732CD498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91B54F-75F8-8A16-1B96-F745F2E980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4A721C-2B08-E517-91E5-64FCD2B87E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5C0F39-A7A3-D86F-AEBB-7142A8C4F50F}"/>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6" name="Footer Placeholder 5">
            <a:extLst>
              <a:ext uri="{FF2B5EF4-FFF2-40B4-BE49-F238E27FC236}">
                <a16:creationId xmlns:a16="http://schemas.microsoft.com/office/drawing/2014/main" id="{80F85B30-D114-052B-1B40-4CDBBE2475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6CFB45-6163-9AC1-E1AC-79272BC4EC95}"/>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320024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7408B-307E-EB41-A105-4B9497B03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CCA821-DD0B-AE87-9712-7012C8019E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930745-B41A-1DB3-7D3F-9CABAC9FEC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F635D5-2601-4EFF-49AA-0312ACAB95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359C39-177D-A187-0B4F-F7419CE17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6261FC-4905-6112-2250-50A5E079B9C6}"/>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8" name="Footer Placeholder 7">
            <a:extLst>
              <a:ext uri="{FF2B5EF4-FFF2-40B4-BE49-F238E27FC236}">
                <a16:creationId xmlns:a16="http://schemas.microsoft.com/office/drawing/2014/main" id="{4424EC2A-3460-252B-0237-97E8A07E63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496792-5E67-AF1D-0E81-F72FAF223ADC}"/>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2857350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E4ABA-26BE-BFE3-66EB-D07663EC99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55B70E-E52A-BA70-C286-EE0F46639A1F}"/>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4" name="Footer Placeholder 3">
            <a:extLst>
              <a:ext uri="{FF2B5EF4-FFF2-40B4-BE49-F238E27FC236}">
                <a16:creationId xmlns:a16="http://schemas.microsoft.com/office/drawing/2014/main" id="{748D9741-2634-4098-BD4A-4DB9137F41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17C6A3-6295-9B8E-01CD-CD8A1BFE3DAA}"/>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3836294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8F18D0-C2BA-B76A-70B9-3579C5650348}"/>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3" name="Footer Placeholder 2">
            <a:extLst>
              <a:ext uri="{FF2B5EF4-FFF2-40B4-BE49-F238E27FC236}">
                <a16:creationId xmlns:a16="http://schemas.microsoft.com/office/drawing/2014/main" id="{1796E5DF-29BB-0B5F-49B1-62BF170D6A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A8E72D-BB32-C758-B16F-248A68178F52}"/>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1524603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A605F-C412-2CAF-8739-4A4F2F73D9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28E53E-532A-749C-FD77-8AC446AC80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F80B60-3A74-60FF-4EE2-F3FA9AE2E4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A486D3-6542-82B7-6414-A8C6D1F3BD5B}"/>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6" name="Footer Placeholder 5">
            <a:extLst>
              <a:ext uri="{FF2B5EF4-FFF2-40B4-BE49-F238E27FC236}">
                <a16:creationId xmlns:a16="http://schemas.microsoft.com/office/drawing/2014/main" id="{4EC8A1D7-B658-1A9B-78B8-2EB65E6C3A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30272-5040-A319-7E63-EA6413080C0E}"/>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706840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EC6-DC7D-A917-8BE5-B0A940FD07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E9A4D6-9E53-91C2-5418-0DF9C82763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A84AE6-C06C-C192-1A10-4959A29613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285BAE-03F3-8B26-9541-6C46C4DB8F68}"/>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6" name="Footer Placeholder 5">
            <a:extLst>
              <a:ext uri="{FF2B5EF4-FFF2-40B4-BE49-F238E27FC236}">
                <a16:creationId xmlns:a16="http://schemas.microsoft.com/office/drawing/2014/main" id="{CCCCCED5-634B-39D8-ECF4-7C29DE1295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68D3C7-A7DF-5315-C641-853D60BE0607}"/>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3422261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D29E-9299-909D-1844-C8462123B4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669A8C-B522-C7DA-70FC-1C9FCC57B8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767CB-BA3F-FFEE-54FE-99CFECE18366}"/>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5" name="Footer Placeholder 4">
            <a:extLst>
              <a:ext uri="{FF2B5EF4-FFF2-40B4-BE49-F238E27FC236}">
                <a16:creationId xmlns:a16="http://schemas.microsoft.com/office/drawing/2014/main" id="{2A039B9C-1C80-1665-9DDA-B3EF0CBED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967507-434B-5C68-04E5-5E30CBEC07A4}"/>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4183642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81FEC7-57B5-1413-C4B8-C3001283B4D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26D7B5-AA95-6FED-4156-7D7BAD6DA8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AB0589-E3C1-7EEA-BECE-52A42D315888}"/>
              </a:ext>
            </a:extLst>
          </p:cNvPr>
          <p:cNvSpPr>
            <a:spLocks noGrp="1"/>
          </p:cNvSpPr>
          <p:nvPr>
            <p:ph type="dt" sz="half" idx="10"/>
          </p:nvPr>
        </p:nvSpPr>
        <p:spPr/>
        <p:txBody>
          <a:bodyPr/>
          <a:lstStyle/>
          <a:p>
            <a:fld id="{6CB62F9E-863D-4902-96FC-5830E015391B}" type="datetimeFigureOut">
              <a:rPr lang="en-US" smtClean="0"/>
              <a:t>9/7/2026</a:t>
            </a:fld>
            <a:endParaRPr lang="en-US"/>
          </a:p>
        </p:txBody>
      </p:sp>
      <p:sp>
        <p:nvSpPr>
          <p:cNvPr id="5" name="Footer Placeholder 4">
            <a:extLst>
              <a:ext uri="{FF2B5EF4-FFF2-40B4-BE49-F238E27FC236}">
                <a16:creationId xmlns:a16="http://schemas.microsoft.com/office/drawing/2014/main" id="{BCB09AF5-BC39-ACF8-F1C0-6BBB9866BC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8161FA-52D9-0B49-7445-20284B7A7B2B}"/>
              </a:ext>
            </a:extLst>
          </p:cNvPr>
          <p:cNvSpPr>
            <a:spLocks noGrp="1"/>
          </p:cNvSpPr>
          <p:nvPr>
            <p:ph type="sldNum" sz="quarter" idx="12"/>
          </p:nvPr>
        </p:nvSpPr>
        <p:spPr/>
        <p:txBody>
          <a:bodyPr/>
          <a:lstStyle/>
          <a:p>
            <a:fld id="{95EE9F58-0FF5-479C-B01F-F1A1923D108C}" type="slidenum">
              <a:rPr lang="en-US" smtClean="0"/>
              <a:t>‹#›</a:t>
            </a:fld>
            <a:endParaRPr lang="en-US"/>
          </a:p>
        </p:txBody>
      </p:sp>
    </p:spTree>
    <p:extLst>
      <p:ext uri="{BB962C8B-B14F-4D97-AF65-F5344CB8AC3E}">
        <p14:creationId xmlns:p14="http://schemas.microsoft.com/office/powerpoint/2010/main" val="2981417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68655F-1626-ACB5-0089-551F467BDD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83FAE4-0C07-4B73-9043-3967F0B47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5AF8D1-BEA2-1F2A-A503-076D0EAF39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B62F9E-863D-4902-96FC-5830E015391B}" type="datetimeFigureOut">
              <a:rPr lang="en-US" smtClean="0"/>
              <a:t>9/7/2026</a:t>
            </a:fld>
            <a:endParaRPr lang="en-US"/>
          </a:p>
        </p:txBody>
      </p:sp>
      <p:sp>
        <p:nvSpPr>
          <p:cNvPr id="5" name="Footer Placeholder 4">
            <a:extLst>
              <a:ext uri="{FF2B5EF4-FFF2-40B4-BE49-F238E27FC236}">
                <a16:creationId xmlns:a16="http://schemas.microsoft.com/office/drawing/2014/main" id="{08CD5408-42F0-56AE-DACB-06D3578AD3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D194D8-C0D2-6F97-E0CC-1AC0CD58D3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EE9F58-0FF5-479C-B01F-F1A1923D108C}" type="slidenum">
              <a:rPr lang="en-US" smtClean="0"/>
              <a:t>‹#›</a:t>
            </a:fld>
            <a:endParaRPr lang="en-US"/>
          </a:p>
        </p:txBody>
      </p:sp>
    </p:spTree>
    <p:extLst>
      <p:ext uri="{BB962C8B-B14F-4D97-AF65-F5344CB8AC3E}">
        <p14:creationId xmlns:p14="http://schemas.microsoft.com/office/powerpoint/2010/main" val="36078467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1" kern="1200">
          <a:solidFill>
            <a:srgbClr val="12556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700" kern="1200">
          <a:solidFill>
            <a:srgbClr val="16262E"/>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6262E"/>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6262E"/>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6262E"/>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6262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6262E"/>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6262E"/>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6262E"/>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6262E"/>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92EA9-E176-C1C9-1FE9-93C86E5D73DA}"/>
              </a:ext>
            </a:extLst>
          </p:cNvPr>
          <p:cNvSpPr>
            <a:spLocks noGrp="1"/>
          </p:cNvSpPr>
          <p:nvPr>
            <p:ph type="ctrTitle"/>
          </p:nvPr>
        </p:nvSpPr>
        <p:spPr>
          <a:xfrm>
            <a:off x="914400" y="1905000"/>
            <a:ext cx="10363200" cy="1270000"/>
          </a:xfrm>
        </p:spPr>
        <p:txBody>
          <a:bodyPr/>
          <a:lstStyle/>
          <a:p>
            <a:pPr algn="l">
              <a:buNone/>
            </a:pPr>
            <a:r>
              <a:rPr lang="en-US" sz="4000" b="1" dirty="0">
                <a:solidFill>
                  <a:srgbClr val="12556B"/>
                </a:solidFill>
              </a:rPr>
              <a:t>Construction Operations</a:t>
            </a:r>
          </a:p>
          <a:p>
            <a:pPr algn="l">
              <a:buNone/>
            </a:pPr>
            <a:r>
              <a:rPr lang="en-US" sz="4000" b="1" dirty="0">
                <a:solidFill>
                  <a:srgbClr val="0E8C9E"/>
                </a:solidFill>
              </a:rPr>
              <a:t>End-to-End Process Flows</a:t>
            </a:r>
          </a:p>
        </p:txBody>
      </p:sp>
      <p:sp>
        <p:nvSpPr>
          <p:cNvPr id="3" name="Subtitle 2">
            <a:extLst>
              <a:ext uri="{FF2B5EF4-FFF2-40B4-BE49-F238E27FC236}">
                <a16:creationId xmlns:a16="http://schemas.microsoft.com/office/drawing/2014/main" id="{29973469-5F1D-1092-D42A-447AFD031247}"/>
              </a:ext>
            </a:extLst>
          </p:cNvPr>
          <p:cNvSpPr>
            <a:spLocks noGrp="1"/>
          </p:cNvSpPr>
          <p:nvPr>
            <p:ph type="subTitle" idx="1"/>
          </p:nvPr>
        </p:nvSpPr>
        <p:spPr>
          <a:xfrm>
            <a:off x="914400" y="3454400"/>
            <a:ext cx="9652000" cy="711200"/>
          </a:xfrm>
        </p:spPr>
        <p:txBody>
          <a:bodyPr/>
          <a:lstStyle/>
          <a:p>
            <a:pPr algn="l">
              <a:buNone/>
            </a:pPr>
            <a:r>
              <a:rPr lang="en-US" sz="1700" b="0" dirty="0">
                <a:solidFill>
                  <a:srgbClr val="6B7B85"/>
                </a:solidFill>
              </a:rPr>
              <a:t>Project acquisition, material and vendor acquisition, HRIS payroll, and OPEX consolidation — mapped across the four project phases</a:t>
            </a:r>
          </a:p>
        </p:txBody>
      </p:sp>
      <p:sp>
        <p:nvSpPr>
          <p:cNvPr id="101" name="s101"/>
          <p:cNvSpPr/>
          <p:nvPr/>
        </p:nvSpPr>
        <p:spPr>
          <a:xfrm>
            <a:off x="914400" y="1600200"/>
            <a:ext cx="1524000" cy="63500"/>
          </a:xfrm>
          <a:prstGeom prst="rect">
            <a:avLst/>
          </a:prstGeom>
          <a:solidFill>
            <a:srgbClr val="C8621B"/>
          </a:solidFill>
          <a:ln>
            <a:noFill/>
          </a:ln>
        </p:spPr>
        <p:txBody>
          <a:bodyPr wrap="square" lIns="76200" tIns="50800" rIns="76200" bIns="50800" anchor="ctr">
            <a:noAutofit/>
          </a:bodyPr>
          <a:lstStyle/>
          <a:p>
            <a:pPr>
              <a:buNone/>
            </a:pPr>
            <a:endParaRPr lang="en-US"/>
          </a:p>
        </p:txBody>
      </p:sp>
      <p:sp>
        <p:nvSpPr>
          <p:cNvPr id="102" name="s102"/>
          <p:cNvSpPr/>
          <p:nvPr/>
        </p:nvSpPr>
        <p:spPr>
          <a:xfrm>
            <a:off x="609600" y="4978400"/>
            <a:ext cx="2743200" cy="660400"/>
          </a:xfrm>
          <a:prstGeom prst="chevron">
            <a:avLst/>
          </a:prstGeom>
          <a:solidFill>
            <a:srgbClr val="3FB4C4"/>
          </a:solidFill>
          <a:ln>
            <a:noFill/>
          </a:ln>
        </p:spPr>
        <p:txBody>
          <a:bodyPr wrap="square" lIns="177800" tIns="50800" rIns="177800" bIns="50800" anchor="ctr">
            <a:noAutofit/>
          </a:bodyPr>
          <a:lstStyle/>
          <a:p>
            <a:pPr algn="ctr">
              <a:buNone/>
            </a:pPr>
            <a:r>
              <a:rPr lang="en-US" sz="1200" b="1" dirty="0">
                <a:solidFill>
                  <a:srgbClr val="0B3A4A"/>
                </a:solidFill>
              </a:rPr>
              <a:t>PROJECT ACQUISITION</a:t>
            </a:r>
          </a:p>
        </p:txBody>
      </p:sp>
      <p:sp>
        <p:nvSpPr>
          <p:cNvPr id="103" name="s103"/>
          <p:cNvSpPr/>
          <p:nvPr/>
        </p:nvSpPr>
        <p:spPr>
          <a:xfrm>
            <a:off x="3429000" y="4978400"/>
            <a:ext cx="2743200" cy="660400"/>
          </a:xfrm>
          <a:prstGeom prst="chevron">
            <a:avLst/>
          </a:prstGeom>
          <a:solidFill>
            <a:srgbClr val="0E8C9E"/>
          </a:solidFill>
          <a:ln>
            <a:noFill/>
          </a:ln>
        </p:spPr>
        <p:txBody>
          <a:bodyPr wrap="square" lIns="177800" tIns="50800" rIns="177800" bIns="50800" anchor="ctr">
            <a:noAutofit/>
          </a:bodyPr>
          <a:lstStyle/>
          <a:p>
            <a:pPr algn="ctr">
              <a:buNone/>
            </a:pPr>
            <a:r>
              <a:rPr lang="en-US" sz="1200" b="1" dirty="0">
                <a:solidFill>
                  <a:srgbClr val="FFFFFF"/>
                </a:solidFill>
              </a:rPr>
              <a:t>PRE-CONSTRUCTION</a:t>
            </a:r>
          </a:p>
        </p:txBody>
      </p:sp>
      <p:sp>
        <p:nvSpPr>
          <p:cNvPr id="104" name="s104"/>
          <p:cNvSpPr/>
          <p:nvPr/>
        </p:nvSpPr>
        <p:spPr>
          <a:xfrm>
            <a:off x="6248400" y="4978400"/>
            <a:ext cx="2743200" cy="660400"/>
          </a:xfrm>
          <a:prstGeom prst="chevron">
            <a:avLst/>
          </a:prstGeom>
          <a:solidFill>
            <a:srgbClr val="12556B"/>
          </a:solidFill>
          <a:ln>
            <a:noFill/>
          </a:ln>
        </p:spPr>
        <p:txBody>
          <a:bodyPr wrap="square" lIns="177800" tIns="50800" rIns="177800" bIns="50800" anchor="ctr">
            <a:noAutofit/>
          </a:bodyPr>
          <a:lstStyle/>
          <a:p>
            <a:pPr algn="ctr">
              <a:buNone/>
            </a:pPr>
            <a:r>
              <a:rPr lang="en-US" sz="1200" b="1" dirty="0">
                <a:solidFill>
                  <a:srgbClr val="FFFFFF"/>
                </a:solidFill>
              </a:rPr>
              <a:t>CONSTRUCTION</a:t>
            </a:r>
          </a:p>
        </p:txBody>
      </p:sp>
      <p:sp>
        <p:nvSpPr>
          <p:cNvPr id="105" name="s105"/>
          <p:cNvSpPr/>
          <p:nvPr/>
        </p:nvSpPr>
        <p:spPr>
          <a:xfrm>
            <a:off x="9067800" y="4978400"/>
            <a:ext cx="2743200" cy="660400"/>
          </a:xfrm>
          <a:prstGeom prst="chevron">
            <a:avLst/>
          </a:prstGeom>
          <a:solidFill>
            <a:srgbClr val="0B3A4A"/>
          </a:solidFill>
          <a:ln>
            <a:noFill/>
          </a:ln>
        </p:spPr>
        <p:txBody>
          <a:bodyPr wrap="square" lIns="177800" tIns="50800" rIns="177800" bIns="50800" anchor="ctr">
            <a:noAutofit/>
          </a:bodyPr>
          <a:lstStyle/>
          <a:p>
            <a:pPr algn="ctr">
              <a:buNone/>
            </a:pPr>
            <a:r>
              <a:rPr lang="en-US" sz="1200" b="1" dirty="0">
                <a:solidFill>
                  <a:srgbClr val="FFFFFF"/>
                </a:solidFill>
              </a:rPr>
              <a:t>POST-CONSTRUCTION</a:t>
            </a:r>
          </a:p>
        </p:txBody>
      </p:sp>
      <p:sp>
        <p:nvSpPr>
          <p:cNvPr id="106" name="s106"/>
          <p:cNvSpPr/>
          <p:nvPr/>
        </p:nvSpPr>
        <p:spPr>
          <a:xfrm>
            <a:off x="609600" y="5867400"/>
            <a:ext cx="8890000" cy="304800"/>
          </a:xfrm>
          <a:prstGeom prst="rect">
            <a:avLst/>
          </a:prstGeom>
          <a:noFill/>
          <a:ln>
            <a:noFill/>
          </a:ln>
        </p:spPr>
        <p:txBody>
          <a:bodyPr wrap="square" lIns="76200" tIns="50800" rIns="76200" bIns="50800" anchor="t">
            <a:noAutofit/>
          </a:bodyPr>
          <a:lstStyle/>
          <a:p>
            <a:pPr algn="l">
              <a:buNone/>
            </a:pPr>
            <a:r>
              <a:rPr lang="en-US" sz="1200" b="0" dirty="0">
                <a:solidFill>
                  <a:srgbClr val="9AAEB6"/>
                </a:solidFill>
              </a:rPr>
              <a:t>Four phases · four process chains · owners, forms and approval gates defined at every step</a:t>
            </a:r>
          </a:p>
        </p:txBody>
      </p:sp>
    </p:spTree>
    <p:extLst>
      <p:ext uri="{BB962C8B-B14F-4D97-AF65-F5344CB8AC3E}">
        <p14:creationId xmlns:p14="http://schemas.microsoft.com/office/powerpoint/2010/main" val="2922121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C5ACF-48DA-C48B-66AB-6E0FFC0B0F49}"/>
              </a:ext>
            </a:extLst>
          </p:cNvPr>
          <p:cNvSpPr>
            <a:spLocks noGrp="1"/>
          </p:cNvSpPr>
          <p:nvPr>
            <p:ph type="title"/>
          </p:nvPr>
        </p:nvSpPr>
        <p:spPr>
          <a:xfrm>
            <a:off x="508000" y="558800"/>
            <a:ext cx="11176000" cy="508000"/>
          </a:xfrm>
        </p:spPr>
        <p:txBody>
          <a:bodyPr/>
          <a:lstStyle/>
          <a:p>
            <a:pPr algn="l">
              <a:buNone/>
            </a:pPr>
            <a:r>
              <a:rPr lang="en-US" sz="2400" b="1" dirty="0">
                <a:solidFill>
                  <a:srgbClr val="12556B"/>
                </a:solidFill>
              </a:rPr>
              <a:t>Four process chains run across the four project phases</a:t>
            </a:r>
          </a:p>
        </p:txBody>
      </p:sp>
      <p:sp>
        <p:nvSpPr>
          <p:cNvPr id="101" name="s101"/>
          <p:cNvSpPr/>
          <p:nvPr/>
        </p:nvSpPr>
        <p:spPr>
          <a:xfrm>
            <a:off x="508000" y="330200"/>
            <a:ext cx="5080000" cy="203200"/>
          </a:xfrm>
          <a:prstGeom prst="rect">
            <a:avLst/>
          </a:prstGeom>
          <a:noFill/>
          <a:ln>
            <a:noFill/>
          </a:ln>
        </p:spPr>
        <p:txBody>
          <a:bodyPr wrap="square" lIns="0" tIns="76200" rIns="0" bIns="76200" anchor="t">
            <a:noAutofit/>
          </a:bodyPr>
          <a:lstStyle/>
          <a:p>
            <a:pPr algn="l">
              <a:buNone/>
            </a:pPr>
            <a:r>
              <a:rPr lang="en-US" sz="1000" b="1" dirty="0">
                <a:solidFill>
                  <a:srgbClr val="C8621B"/>
                </a:solidFill>
              </a:rPr>
              <a:t>PROCESS MAP</a:t>
            </a:r>
          </a:p>
        </p:txBody>
      </p:sp>
      <p:sp>
        <p:nvSpPr>
          <p:cNvPr id="102" name="s102"/>
          <p:cNvSpPr/>
          <p:nvPr/>
        </p:nvSpPr>
        <p:spPr>
          <a:xfrm>
            <a:off x="2159000" y="1219200"/>
            <a:ext cx="2362200" cy="508000"/>
          </a:xfrm>
          <a:prstGeom prst="chevron">
            <a:avLst/>
          </a:prstGeom>
          <a:solidFill>
            <a:srgbClr val="3FB4C4"/>
          </a:solidFill>
          <a:ln>
            <a:noFill/>
          </a:ln>
        </p:spPr>
        <p:txBody>
          <a:bodyPr wrap="square" lIns="152400" tIns="76200" rIns="152400" bIns="76200" anchor="ctr">
            <a:noAutofit/>
          </a:bodyPr>
          <a:lstStyle/>
          <a:p>
            <a:pPr algn="ctr">
              <a:buNone/>
            </a:pPr>
            <a:r>
              <a:rPr lang="en-US" sz="1000" b="1" dirty="0">
                <a:solidFill>
                  <a:srgbClr val="0B3A4A"/>
                </a:solidFill>
              </a:rPr>
              <a:t>1 · PROJECT ACQUISITION</a:t>
            </a:r>
          </a:p>
        </p:txBody>
      </p:sp>
      <p:sp>
        <p:nvSpPr>
          <p:cNvPr id="103" name="s103"/>
          <p:cNvSpPr/>
          <p:nvPr/>
        </p:nvSpPr>
        <p:spPr>
          <a:xfrm>
            <a:off x="4597400" y="1219200"/>
            <a:ext cx="2362200" cy="508000"/>
          </a:xfrm>
          <a:prstGeom prst="chevron">
            <a:avLst/>
          </a:prstGeom>
          <a:solidFill>
            <a:srgbClr val="0E8C9E"/>
          </a:solidFill>
          <a:ln>
            <a:noFill/>
          </a:ln>
        </p:spPr>
        <p:txBody>
          <a:bodyPr wrap="square" lIns="152400" tIns="76200" rIns="152400" bIns="76200" anchor="ctr">
            <a:noAutofit/>
          </a:bodyPr>
          <a:lstStyle/>
          <a:p>
            <a:pPr algn="ctr">
              <a:buNone/>
            </a:pPr>
            <a:r>
              <a:rPr lang="en-US" sz="1000" b="1" dirty="0">
                <a:solidFill>
                  <a:srgbClr val="FFFFFF"/>
                </a:solidFill>
              </a:rPr>
              <a:t>2 · PRE-CONSTRUCTION</a:t>
            </a:r>
          </a:p>
        </p:txBody>
      </p:sp>
      <p:sp>
        <p:nvSpPr>
          <p:cNvPr id="104" name="s104"/>
          <p:cNvSpPr/>
          <p:nvPr/>
        </p:nvSpPr>
        <p:spPr>
          <a:xfrm>
            <a:off x="7035800" y="1219200"/>
            <a:ext cx="2362200" cy="508000"/>
          </a:xfrm>
          <a:prstGeom prst="chevron">
            <a:avLst/>
          </a:prstGeom>
          <a:solidFill>
            <a:srgbClr val="12556B"/>
          </a:solidFill>
          <a:ln>
            <a:noFill/>
          </a:ln>
        </p:spPr>
        <p:txBody>
          <a:bodyPr wrap="square" lIns="152400" tIns="76200" rIns="152400" bIns="76200" anchor="ctr">
            <a:noAutofit/>
          </a:bodyPr>
          <a:lstStyle/>
          <a:p>
            <a:pPr algn="ctr">
              <a:buNone/>
            </a:pPr>
            <a:r>
              <a:rPr lang="en-US" sz="1000" b="1" dirty="0">
                <a:solidFill>
                  <a:srgbClr val="FFFFFF"/>
                </a:solidFill>
              </a:rPr>
              <a:t>3 · CONSTRUCTION</a:t>
            </a:r>
          </a:p>
        </p:txBody>
      </p:sp>
      <p:sp>
        <p:nvSpPr>
          <p:cNvPr id="105" name="s105"/>
          <p:cNvSpPr/>
          <p:nvPr/>
        </p:nvSpPr>
        <p:spPr>
          <a:xfrm>
            <a:off x="9474200" y="1219200"/>
            <a:ext cx="2362200" cy="508000"/>
          </a:xfrm>
          <a:prstGeom prst="chevron">
            <a:avLst/>
          </a:prstGeom>
          <a:solidFill>
            <a:srgbClr val="0B3A4A"/>
          </a:solidFill>
          <a:ln>
            <a:noFill/>
          </a:ln>
        </p:spPr>
        <p:txBody>
          <a:bodyPr wrap="square" lIns="152400" tIns="76200" rIns="152400" bIns="76200" anchor="ctr">
            <a:noAutofit/>
          </a:bodyPr>
          <a:lstStyle/>
          <a:p>
            <a:pPr algn="ctr">
              <a:buNone/>
            </a:pPr>
            <a:r>
              <a:rPr lang="en-US" sz="1000" b="1" dirty="0">
                <a:solidFill>
                  <a:srgbClr val="FFFFFF"/>
                </a:solidFill>
              </a:rPr>
              <a:t>4 · POST-CONSTRUCTION</a:t>
            </a:r>
          </a:p>
        </p:txBody>
      </p:sp>
      <p:sp>
        <p:nvSpPr>
          <p:cNvPr id="106" name="s106"/>
          <p:cNvSpPr/>
          <p:nvPr/>
        </p:nvSpPr>
        <p:spPr>
          <a:xfrm>
            <a:off x="508000" y="1854200"/>
            <a:ext cx="1524000" cy="1092200"/>
          </a:xfrm>
          <a:prstGeom prst="rect">
            <a:avLst/>
          </a:prstGeom>
          <a:solidFill>
            <a:srgbClr val="F1F5F7"/>
          </a:solidFill>
          <a:ln>
            <a:noFill/>
          </a:ln>
        </p:spPr>
        <p:txBody>
          <a:bodyPr wrap="square" lIns="101600" tIns="76200" rIns="101600" bIns="76200" anchor="ctr">
            <a:noAutofit/>
          </a:bodyPr>
          <a:lstStyle/>
          <a:p>
            <a:pPr algn="l">
              <a:lnSpc>
                <a:spcPts val="1100"/>
              </a:lnSpc>
              <a:buNone/>
            </a:pPr>
            <a:r>
              <a:rPr lang="en-US" sz="900" b="1" dirty="0">
                <a:solidFill>
                  <a:srgbClr val="0E8C9E"/>
                </a:solidFill>
              </a:rPr>
              <a:t>PROJECT ACQUISITION TO CASH</a:t>
            </a:r>
          </a:p>
        </p:txBody>
      </p:sp>
      <p:sp>
        <p:nvSpPr>
          <p:cNvPr id="107" name="s107"/>
          <p:cNvSpPr/>
          <p:nvPr/>
        </p:nvSpPr>
        <p:spPr>
          <a:xfrm>
            <a:off x="508000" y="1854200"/>
            <a:ext cx="38100" cy="1092200"/>
          </a:xfrm>
          <a:prstGeom prst="rect">
            <a:avLst/>
          </a:prstGeom>
          <a:solidFill>
            <a:srgbClr val="0E8C9E"/>
          </a:solidFill>
          <a:ln>
            <a:noFill/>
          </a:ln>
        </p:spPr>
        <p:txBody>
          <a:bodyPr wrap="square" lIns="101600" tIns="76200" rIns="101600" bIns="76200" anchor="ctr">
            <a:noAutofit/>
          </a:bodyPr>
          <a:lstStyle/>
          <a:p>
            <a:pPr>
              <a:buNone/>
            </a:pPr>
            <a:endParaRPr lang="en-US"/>
          </a:p>
        </p:txBody>
      </p:sp>
      <p:sp>
        <p:nvSpPr>
          <p:cNvPr id="108" name="s108"/>
          <p:cNvSpPr/>
          <p:nvPr/>
        </p:nvSpPr>
        <p:spPr>
          <a:xfrm>
            <a:off x="2159000" y="1854200"/>
            <a:ext cx="2362200" cy="10922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Notice of award received</a:t>
            </a:r>
          </a:p>
          <a:p>
            <a:pPr algn="l">
              <a:lnSpc>
                <a:spcPts val="1150"/>
              </a:lnSpc>
              <a:spcBef>
                <a:spcPts val="60"/>
              </a:spcBef>
              <a:buNone/>
            </a:pPr>
            <a:r>
              <a:rPr lang="en-US" sz="950" b="0" dirty="0">
                <a:solidFill>
                  <a:srgbClr val="16262E"/>
                </a:solidFill>
              </a:rPr>
              <a:t>›  PR raised against budget</a:t>
            </a:r>
          </a:p>
          <a:p>
            <a:pPr algn="l">
              <a:lnSpc>
                <a:spcPts val="1150"/>
              </a:lnSpc>
              <a:spcBef>
                <a:spcPts val="60"/>
              </a:spcBef>
              <a:buNone/>
            </a:pPr>
            <a:r>
              <a:rPr lang="en-US" sz="950" b="0" dirty="0">
                <a:solidFill>
                  <a:srgbClr val="16262E"/>
                </a:solidFill>
              </a:rPr>
              <a:t>›  Subcon bidding and awarding</a:t>
            </a:r>
          </a:p>
          <a:p>
            <a:pPr algn="l">
              <a:lnSpc>
                <a:spcPts val="1150"/>
              </a:lnSpc>
              <a:spcBef>
                <a:spcPts val="60"/>
              </a:spcBef>
              <a:buNone/>
            </a:pPr>
            <a:r>
              <a:rPr lang="en-US" sz="950" b="0" dirty="0">
                <a:solidFill>
                  <a:srgbClr val="16262E"/>
                </a:solidFill>
              </a:rPr>
              <a:t>›  PO issued</a:t>
            </a:r>
          </a:p>
        </p:txBody>
      </p:sp>
      <p:sp>
        <p:nvSpPr>
          <p:cNvPr id="109" name="s109"/>
          <p:cNvSpPr/>
          <p:nvPr/>
        </p:nvSpPr>
        <p:spPr>
          <a:xfrm>
            <a:off x="4597400" y="1854200"/>
            <a:ext cx="2362200" cy="10922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Contract signing</a:t>
            </a:r>
          </a:p>
          <a:p>
            <a:pPr algn="l">
              <a:lnSpc>
                <a:spcPts val="1150"/>
              </a:lnSpc>
              <a:spcBef>
                <a:spcPts val="60"/>
              </a:spcBef>
              <a:buNone/>
            </a:pPr>
            <a:r>
              <a:rPr lang="en-US" sz="950" b="0" dirty="0">
                <a:solidFill>
                  <a:srgbClr val="16262E"/>
                </a:solidFill>
              </a:rPr>
              <a:t>›  Mobilization plan approved</a:t>
            </a:r>
          </a:p>
          <a:p>
            <a:pPr algn="l">
              <a:lnSpc>
                <a:spcPts val="1150"/>
              </a:lnSpc>
              <a:spcBef>
                <a:spcPts val="60"/>
              </a:spcBef>
              <a:buNone/>
            </a:pPr>
            <a:r>
              <a:rPr lang="en-US" sz="950" b="0" dirty="0">
                <a:solidFill>
                  <a:srgbClr val="16262E"/>
                </a:solidFill>
              </a:rPr>
              <a:t>›  Billing schedule locked</a:t>
            </a:r>
          </a:p>
        </p:txBody>
      </p:sp>
      <p:sp>
        <p:nvSpPr>
          <p:cNvPr id="110" name="s110"/>
          <p:cNvSpPr/>
          <p:nvPr/>
        </p:nvSpPr>
        <p:spPr>
          <a:xfrm>
            <a:off x="7035800" y="1854200"/>
            <a:ext cx="2362200" cy="10922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30% downpayment billing</a:t>
            </a:r>
          </a:p>
          <a:p>
            <a:pPr algn="l">
              <a:lnSpc>
                <a:spcPts val="1150"/>
              </a:lnSpc>
              <a:spcBef>
                <a:spcPts val="60"/>
              </a:spcBef>
              <a:buNone/>
            </a:pPr>
            <a:r>
              <a:rPr lang="en-US" sz="950" b="0" dirty="0">
                <a:solidFill>
                  <a:srgbClr val="16262E"/>
                </a:solidFill>
              </a:rPr>
              <a:t>›  Progress billing to 100%</a:t>
            </a:r>
          </a:p>
          <a:p>
            <a:pPr algn="l">
              <a:lnSpc>
                <a:spcPts val="1150"/>
              </a:lnSpc>
              <a:spcBef>
                <a:spcPts val="60"/>
              </a:spcBef>
              <a:buNone/>
            </a:pPr>
            <a:r>
              <a:rPr lang="en-US" sz="950" b="0" dirty="0">
                <a:solidFill>
                  <a:srgbClr val="16262E"/>
                </a:solidFill>
              </a:rPr>
              <a:t>›  Invoice and official receipt</a:t>
            </a:r>
          </a:p>
        </p:txBody>
      </p:sp>
      <p:sp>
        <p:nvSpPr>
          <p:cNvPr id="111" name="s111"/>
          <p:cNvSpPr/>
          <p:nvPr/>
        </p:nvSpPr>
        <p:spPr>
          <a:xfrm>
            <a:off x="9474200" y="1854200"/>
            <a:ext cx="2362200" cy="10922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Final billing and punchlist</a:t>
            </a:r>
          </a:p>
          <a:p>
            <a:pPr algn="l">
              <a:lnSpc>
                <a:spcPts val="1150"/>
              </a:lnSpc>
              <a:spcBef>
                <a:spcPts val="60"/>
              </a:spcBef>
              <a:buNone/>
            </a:pPr>
            <a:r>
              <a:rPr lang="en-US" sz="950" b="0" dirty="0">
                <a:solidFill>
                  <a:srgbClr val="16262E"/>
                </a:solidFill>
              </a:rPr>
              <a:t>›  Retention release</a:t>
            </a:r>
          </a:p>
          <a:p>
            <a:pPr algn="l">
              <a:lnSpc>
                <a:spcPts val="1150"/>
              </a:lnSpc>
              <a:spcBef>
                <a:spcPts val="60"/>
              </a:spcBef>
              <a:buNone/>
            </a:pPr>
            <a:r>
              <a:rPr lang="en-US" sz="950" b="0" dirty="0">
                <a:solidFill>
                  <a:srgbClr val="16262E"/>
                </a:solidFill>
              </a:rPr>
              <a:t>›  Close-out documentation</a:t>
            </a:r>
          </a:p>
        </p:txBody>
      </p:sp>
      <p:sp>
        <p:nvSpPr>
          <p:cNvPr id="112" name="s112"/>
          <p:cNvSpPr/>
          <p:nvPr/>
        </p:nvSpPr>
        <p:spPr>
          <a:xfrm>
            <a:off x="508000" y="3022600"/>
            <a:ext cx="1524000" cy="1092200"/>
          </a:xfrm>
          <a:prstGeom prst="rect">
            <a:avLst/>
          </a:prstGeom>
          <a:solidFill>
            <a:srgbClr val="F1F5F7"/>
          </a:solidFill>
          <a:ln>
            <a:noFill/>
          </a:ln>
        </p:spPr>
        <p:txBody>
          <a:bodyPr wrap="square" lIns="101600" tIns="76200" rIns="101600" bIns="76200" anchor="ctr">
            <a:noAutofit/>
          </a:bodyPr>
          <a:lstStyle/>
          <a:p>
            <a:pPr algn="l">
              <a:lnSpc>
                <a:spcPts val="1100"/>
              </a:lnSpc>
              <a:buNone/>
            </a:pPr>
            <a:r>
              <a:rPr lang="en-US" sz="900" b="1" dirty="0">
                <a:solidFill>
                  <a:srgbClr val="C8621B"/>
                </a:solidFill>
              </a:rPr>
              <a:t>MATERIAL AND VENDOR ACQUISITION</a:t>
            </a:r>
          </a:p>
        </p:txBody>
      </p:sp>
      <p:sp>
        <p:nvSpPr>
          <p:cNvPr id="113" name="s113"/>
          <p:cNvSpPr/>
          <p:nvPr/>
        </p:nvSpPr>
        <p:spPr>
          <a:xfrm>
            <a:off x="508000" y="3022600"/>
            <a:ext cx="38100" cy="1092200"/>
          </a:xfrm>
          <a:prstGeom prst="rect">
            <a:avLst/>
          </a:prstGeom>
          <a:solidFill>
            <a:srgbClr val="C8621B"/>
          </a:solidFill>
          <a:ln>
            <a:noFill/>
          </a:ln>
        </p:spPr>
        <p:txBody>
          <a:bodyPr wrap="square" lIns="101600" tIns="76200" rIns="101600" bIns="76200" anchor="ctr">
            <a:noAutofit/>
          </a:bodyPr>
          <a:lstStyle/>
          <a:p>
            <a:pPr>
              <a:buNone/>
            </a:pPr>
            <a:endParaRPr lang="en-US"/>
          </a:p>
        </p:txBody>
      </p:sp>
      <p:sp>
        <p:nvSpPr>
          <p:cNvPr id="114" name="s114"/>
          <p:cNvSpPr/>
          <p:nvPr/>
        </p:nvSpPr>
        <p:spPr>
          <a:xfrm>
            <a:off x="2159000" y="3022600"/>
            <a:ext cx="2362200" cy="10922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Vendor and subcon accreditation</a:t>
            </a:r>
          </a:p>
          <a:p>
            <a:pPr algn="l">
              <a:lnSpc>
                <a:spcPts val="1150"/>
              </a:lnSpc>
              <a:spcBef>
                <a:spcPts val="60"/>
              </a:spcBef>
              <a:buNone/>
            </a:pPr>
            <a:r>
              <a:rPr lang="en-US" sz="950" b="0" dirty="0">
                <a:solidFill>
                  <a:srgbClr val="16262E"/>
                </a:solidFill>
              </a:rPr>
              <a:t>›  RFQ to three vendors</a:t>
            </a:r>
          </a:p>
          <a:p>
            <a:pPr algn="l">
              <a:lnSpc>
                <a:spcPts val="1150"/>
              </a:lnSpc>
              <a:spcBef>
                <a:spcPts val="60"/>
              </a:spcBef>
              <a:buNone/>
            </a:pPr>
            <a:r>
              <a:rPr lang="en-US" sz="950" b="0" dirty="0">
                <a:solidFill>
                  <a:srgbClr val="16262E"/>
                </a:solidFill>
              </a:rPr>
              <a:t>›  Bid tabulation and award</a:t>
            </a:r>
          </a:p>
        </p:txBody>
      </p:sp>
      <p:sp>
        <p:nvSpPr>
          <p:cNvPr id="115" name="s115"/>
          <p:cNvSpPr/>
          <p:nvPr/>
        </p:nvSpPr>
        <p:spPr>
          <a:xfrm>
            <a:off x="4597400" y="3022600"/>
            <a:ext cx="2362200" cy="10922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BOM converted to PR</a:t>
            </a:r>
          </a:p>
          <a:p>
            <a:pPr algn="l">
              <a:lnSpc>
                <a:spcPts val="1150"/>
              </a:lnSpc>
              <a:spcBef>
                <a:spcPts val="60"/>
              </a:spcBef>
              <a:buNone/>
            </a:pPr>
            <a:r>
              <a:rPr lang="en-US" sz="950" b="0" dirty="0">
                <a:solidFill>
                  <a:srgbClr val="16262E"/>
                </a:solidFill>
              </a:rPr>
              <a:t>›  Price agreements signed</a:t>
            </a:r>
          </a:p>
          <a:p>
            <a:pPr algn="l">
              <a:lnSpc>
                <a:spcPts val="1150"/>
              </a:lnSpc>
              <a:spcBef>
                <a:spcPts val="60"/>
              </a:spcBef>
              <a:buNone/>
            </a:pPr>
            <a:r>
              <a:rPr lang="en-US" sz="950" b="0" dirty="0">
                <a:solidFill>
                  <a:srgbClr val="16262E"/>
                </a:solidFill>
              </a:rPr>
              <a:t>›  Delivery schedule set</a:t>
            </a:r>
          </a:p>
        </p:txBody>
      </p:sp>
      <p:sp>
        <p:nvSpPr>
          <p:cNvPr id="116" name="s116"/>
          <p:cNvSpPr/>
          <p:nvPr/>
        </p:nvSpPr>
        <p:spPr>
          <a:xfrm>
            <a:off x="7035800" y="3022600"/>
            <a:ext cx="2362200" cy="10922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PO release and delivery</a:t>
            </a:r>
          </a:p>
          <a:p>
            <a:pPr algn="l">
              <a:lnSpc>
                <a:spcPts val="1150"/>
              </a:lnSpc>
              <a:spcBef>
                <a:spcPts val="60"/>
              </a:spcBef>
              <a:buNone/>
            </a:pPr>
            <a:r>
              <a:rPr lang="en-US" sz="950" b="0" dirty="0">
                <a:solidFill>
                  <a:srgbClr val="16262E"/>
                </a:solidFill>
              </a:rPr>
              <a:t>›  Receiving, inspection, issuance</a:t>
            </a:r>
          </a:p>
          <a:p>
            <a:pPr algn="l">
              <a:lnSpc>
                <a:spcPts val="1150"/>
              </a:lnSpc>
              <a:spcBef>
                <a:spcPts val="60"/>
              </a:spcBef>
              <a:buNone/>
            </a:pPr>
            <a:r>
              <a:rPr lang="en-US" sz="950" b="0" dirty="0">
                <a:solidFill>
                  <a:srgbClr val="16262E"/>
                </a:solidFill>
              </a:rPr>
              <a:t>›  Three-way match to payment</a:t>
            </a:r>
          </a:p>
        </p:txBody>
      </p:sp>
      <p:sp>
        <p:nvSpPr>
          <p:cNvPr id="117" name="s117"/>
          <p:cNvSpPr/>
          <p:nvPr/>
        </p:nvSpPr>
        <p:spPr>
          <a:xfrm>
            <a:off x="9474200" y="3022600"/>
            <a:ext cx="2362200" cy="10922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Final reconciliation</a:t>
            </a:r>
          </a:p>
          <a:p>
            <a:pPr algn="l">
              <a:lnSpc>
                <a:spcPts val="1150"/>
              </a:lnSpc>
              <a:spcBef>
                <a:spcPts val="60"/>
              </a:spcBef>
              <a:buNone/>
            </a:pPr>
            <a:r>
              <a:rPr lang="en-US" sz="950" b="0" dirty="0">
                <a:solidFill>
                  <a:srgbClr val="16262E"/>
                </a:solidFill>
              </a:rPr>
              <a:t>›  Warranty turnover</a:t>
            </a:r>
          </a:p>
          <a:p>
            <a:pPr algn="l">
              <a:lnSpc>
                <a:spcPts val="1150"/>
              </a:lnSpc>
              <a:spcBef>
                <a:spcPts val="60"/>
              </a:spcBef>
              <a:buNone/>
            </a:pPr>
            <a:r>
              <a:rPr lang="en-US" sz="950" b="0" dirty="0">
                <a:solidFill>
                  <a:srgbClr val="16262E"/>
                </a:solidFill>
              </a:rPr>
              <a:t>›  Vendor scorecard</a:t>
            </a:r>
          </a:p>
        </p:txBody>
      </p:sp>
      <p:sp>
        <p:nvSpPr>
          <p:cNvPr id="118" name="s118"/>
          <p:cNvSpPr/>
          <p:nvPr/>
        </p:nvSpPr>
        <p:spPr>
          <a:xfrm>
            <a:off x="508000" y="4191000"/>
            <a:ext cx="1524000" cy="990600"/>
          </a:xfrm>
          <a:prstGeom prst="rect">
            <a:avLst/>
          </a:prstGeom>
          <a:solidFill>
            <a:srgbClr val="F1F5F7"/>
          </a:solidFill>
          <a:ln>
            <a:noFill/>
          </a:ln>
        </p:spPr>
        <p:txBody>
          <a:bodyPr wrap="square" lIns="101600" tIns="76200" rIns="101600" bIns="76200" anchor="ctr">
            <a:noAutofit/>
          </a:bodyPr>
          <a:lstStyle/>
          <a:p>
            <a:pPr algn="l">
              <a:lnSpc>
                <a:spcPts val="1100"/>
              </a:lnSpc>
              <a:buNone/>
            </a:pPr>
            <a:r>
              <a:rPr lang="en-US" sz="900" b="1" dirty="0">
                <a:solidFill>
                  <a:srgbClr val="12556B"/>
                </a:solidFill>
              </a:rPr>
              <a:t>HRIS: PAYROLL AND TIMELOGS</a:t>
            </a:r>
          </a:p>
        </p:txBody>
      </p:sp>
      <p:sp>
        <p:nvSpPr>
          <p:cNvPr id="119" name="s119"/>
          <p:cNvSpPr/>
          <p:nvPr/>
        </p:nvSpPr>
        <p:spPr>
          <a:xfrm>
            <a:off x="508000" y="4191000"/>
            <a:ext cx="38100" cy="990600"/>
          </a:xfrm>
          <a:prstGeom prst="rect">
            <a:avLst/>
          </a:prstGeom>
          <a:solidFill>
            <a:srgbClr val="12556B"/>
          </a:solidFill>
          <a:ln>
            <a:noFill/>
          </a:ln>
        </p:spPr>
        <p:txBody>
          <a:bodyPr wrap="square" lIns="101600" tIns="76200" rIns="101600" bIns="76200" anchor="ctr">
            <a:noAutofit/>
          </a:bodyPr>
          <a:lstStyle/>
          <a:p>
            <a:pPr>
              <a:buNone/>
            </a:pPr>
            <a:endParaRPr lang="en-US"/>
          </a:p>
        </p:txBody>
      </p:sp>
      <p:sp>
        <p:nvSpPr>
          <p:cNvPr id="120" name="s120"/>
          <p:cNvSpPr/>
          <p:nvPr/>
        </p:nvSpPr>
        <p:spPr>
          <a:xfrm>
            <a:off x="2159000" y="4191000"/>
            <a:ext cx="2362200" cy="9906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Manpower plan and rates approved</a:t>
            </a:r>
          </a:p>
        </p:txBody>
      </p:sp>
      <p:sp>
        <p:nvSpPr>
          <p:cNvPr id="121" name="s121"/>
          <p:cNvSpPr/>
          <p:nvPr/>
        </p:nvSpPr>
        <p:spPr>
          <a:xfrm>
            <a:off x="4597400" y="4191000"/>
            <a:ext cx="2362200" cy="9906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Onboarding and 201 file</a:t>
            </a:r>
          </a:p>
          <a:p>
            <a:pPr algn="l">
              <a:lnSpc>
                <a:spcPts val="1150"/>
              </a:lnSpc>
              <a:spcBef>
                <a:spcPts val="60"/>
              </a:spcBef>
              <a:buNone/>
            </a:pPr>
            <a:r>
              <a:rPr lang="en-US" sz="950" b="0" dirty="0">
                <a:solidFill>
                  <a:srgbClr val="16262E"/>
                </a:solidFill>
              </a:rPr>
              <a:t>›  Biometric enrollment</a:t>
            </a:r>
          </a:p>
          <a:p>
            <a:pPr algn="l">
              <a:lnSpc>
                <a:spcPts val="1150"/>
              </a:lnSpc>
              <a:spcBef>
                <a:spcPts val="60"/>
              </a:spcBef>
              <a:buNone/>
            </a:pPr>
            <a:r>
              <a:rPr lang="en-US" sz="950" b="0" dirty="0">
                <a:solidFill>
                  <a:srgbClr val="16262E"/>
                </a:solidFill>
              </a:rPr>
              <a:t>›  Cost center assignment</a:t>
            </a:r>
          </a:p>
        </p:txBody>
      </p:sp>
      <p:sp>
        <p:nvSpPr>
          <p:cNvPr id="122" name="s122"/>
          <p:cNvSpPr/>
          <p:nvPr/>
        </p:nvSpPr>
        <p:spPr>
          <a:xfrm>
            <a:off x="7035800" y="4191000"/>
            <a:ext cx="2362200" cy="9906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Daily timelogs and OT approval</a:t>
            </a:r>
          </a:p>
          <a:p>
            <a:pPr algn="l">
              <a:lnSpc>
                <a:spcPts val="1150"/>
              </a:lnSpc>
              <a:spcBef>
                <a:spcPts val="60"/>
              </a:spcBef>
              <a:buNone/>
            </a:pPr>
            <a:r>
              <a:rPr lang="en-US" sz="950" b="0" dirty="0">
                <a:solidFill>
                  <a:srgbClr val="16262E"/>
                </a:solidFill>
              </a:rPr>
              <a:t>›  Payroll run and disbursement</a:t>
            </a:r>
          </a:p>
          <a:p>
            <a:pPr algn="l">
              <a:lnSpc>
                <a:spcPts val="1150"/>
              </a:lnSpc>
              <a:spcBef>
                <a:spcPts val="60"/>
              </a:spcBef>
              <a:buNone/>
            </a:pPr>
            <a:r>
              <a:rPr lang="en-US" sz="950" b="0" dirty="0">
                <a:solidFill>
                  <a:srgbClr val="16262E"/>
                </a:solidFill>
              </a:rPr>
              <a:t>›  Labor cost posted to project</a:t>
            </a:r>
          </a:p>
        </p:txBody>
      </p:sp>
      <p:sp>
        <p:nvSpPr>
          <p:cNvPr id="123" name="s123"/>
          <p:cNvSpPr/>
          <p:nvPr/>
        </p:nvSpPr>
        <p:spPr>
          <a:xfrm>
            <a:off x="9474200" y="4191000"/>
            <a:ext cx="2362200" cy="9906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Demobilization</a:t>
            </a:r>
          </a:p>
          <a:p>
            <a:pPr algn="l">
              <a:lnSpc>
                <a:spcPts val="1150"/>
              </a:lnSpc>
              <a:spcBef>
                <a:spcPts val="60"/>
              </a:spcBef>
              <a:buNone/>
            </a:pPr>
            <a:r>
              <a:rPr lang="en-US" sz="950" b="0" dirty="0">
                <a:solidFill>
                  <a:srgbClr val="16262E"/>
                </a:solidFill>
              </a:rPr>
              <a:t>›  Final pay and clearance</a:t>
            </a:r>
          </a:p>
        </p:txBody>
      </p:sp>
      <p:sp>
        <p:nvSpPr>
          <p:cNvPr id="124" name="s124"/>
          <p:cNvSpPr/>
          <p:nvPr/>
        </p:nvSpPr>
        <p:spPr>
          <a:xfrm>
            <a:off x="508000" y="5257800"/>
            <a:ext cx="1524000" cy="990600"/>
          </a:xfrm>
          <a:prstGeom prst="rect">
            <a:avLst/>
          </a:prstGeom>
          <a:solidFill>
            <a:srgbClr val="F1F5F7"/>
          </a:solidFill>
          <a:ln>
            <a:noFill/>
          </a:ln>
        </p:spPr>
        <p:txBody>
          <a:bodyPr wrap="square" lIns="101600" tIns="76200" rIns="101600" bIns="76200" anchor="ctr">
            <a:noAutofit/>
          </a:bodyPr>
          <a:lstStyle/>
          <a:p>
            <a:pPr algn="l">
              <a:lnSpc>
                <a:spcPts val="1100"/>
              </a:lnSpc>
              <a:buNone/>
            </a:pPr>
            <a:r>
              <a:rPr lang="en-US" sz="900" b="1" dirty="0">
                <a:solidFill>
                  <a:srgbClr val="6B7B85"/>
                </a:solidFill>
              </a:rPr>
              <a:t>OPEX CONSOLIDATION</a:t>
            </a:r>
          </a:p>
        </p:txBody>
      </p:sp>
      <p:sp>
        <p:nvSpPr>
          <p:cNvPr id="125" name="s125"/>
          <p:cNvSpPr/>
          <p:nvPr/>
        </p:nvSpPr>
        <p:spPr>
          <a:xfrm>
            <a:off x="508000" y="5257800"/>
            <a:ext cx="38100" cy="990600"/>
          </a:xfrm>
          <a:prstGeom prst="rect">
            <a:avLst/>
          </a:prstGeom>
          <a:solidFill>
            <a:srgbClr val="6B7B85"/>
          </a:solidFill>
          <a:ln>
            <a:noFill/>
          </a:ln>
        </p:spPr>
        <p:txBody>
          <a:bodyPr wrap="square" lIns="101600" tIns="76200" rIns="101600" bIns="76200" anchor="ctr">
            <a:noAutofit/>
          </a:bodyPr>
          <a:lstStyle/>
          <a:p>
            <a:pPr>
              <a:buNone/>
            </a:pPr>
            <a:endParaRPr lang="en-US"/>
          </a:p>
        </p:txBody>
      </p:sp>
      <p:sp>
        <p:nvSpPr>
          <p:cNvPr id="126" name="s126"/>
          <p:cNvSpPr/>
          <p:nvPr/>
        </p:nvSpPr>
        <p:spPr>
          <a:xfrm>
            <a:off x="2159000" y="5257800"/>
            <a:ext cx="2362200" cy="9906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OPEX budget allocated per project</a:t>
            </a:r>
          </a:p>
        </p:txBody>
      </p:sp>
      <p:sp>
        <p:nvSpPr>
          <p:cNvPr id="127" name="s127"/>
          <p:cNvSpPr/>
          <p:nvPr/>
        </p:nvSpPr>
        <p:spPr>
          <a:xfrm>
            <a:off x="4597400" y="5257800"/>
            <a:ext cx="2362200" cy="9906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Opening balances and petty cash</a:t>
            </a:r>
          </a:p>
          <a:p>
            <a:pPr algn="l">
              <a:lnSpc>
                <a:spcPts val="1150"/>
              </a:lnSpc>
              <a:spcBef>
                <a:spcPts val="60"/>
              </a:spcBef>
              <a:buNone/>
            </a:pPr>
            <a:r>
              <a:rPr lang="en-US" sz="950" b="0" dirty="0">
                <a:solidFill>
                  <a:srgbClr val="16262E"/>
                </a:solidFill>
              </a:rPr>
              <a:t>›  Chart of accounts mapped</a:t>
            </a:r>
          </a:p>
        </p:txBody>
      </p:sp>
      <p:sp>
        <p:nvSpPr>
          <p:cNvPr id="128" name="s128"/>
          <p:cNvSpPr/>
          <p:nvPr/>
        </p:nvSpPr>
        <p:spPr>
          <a:xfrm>
            <a:off x="7035800" y="5257800"/>
            <a:ext cx="2362200" cy="9906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Expense capture and coding</a:t>
            </a:r>
          </a:p>
          <a:p>
            <a:pPr algn="l">
              <a:lnSpc>
                <a:spcPts val="1150"/>
              </a:lnSpc>
              <a:spcBef>
                <a:spcPts val="60"/>
              </a:spcBef>
              <a:buNone/>
            </a:pPr>
            <a:r>
              <a:rPr lang="en-US" sz="950" b="0" dirty="0">
                <a:solidFill>
                  <a:srgbClr val="16262E"/>
                </a:solidFill>
              </a:rPr>
              <a:t>›  Monthly consolidation</a:t>
            </a:r>
          </a:p>
          <a:p>
            <a:pPr algn="l">
              <a:lnSpc>
                <a:spcPts val="1150"/>
              </a:lnSpc>
              <a:spcBef>
                <a:spcPts val="60"/>
              </a:spcBef>
              <a:buNone/>
            </a:pPr>
            <a:r>
              <a:rPr lang="en-US" sz="950" b="0" dirty="0">
                <a:solidFill>
                  <a:srgbClr val="16262E"/>
                </a:solidFill>
              </a:rPr>
              <a:t>›  Budget versus actual review</a:t>
            </a:r>
          </a:p>
        </p:txBody>
      </p:sp>
      <p:sp>
        <p:nvSpPr>
          <p:cNvPr id="129" name="s129"/>
          <p:cNvSpPr/>
          <p:nvPr/>
        </p:nvSpPr>
        <p:spPr>
          <a:xfrm>
            <a:off x="9474200" y="5257800"/>
            <a:ext cx="2362200" cy="990600"/>
          </a:xfrm>
          <a:prstGeom prst="rect">
            <a:avLst/>
          </a:prstGeom>
          <a:solidFill>
            <a:srgbClr val="FFFFFF"/>
          </a:solidFill>
          <a:ln w="12700">
            <a:solidFill>
              <a:srgbClr val="DCE4E8"/>
            </a:solidFill>
          </a:ln>
        </p:spPr>
        <p:txBody>
          <a:bodyPr wrap="square" lIns="114300" tIns="101600" rIns="114300" bIns="101600" anchor="t">
            <a:noAutofit/>
          </a:bodyPr>
          <a:lstStyle/>
          <a:p>
            <a:pPr algn="l">
              <a:lnSpc>
                <a:spcPts val="1150"/>
              </a:lnSpc>
              <a:buNone/>
            </a:pPr>
            <a:r>
              <a:rPr lang="en-US" sz="950" b="0" dirty="0">
                <a:solidFill>
                  <a:srgbClr val="16262E"/>
                </a:solidFill>
              </a:rPr>
              <a:t>›  Final OPEX close</a:t>
            </a:r>
          </a:p>
          <a:p>
            <a:pPr algn="l">
              <a:lnSpc>
                <a:spcPts val="1150"/>
              </a:lnSpc>
              <a:spcBef>
                <a:spcPts val="60"/>
              </a:spcBef>
              <a:buNone/>
            </a:pPr>
            <a:r>
              <a:rPr lang="en-US" sz="950" b="0" dirty="0">
                <a:solidFill>
                  <a:srgbClr val="16262E"/>
                </a:solidFill>
              </a:rPr>
              <a:t>›  Project profit and loss</a:t>
            </a:r>
          </a:p>
        </p:txBody>
      </p:sp>
      <p:sp>
        <p:nvSpPr>
          <p:cNvPr id="130" name="s130"/>
          <p:cNvSpPr/>
          <p:nvPr/>
        </p:nvSpPr>
        <p:spPr>
          <a:xfrm>
            <a:off x="508000" y="6400800"/>
            <a:ext cx="11176000" cy="254000"/>
          </a:xfrm>
          <a:prstGeom prst="rect">
            <a:avLst/>
          </a:prstGeom>
          <a:noFill/>
          <a:ln>
            <a:noFill/>
          </a:ln>
        </p:spPr>
        <p:txBody>
          <a:bodyPr wrap="square" lIns="0" tIns="76200" rIns="0" bIns="76200" anchor="t">
            <a:noAutofit/>
          </a:bodyPr>
          <a:lstStyle/>
          <a:p>
            <a:pPr algn="l">
              <a:buNone/>
            </a:pPr>
            <a:r>
              <a:rPr lang="en-US" sz="1100" b="0" dirty="0">
                <a:solidFill>
                  <a:srgbClr val="9AAEB6"/>
                </a:solidFill>
              </a:rPr>
              <a:t>Each cell is a gated step: no step starts without the approved input from the step before it.</a:t>
            </a:r>
          </a:p>
        </p:txBody>
      </p:sp>
    </p:spTree>
    <p:extLst>
      <p:ext uri="{BB962C8B-B14F-4D97-AF65-F5344CB8AC3E}">
        <p14:creationId xmlns:p14="http://schemas.microsoft.com/office/powerpoint/2010/main" val="2928788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D42EA-E5BB-7997-F4C8-5ADC73F0B8B7}"/>
              </a:ext>
            </a:extLst>
          </p:cNvPr>
          <p:cNvSpPr>
            <a:spLocks noGrp="1"/>
          </p:cNvSpPr>
          <p:nvPr>
            <p:ph type="title"/>
          </p:nvPr>
        </p:nvSpPr>
        <p:spPr>
          <a:xfrm>
            <a:off x="508000" y="533400"/>
            <a:ext cx="11176000" cy="508000"/>
          </a:xfrm>
        </p:spPr>
        <p:txBody>
          <a:bodyPr/>
          <a:lstStyle/>
          <a:p>
            <a:pPr algn="l">
              <a:buNone/>
            </a:pPr>
            <a:r>
              <a:rPr lang="en-US" sz="2400" b="1" dirty="0">
                <a:solidFill>
                  <a:srgbClr val="12556B"/>
                </a:solidFill>
              </a:rPr>
              <a:t>Project acquisition runs seven gated steps from award to first collection</a:t>
            </a:r>
          </a:p>
        </p:txBody>
      </p:sp>
      <p:sp>
        <p:nvSpPr>
          <p:cNvPr id="301" name="s301"/>
          <p:cNvSpPr/>
          <p:nvPr/>
        </p:nvSpPr>
        <p:spPr>
          <a:xfrm>
            <a:off x="508000" y="304800"/>
            <a:ext cx="6350000" cy="203200"/>
          </a:xfrm>
          <a:prstGeom prst="rect">
            <a:avLst/>
          </a:prstGeom>
          <a:noFill/>
          <a:ln>
            <a:noFill/>
          </a:ln>
        </p:spPr>
        <p:txBody>
          <a:bodyPr wrap="square" lIns="0" tIns="76200" rIns="0" bIns="76200" anchor="t">
            <a:noAutofit/>
          </a:bodyPr>
          <a:lstStyle/>
          <a:p>
            <a:pPr algn="l">
              <a:buNone/>
            </a:pPr>
            <a:r>
              <a:rPr lang="en-US" sz="1100" b="1" dirty="0">
                <a:solidFill>
                  <a:srgbClr val="C8621B"/>
                </a:solidFill>
              </a:rPr>
              <a:t>PHASE 1 · PROJECT ACQUISITION</a:t>
            </a:r>
          </a:p>
        </p:txBody>
      </p:sp>
      <p:sp>
        <p:nvSpPr>
          <p:cNvPr id="302" name="s302"/>
          <p:cNvSpPr/>
          <p:nvPr/>
        </p:nvSpPr>
        <p:spPr>
          <a:xfrm>
            <a:off x="508000" y="1270000"/>
            <a:ext cx="2603500" cy="21336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303" name="s303"/>
          <p:cNvSpPr/>
          <p:nvPr/>
        </p:nvSpPr>
        <p:spPr>
          <a:xfrm>
            <a:off x="508000" y="1270000"/>
            <a:ext cx="2603500" cy="4064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1   PROJECT AWARDED</a:t>
            </a:r>
          </a:p>
        </p:txBody>
      </p:sp>
      <p:sp>
        <p:nvSpPr>
          <p:cNvPr id="304" name="s304"/>
          <p:cNvSpPr/>
          <p:nvPr/>
        </p:nvSpPr>
        <p:spPr>
          <a:xfrm>
            <a:off x="508000" y="1701800"/>
            <a:ext cx="2603500" cy="990600"/>
          </a:xfrm>
          <a:prstGeom prst="rect">
            <a:avLst/>
          </a:prstGeom>
          <a:noFill/>
          <a:ln>
            <a:noFill/>
          </a:ln>
        </p:spPr>
        <p:txBody>
          <a:bodyPr wrap="square" lIns="152400" tIns="101600" rIns="152400" bIns="101600" anchor="t">
            <a:noAutofit/>
          </a:bodyPr>
          <a:lstStyle/>
          <a:p>
            <a:pPr algn="l">
              <a:lnSpc>
                <a:spcPts val="1250"/>
              </a:lnSpc>
              <a:buNone/>
            </a:pPr>
            <a:r>
              <a:rPr lang="en-US" sz="1000" b="0" dirty="0">
                <a:solidFill>
                  <a:srgbClr val="16262E"/>
                </a:solidFill>
              </a:rPr>
              <a:t>›  Notice of award received</a:t>
            </a:r>
          </a:p>
          <a:p>
            <a:pPr algn="l">
              <a:lnSpc>
                <a:spcPts val="1250"/>
              </a:lnSpc>
              <a:spcBef>
                <a:spcPts val="90"/>
              </a:spcBef>
              <a:buNone/>
            </a:pPr>
            <a:r>
              <a:rPr lang="en-US" sz="1000" b="0" dirty="0">
                <a:solidFill>
                  <a:srgbClr val="16262E"/>
                </a:solidFill>
              </a:rPr>
              <a:t>›  Contract reviewed and signed</a:t>
            </a:r>
          </a:p>
          <a:p>
            <a:pPr algn="l">
              <a:lnSpc>
                <a:spcPts val="1250"/>
              </a:lnSpc>
              <a:spcBef>
                <a:spcPts val="90"/>
              </a:spcBef>
              <a:buNone/>
            </a:pPr>
            <a:r>
              <a:rPr lang="en-US" sz="1000" b="0" dirty="0">
                <a:solidFill>
                  <a:srgbClr val="16262E"/>
                </a:solidFill>
              </a:rPr>
              <a:t>›  Project code and budget opened</a:t>
            </a:r>
          </a:p>
        </p:txBody>
      </p:sp>
      <p:sp>
        <p:nvSpPr>
          <p:cNvPr id="305" name="s305"/>
          <p:cNvSpPr/>
          <p:nvPr/>
        </p:nvSpPr>
        <p:spPr>
          <a:xfrm>
            <a:off x="635000" y="2717800"/>
            <a:ext cx="2349500" cy="12700"/>
          </a:xfrm>
          <a:prstGeom prst="rect">
            <a:avLst/>
          </a:prstGeom>
          <a:solidFill>
            <a:srgbClr val="E4EAED"/>
          </a:solidFill>
          <a:ln>
            <a:noFill/>
          </a:ln>
        </p:spPr>
        <p:txBody>
          <a:bodyPr wrap="square" lIns="127000" tIns="76200" rIns="127000" bIns="76200" anchor="ctr">
            <a:noAutofit/>
          </a:bodyPr>
          <a:lstStyle/>
          <a:p>
            <a:pPr>
              <a:buNone/>
            </a:pPr>
            <a:endParaRPr lang="en-US"/>
          </a:p>
        </p:txBody>
      </p:sp>
      <p:sp>
        <p:nvSpPr>
          <p:cNvPr id="306" name="s306"/>
          <p:cNvSpPr/>
          <p:nvPr/>
        </p:nvSpPr>
        <p:spPr>
          <a:xfrm>
            <a:off x="508000" y="2768600"/>
            <a:ext cx="2603500" cy="304800"/>
          </a:xfrm>
          <a:prstGeom prst="rect">
            <a:avLst/>
          </a:prstGeom>
          <a:noFill/>
          <a:ln>
            <a:noFill/>
          </a:ln>
        </p:spPr>
        <p:txBody>
          <a:bodyPr wrap="square" lIns="152400" tIns="25400" rIns="152400" bIns="25400" anchor="t">
            <a:noAutofit/>
          </a:bodyPr>
          <a:lstStyle/>
          <a:p>
            <a:pPr algn="l">
              <a:lnSpc>
                <a:spcPts val="1150"/>
              </a:lnSpc>
              <a:buNone/>
            </a:pPr>
            <a:r>
              <a:rPr lang="en-US" sz="1000" b="1" dirty="0">
                <a:solidFill>
                  <a:srgbClr val="B3560F"/>
                </a:solidFill>
              </a:rPr>
              <a:t>Signed contract, NTP, project code</a:t>
            </a:r>
          </a:p>
        </p:txBody>
      </p:sp>
      <p:sp>
        <p:nvSpPr>
          <p:cNvPr id="307" name="s307"/>
          <p:cNvSpPr/>
          <p:nvPr/>
        </p:nvSpPr>
        <p:spPr>
          <a:xfrm>
            <a:off x="508000" y="3073400"/>
            <a:ext cx="2603500" cy="279400"/>
          </a:xfrm>
          <a:prstGeom prst="rect">
            <a:avLst/>
          </a:prstGeom>
          <a:noFill/>
          <a:ln>
            <a:noFill/>
          </a:ln>
        </p:spPr>
        <p:txBody>
          <a:bodyPr wrap="square" lIns="152400" tIns="0" rIns="152400" bIns="0" anchor="t">
            <a:noAutofit/>
          </a:bodyPr>
          <a:lstStyle/>
          <a:p>
            <a:pPr algn="l">
              <a:lnSpc>
                <a:spcPts val="1150"/>
              </a:lnSpc>
              <a:buNone/>
            </a:pPr>
            <a:r>
              <a:rPr lang="en-US" sz="1000" b="0" dirty="0">
                <a:solidFill>
                  <a:srgbClr val="46565E"/>
                </a:solidFill>
              </a:rPr>
              <a:t>Business Dev / PMO</a:t>
            </a:r>
          </a:p>
        </p:txBody>
      </p:sp>
      <p:sp>
        <p:nvSpPr>
          <p:cNvPr id="308" name="s308"/>
          <p:cNvSpPr/>
          <p:nvPr/>
        </p:nvSpPr>
        <p:spPr>
          <a:xfrm>
            <a:off x="3136900" y="22352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309" name="s309"/>
          <p:cNvSpPr/>
          <p:nvPr/>
        </p:nvSpPr>
        <p:spPr>
          <a:xfrm>
            <a:off x="3365500" y="1270000"/>
            <a:ext cx="2603500" cy="21336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310" name="s310"/>
          <p:cNvSpPr/>
          <p:nvPr/>
        </p:nvSpPr>
        <p:spPr>
          <a:xfrm>
            <a:off x="3365500" y="1270000"/>
            <a:ext cx="2603500" cy="4064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2   PURCHASE REQUISITION</a:t>
            </a:r>
          </a:p>
        </p:txBody>
      </p:sp>
      <p:sp>
        <p:nvSpPr>
          <p:cNvPr id="311" name="s311"/>
          <p:cNvSpPr/>
          <p:nvPr/>
        </p:nvSpPr>
        <p:spPr>
          <a:xfrm>
            <a:off x="3365500" y="1701800"/>
            <a:ext cx="2603500" cy="990600"/>
          </a:xfrm>
          <a:prstGeom prst="rect">
            <a:avLst/>
          </a:prstGeom>
          <a:noFill/>
          <a:ln>
            <a:noFill/>
          </a:ln>
        </p:spPr>
        <p:txBody>
          <a:bodyPr wrap="square" lIns="152400" tIns="101600" rIns="152400" bIns="101600" anchor="t">
            <a:noAutofit/>
          </a:bodyPr>
          <a:lstStyle/>
          <a:p>
            <a:pPr algn="l">
              <a:lnSpc>
                <a:spcPts val="1250"/>
              </a:lnSpc>
              <a:buNone/>
            </a:pPr>
            <a:r>
              <a:rPr lang="en-US" sz="1000" b="0" dirty="0">
                <a:solidFill>
                  <a:srgbClr val="16262E"/>
                </a:solidFill>
              </a:rPr>
              <a:t>›  Scope broken into BOM</a:t>
            </a:r>
          </a:p>
          <a:p>
            <a:pPr algn="l">
              <a:lnSpc>
                <a:spcPts val="1250"/>
              </a:lnSpc>
              <a:spcBef>
                <a:spcPts val="90"/>
              </a:spcBef>
              <a:buNone/>
            </a:pPr>
            <a:r>
              <a:rPr lang="en-US" sz="1000" b="0" dirty="0">
                <a:solidFill>
                  <a:srgbClr val="16262E"/>
                </a:solidFill>
              </a:rPr>
              <a:t>›  PR raised per cost code</a:t>
            </a:r>
          </a:p>
          <a:p>
            <a:pPr algn="l">
              <a:lnSpc>
                <a:spcPts val="1250"/>
              </a:lnSpc>
              <a:spcBef>
                <a:spcPts val="90"/>
              </a:spcBef>
              <a:buNone/>
            </a:pPr>
            <a:r>
              <a:rPr lang="en-US" sz="1000" b="0" dirty="0">
                <a:solidFill>
                  <a:srgbClr val="16262E"/>
                </a:solidFill>
              </a:rPr>
              <a:t>›  Budget availability checked</a:t>
            </a:r>
          </a:p>
        </p:txBody>
      </p:sp>
      <p:sp>
        <p:nvSpPr>
          <p:cNvPr id="312" name="s312"/>
          <p:cNvSpPr/>
          <p:nvPr/>
        </p:nvSpPr>
        <p:spPr>
          <a:xfrm>
            <a:off x="3492500" y="2717800"/>
            <a:ext cx="2349500" cy="12700"/>
          </a:xfrm>
          <a:prstGeom prst="rect">
            <a:avLst/>
          </a:prstGeom>
          <a:solidFill>
            <a:srgbClr val="E4EAED"/>
          </a:solidFill>
          <a:ln>
            <a:noFill/>
          </a:ln>
        </p:spPr>
        <p:txBody>
          <a:bodyPr wrap="square" lIns="127000" tIns="76200" rIns="127000" bIns="76200" anchor="ctr">
            <a:noAutofit/>
          </a:bodyPr>
          <a:lstStyle/>
          <a:p>
            <a:pPr>
              <a:buNone/>
            </a:pPr>
            <a:endParaRPr lang="en-US"/>
          </a:p>
        </p:txBody>
      </p:sp>
      <p:sp>
        <p:nvSpPr>
          <p:cNvPr id="313" name="s313"/>
          <p:cNvSpPr/>
          <p:nvPr/>
        </p:nvSpPr>
        <p:spPr>
          <a:xfrm>
            <a:off x="3365500" y="2768600"/>
            <a:ext cx="2603500" cy="304800"/>
          </a:xfrm>
          <a:prstGeom prst="rect">
            <a:avLst/>
          </a:prstGeom>
          <a:noFill/>
          <a:ln>
            <a:noFill/>
          </a:ln>
        </p:spPr>
        <p:txBody>
          <a:bodyPr wrap="square" lIns="152400" tIns="25400" rIns="152400" bIns="25400" anchor="t">
            <a:noAutofit/>
          </a:bodyPr>
          <a:lstStyle/>
          <a:p>
            <a:pPr algn="l">
              <a:lnSpc>
                <a:spcPts val="1150"/>
              </a:lnSpc>
              <a:buNone/>
            </a:pPr>
            <a:r>
              <a:rPr lang="en-US" sz="1000" b="1" dirty="0">
                <a:solidFill>
                  <a:srgbClr val="B3560F"/>
                </a:solidFill>
              </a:rPr>
              <a:t>Approved PR, budget clearance</a:t>
            </a:r>
          </a:p>
        </p:txBody>
      </p:sp>
      <p:sp>
        <p:nvSpPr>
          <p:cNvPr id="314" name="s314"/>
          <p:cNvSpPr/>
          <p:nvPr/>
        </p:nvSpPr>
        <p:spPr>
          <a:xfrm>
            <a:off x="3365500" y="3073400"/>
            <a:ext cx="2603500" cy="279400"/>
          </a:xfrm>
          <a:prstGeom prst="rect">
            <a:avLst/>
          </a:prstGeom>
          <a:noFill/>
          <a:ln>
            <a:noFill/>
          </a:ln>
        </p:spPr>
        <p:txBody>
          <a:bodyPr wrap="square" lIns="152400" tIns="0" rIns="152400" bIns="0" anchor="t">
            <a:noAutofit/>
          </a:bodyPr>
          <a:lstStyle/>
          <a:p>
            <a:pPr algn="l">
              <a:lnSpc>
                <a:spcPts val="1150"/>
              </a:lnSpc>
              <a:buNone/>
            </a:pPr>
            <a:r>
              <a:rPr lang="en-US" sz="1000" b="0" dirty="0">
                <a:solidFill>
                  <a:srgbClr val="46565E"/>
                </a:solidFill>
              </a:rPr>
              <a:t>Site Engineer / Procurement</a:t>
            </a:r>
          </a:p>
        </p:txBody>
      </p:sp>
      <p:sp>
        <p:nvSpPr>
          <p:cNvPr id="315" name="s315"/>
          <p:cNvSpPr/>
          <p:nvPr/>
        </p:nvSpPr>
        <p:spPr>
          <a:xfrm>
            <a:off x="5994400" y="22352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316" name="s316"/>
          <p:cNvSpPr/>
          <p:nvPr/>
        </p:nvSpPr>
        <p:spPr>
          <a:xfrm>
            <a:off x="6223000" y="1270000"/>
            <a:ext cx="2603500" cy="21336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317" name="s317"/>
          <p:cNvSpPr/>
          <p:nvPr/>
        </p:nvSpPr>
        <p:spPr>
          <a:xfrm>
            <a:off x="6223000" y="1270000"/>
            <a:ext cx="2603500" cy="4064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3   VENDOR / SUBCON AWARD</a:t>
            </a:r>
          </a:p>
        </p:txBody>
      </p:sp>
      <p:sp>
        <p:nvSpPr>
          <p:cNvPr id="318" name="s318"/>
          <p:cNvSpPr/>
          <p:nvPr/>
        </p:nvSpPr>
        <p:spPr>
          <a:xfrm>
            <a:off x="6223000" y="1701800"/>
            <a:ext cx="2603500" cy="990600"/>
          </a:xfrm>
          <a:prstGeom prst="rect">
            <a:avLst/>
          </a:prstGeom>
          <a:noFill/>
          <a:ln>
            <a:noFill/>
          </a:ln>
        </p:spPr>
        <p:txBody>
          <a:bodyPr wrap="square" lIns="152400" tIns="101600" rIns="152400" bIns="101600" anchor="t">
            <a:noAutofit/>
          </a:bodyPr>
          <a:lstStyle/>
          <a:p>
            <a:pPr algn="l">
              <a:lnSpc>
                <a:spcPts val="1250"/>
              </a:lnSpc>
              <a:buNone/>
            </a:pPr>
            <a:r>
              <a:rPr lang="en-US" sz="1000" b="0" dirty="0">
                <a:solidFill>
                  <a:srgbClr val="16262E"/>
                </a:solidFill>
              </a:rPr>
              <a:t>›  RFQ to accredited list</a:t>
            </a:r>
          </a:p>
          <a:p>
            <a:pPr algn="l">
              <a:lnSpc>
                <a:spcPts val="1250"/>
              </a:lnSpc>
              <a:spcBef>
                <a:spcPts val="90"/>
              </a:spcBef>
              <a:buNone/>
            </a:pPr>
            <a:r>
              <a:rPr lang="en-US" sz="1000" b="0" dirty="0">
                <a:solidFill>
                  <a:srgbClr val="16262E"/>
                </a:solidFill>
              </a:rPr>
              <a:t>›  Three quotes tabulated</a:t>
            </a:r>
          </a:p>
          <a:p>
            <a:pPr algn="l">
              <a:lnSpc>
                <a:spcPts val="1250"/>
              </a:lnSpc>
              <a:spcBef>
                <a:spcPts val="90"/>
              </a:spcBef>
              <a:buNone/>
            </a:pPr>
            <a:r>
              <a:rPr lang="en-US" sz="1000" b="0" dirty="0">
                <a:solidFill>
                  <a:srgbClr val="16262E"/>
                </a:solidFill>
              </a:rPr>
              <a:t>›  Technical and cost evaluation</a:t>
            </a:r>
          </a:p>
        </p:txBody>
      </p:sp>
      <p:sp>
        <p:nvSpPr>
          <p:cNvPr id="319" name="s319"/>
          <p:cNvSpPr/>
          <p:nvPr/>
        </p:nvSpPr>
        <p:spPr>
          <a:xfrm>
            <a:off x="6350000" y="2717800"/>
            <a:ext cx="2349500" cy="12700"/>
          </a:xfrm>
          <a:prstGeom prst="rect">
            <a:avLst/>
          </a:prstGeom>
          <a:solidFill>
            <a:srgbClr val="E4EAED"/>
          </a:solidFill>
          <a:ln>
            <a:noFill/>
          </a:ln>
        </p:spPr>
        <p:txBody>
          <a:bodyPr wrap="square" lIns="127000" tIns="76200" rIns="127000" bIns="76200" anchor="ctr">
            <a:noAutofit/>
          </a:bodyPr>
          <a:lstStyle/>
          <a:p>
            <a:pPr>
              <a:buNone/>
            </a:pPr>
            <a:endParaRPr lang="en-US"/>
          </a:p>
        </p:txBody>
      </p:sp>
      <p:sp>
        <p:nvSpPr>
          <p:cNvPr id="320" name="s320"/>
          <p:cNvSpPr/>
          <p:nvPr/>
        </p:nvSpPr>
        <p:spPr>
          <a:xfrm>
            <a:off x="6223000" y="2768600"/>
            <a:ext cx="2603500" cy="304800"/>
          </a:xfrm>
          <a:prstGeom prst="rect">
            <a:avLst/>
          </a:prstGeom>
          <a:noFill/>
          <a:ln>
            <a:noFill/>
          </a:ln>
        </p:spPr>
        <p:txBody>
          <a:bodyPr wrap="square" lIns="152400" tIns="25400" rIns="152400" bIns="25400" anchor="t">
            <a:noAutofit/>
          </a:bodyPr>
          <a:lstStyle/>
          <a:p>
            <a:pPr algn="l">
              <a:lnSpc>
                <a:spcPts val="1150"/>
              </a:lnSpc>
              <a:buNone/>
            </a:pPr>
            <a:r>
              <a:rPr lang="en-US" sz="1000" b="1" dirty="0">
                <a:solidFill>
                  <a:srgbClr val="B3560F"/>
                </a:solidFill>
              </a:rPr>
              <a:t>Bid tabulation, notice of award</a:t>
            </a:r>
          </a:p>
        </p:txBody>
      </p:sp>
      <p:sp>
        <p:nvSpPr>
          <p:cNvPr id="321" name="s321"/>
          <p:cNvSpPr/>
          <p:nvPr/>
        </p:nvSpPr>
        <p:spPr>
          <a:xfrm>
            <a:off x="6223000" y="3073400"/>
            <a:ext cx="2603500" cy="279400"/>
          </a:xfrm>
          <a:prstGeom prst="rect">
            <a:avLst/>
          </a:prstGeom>
          <a:noFill/>
          <a:ln>
            <a:noFill/>
          </a:ln>
        </p:spPr>
        <p:txBody>
          <a:bodyPr wrap="square" lIns="152400" tIns="0" rIns="152400" bIns="0" anchor="t">
            <a:noAutofit/>
          </a:bodyPr>
          <a:lstStyle/>
          <a:p>
            <a:pPr algn="l">
              <a:lnSpc>
                <a:spcPts val="1150"/>
              </a:lnSpc>
              <a:buNone/>
            </a:pPr>
            <a:r>
              <a:rPr lang="en-US" sz="1000" b="0" dirty="0">
                <a:solidFill>
                  <a:srgbClr val="46565E"/>
                </a:solidFill>
              </a:rPr>
              <a:t>Procurement / Technical</a:t>
            </a:r>
          </a:p>
        </p:txBody>
      </p:sp>
      <p:sp>
        <p:nvSpPr>
          <p:cNvPr id="322" name="s322"/>
          <p:cNvSpPr/>
          <p:nvPr/>
        </p:nvSpPr>
        <p:spPr>
          <a:xfrm>
            <a:off x="8851900" y="22352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323" name="s323"/>
          <p:cNvSpPr/>
          <p:nvPr/>
        </p:nvSpPr>
        <p:spPr>
          <a:xfrm>
            <a:off x="9080500" y="1270000"/>
            <a:ext cx="2603500" cy="21336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324" name="s324"/>
          <p:cNvSpPr/>
          <p:nvPr/>
        </p:nvSpPr>
        <p:spPr>
          <a:xfrm>
            <a:off x="9080500" y="1270000"/>
            <a:ext cx="2603500" cy="4064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4   PO CREATION</a:t>
            </a:r>
          </a:p>
        </p:txBody>
      </p:sp>
      <p:sp>
        <p:nvSpPr>
          <p:cNvPr id="325" name="s325"/>
          <p:cNvSpPr/>
          <p:nvPr/>
        </p:nvSpPr>
        <p:spPr>
          <a:xfrm>
            <a:off x="9080500" y="1701800"/>
            <a:ext cx="2603500" cy="990600"/>
          </a:xfrm>
          <a:prstGeom prst="rect">
            <a:avLst/>
          </a:prstGeom>
          <a:noFill/>
          <a:ln>
            <a:noFill/>
          </a:ln>
        </p:spPr>
        <p:txBody>
          <a:bodyPr wrap="square" lIns="152400" tIns="101600" rIns="152400" bIns="101600" anchor="t">
            <a:noAutofit/>
          </a:bodyPr>
          <a:lstStyle/>
          <a:p>
            <a:pPr algn="l">
              <a:lnSpc>
                <a:spcPts val="1250"/>
              </a:lnSpc>
              <a:buNone/>
            </a:pPr>
            <a:r>
              <a:rPr lang="en-US" sz="1000" b="0" dirty="0">
                <a:solidFill>
                  <a:srgbClr val="16262E"/>
                </a:solidFill>
              </a:rPr>
              <a:t>›  PO raised from awarded bid</a:t>
            </a:r>
          </a:p>
          <a:p>
            <a:pPr algn="l">
              <a:lnSpc>
                <a:spcPts val="1250"/>
              </a:lnSpc>
              <a:spcBef>
                <a:spcPts val="90"/>
              </a:spcBef>
              <a:buNone/>
            </a:pPr>
            <a:r>
              <a:rPr lang="en-US" sz="1000" b="0" dirty="0">
                <a:solidFill>
                  <a:srgbClr val="16262E"/>
                </a:solidFill>
              </a:rPr>
              <a:t>›  Terms, taxes, delivery dates set</a:t>
            </a:r>
          </a:p>
          <a:p>
            <a:pPr algn="l">
              <a:lnSpc>
                <a:spcPts val="1250"/>
              </a:lnSpc>
              <a:spcBef>
                <a:spcPts val="90"/>
              </a:spcBef>
              <a:buNone/>
            </a:pPr>
            <a:r>
              <a:rPr lang="en-US" sz="1000" b="0" dirty="0">
                <a:solidFill>
                  <a:srgbClr val="16262E"/>
                </a:solidFill>
              </a:rPr>
              <a:t>›  Countersigned by vendor</a:t>
            </a:r>
          </a:p>
        </p:txBody>
      </p:sp>
      <p:sp>
        <p:nvSpPr>
          <p:cNvPr id="326" name="s326"/>
          <p:cNvSpPr/>
          <p:nvPr/>
        </p:nvSpPr>
        <p:spPr>
          <a:xfrm>
            <a:off x="9207500" y="2717800"/>
            <a:ext cx="2349500" cy="12700"/>
          </a:xfrm>
          <a:prstGeom prst="rect">
            <a:avLst/>
          </a:prstGeom>
          <a:solidFill>
            <a:srgbClr val="E4EAED"/>
          </a:solidFill>
          <a:ln>
            <a:noFill/>
          </a:ln>
        </p:spPr>
        <p:txBody>
          <a:bodyPr wrap="square" lIns="127000" tIns="76200" rIns="127000" bIns="76200" anchor="ctr">
            <a:noAutofit/>
          </a:bodyPr>
          <a:lstStyle/>
          <a:p>
            <a:pPr>
              <a:buNone/>
            </a:pPr>
            <a:endParaRPr lang="en-US"/>
          </a:p>
        </p:txBody>
      </p:sp>
      <p:sp>
        <p:nvSpPr>
          <p:cNvPr id="327" name="s327"/>
          <p:cNvSpPr/>
          <p:nvPr/>
        </p:nvSpPr>
        <p:spPr>
          <a:xfrm>
            <a:off x="9080500" y="2768600"/>
            <a:ext cx="2603500" cy="304800"/>
          </a:xfrm>
          <a:prstGeom prst="rect">
            <a:avLst/>
          </a:prstGeom>
          <a:noFill/>
          <a:ln>
            <a:noFill/>
          </a:ln>
        </p:spPr>
        <p:txBody>
          <a:bodyPr wrap="square" lIns="152400" tIns="25400" rIns="152400" bIns="25400" anchor="t">
            <a:noAutofit/>
          </a:bodyPr>
          <a:lstStyle/>
          <a:p>
            <a:pPr algn="l">
              <a:lnSpc>
                <a:spcPts val="1150"/>
              </a:lnSpc>
              <a:buNone/>
            </a:pPr>
            <a:r>
              <a:rPr lang="en-US" sz="1000" b="1" dirty="0">
                <a:solidFill>
                  <a:srgbClr val="B3560F"/>
                </a:solidFill>
              </a:rPr>
              <a:t>Approved PO, subcontract</a:t>
            </a:r>
          </a:p>
        </p:txBody>
      </p:sp>
      <p:sp>
        <p:nvSpPr>
          <p:cNvPr id="328" name="s328"/>
          <p:cNvSpPr/>
          <p:nvPr/>
        </p:nvSpPr>
        <p:spPr>
          <a:xfrm>
            <a:off x="9080500" y="3073400"/>
            <a:ext cx="2603500" cy="279400"/>
          </a:xfrm>
          <a:prstGeom prst="rect">
            <a:avLst/>
          </a:prstGeom>
          <a:noFill/>
          <a:ln>
            <a:noFill/>
          </a:ln>
        </p:spPr>
        <p:txBody>
          <a:bodyPr wrap="square" lIns="152400" tIns="0" rIns="152400" bIns="0" anchor="t">
            <a:noAutofit/>
          </a:bodyPr>
          <a:lstStyle/>
          <a:p>
            <a:pPr algn="l">
              <a:lnSpc>
                <a:spcPts val="1150"/>
              </a:lnSpc>
              <a:buNone/>
            </a:pPr>
            <a:r>
              <a:rPr lang="en-US" sz="1000" b="0" dirty="0">
                <a:solidFill>
                  <a:srgbClr val="46565E"/>
                </a:solidFill>
              </a:rPr>
              <a:t>Procurement / Finance</a:t>
            </a:r>
          </a:p>
        </p:txBody>
      </p:sp>
      <p:sp>
        <p:nvSpPr>
          <p:cNvPr id="329" name="s329"/>
          <p:cNvSpPr/>
          <p:nvPr/>
        </p:nvSpPr>
        <p:spPr>
          <a:xfrm>
            <a:off x="508000" y="3835400"/>
            <a:ext cx="2603500" cy="21336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330" name="s330"/>
          <p:cNvSpPr/>
          <p:nvPr/>
        </p:nvSpPr>
        <p:spPr>
          <a:xfrm>
            <a:off x="508000" y="3835400"/>
            <a:ext cx="2603500" cy="4064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5   OPERATIONS MOBILIZATION</a:t>
            </a:r>
          </a:p>
        </p:txBody>
      </p:sp>
      <p:sp>
        <p:nvSpPr>
          <p:cNvPr id="331" name="s331"/>
          <p:cNvSpPr/>
          <p:nvPr/>
        </p:nvSpPr>
        <p:spPr>
          <a:xfrm>
            <a:off x="508000" y="4267200"/>
            <a:ext cx="2603500" cy="990600"/>
          </a:xfrm>
          <a:prstGeom prst="rect">
            <a:avLst/>
          </a:prstGeom>
          <a:noFill/>
          <a:ln>
            <a:noFill/>
          </a:ln>
        </p:spPr>
        <p:txBody>
          <a:bodyPr wrap="square" lIns="152400" tIns="101600" rIns="152400" bIns="101600" anchor="t">
            <a:noAutofit/>
          </a:bodyPr>
          <a:lstStyle/>
          <a:p>
            <a:pPr algn="l">
              <a:lnSpc>
                <a:spcPts val="1250"/>
              </a:lnSpc>
              <a:buNone/>
            </a:pPr>
            <a:r>
              <a:rPr lang="en-US" sz="1000" b="0" dirty="0">
                <a:solidFill>
                  <a:srgbClr val="16262E"/>
                </a:solidFill>
              </a:rPr>
              <a:t>›  Site setup and permits secured</a:t>
            </a:r>
          </a:p>
          <a:p>
            <a:pPr algn="l">
              <a:lnSpc>
                <a:spcPts val="1250"/>
              </a:lnSpc>
              <a:spcBef>
                <a:spcPts val="90"/>
              </a:spcBef>
              <a:buNone/>
            </a:pPr>
            <a:r>
              <a:rPr lang="en-US" sz="1000" b="0" dirty="0">
                <a:solidFill>
                  <a:srgbClr val="16262E"/>
                </a:solidFill>
              </a:rPr>
              <a:t>›  Manpower deployed and enrolled</a:t>
            </a:r>
          </a:p>
          <a:p>
            <a:pPr algn="l">
              <a:lnSpc>
                <a:spcPts val="1250"/>
              </a:lnSpc>
              <a:spcBef>
                <a:spcPts val="90"/>
              </a:spcBef>
              <a:buNone/>
            </a:pPr>
            <a:r>
              <a:rPr lang="en-US" sz="1000" b="0" dirty="0">
                <a:solidFill>
                  <a:srgbClr val="16262E"/>
                </a:solidFill>
              </a:rPr>
              <a:t>›  Equipment and materials staged</a:t>
            </a:r>
          </a:p>
        </p:txBody>
      </p:sp>
      <p:sp>
        <p:nvSpPr>
          <p:cNvPr id="332" name="s332"/>
          <p:cNvSpPr/>
          <p:nvPr/>
        </p:nvSpPr>
        <p:spPr>
          <a:xfrm>
            <a:off x="635000" y="5283200"/>
            <a:ext cx="2349500" cy="12700"/>
          </a:xfrm>
          <a:prstGeom prst="rect">
            <a:avLst/>
          </a:prstGeom>
          <a:solidFill>
            <a:srgbClr val="E4EAED"/>
          </a:solidFill>
          <a:ln>
            <a:noFill/>
          </a:ln>
        </p:spPr>
        <p:txBody>
          <a:bodyPr wrap="square" lIns="127000" tIns="76200" rIns="127000" bIns="76200" anchor="ctr">
            <a:noAutofit/>
          </a:bodyPr>
          <a:lstStyle/>
          <a:p>
            <a:pPr>
              <a:buNone/>
            </a:pPr>
            <a:endParaRPr lang="en-US"/>
          </a:p>
        </p:txBody>
      </p:sp>
      <p:sp>
        <p:nvSpPr>
          <p:cNvPr id="333" name="s333"/>
          <p:cNvSpPr/>
          <p:nvPr/>
        </p:nvSpPr>
        <p:spPr>
          <a:xfrm>
            <a:off x="508000" y="5334000"/>
            <a:ext cx="2603500" cy="304800"/>
          </a:xfrm>
          <a:prstGeom prst="rect">
            <a:avLst/>
          </a:prstGeom>
          <a:noFill/>
          <a:ln>
            <a:noFill/>
          </a:ln>
        </p:spPr>
        <p:txBody>
          <a:bodyPr wrap="square" lIns="152400" tIns="25400" rIns="152400" bIns="25400" anchor="t">
            <a:noAutofit/>
          </a:bodyPr>
          <a:lstStyle/>
          <a:p>
            <a:pPr algn="l">
              <a:lnSpc>
                <a:spcPts val="1150"/>
              </a:lnSpc>
              <a:buNone/>
            </a:pPr>
            <a:r>
              <a:rPr lang="en-US" sz="1000" b="1" dirty="0">
                <a:solidFill>
                  <a:srgbClr val="B3560F"/>
                </a:solidFill>
              </a:rPr>
              <a:t>Mobilization checklist</a:t>
            </a:r>
          </a:p>
        </p:txBody>
      </p:sp>
      <p:sp>
        <p:nvSpPr>
          <p:cNvPr id="334" name="s334"/>
          <p:cNvSpPr/>
          <p:nvPr/>
        </p:nvSpPr>
        <p:spPr>
          <a:xfrm>
            <a:off x="508000" y="5638800"/>
            <a:ext cx="2603500" cy="279400"/>
          </a:xfrm>
          <a:prstGeom prst="rect">
            <a:avLst/>
          </a:prstGeom>
          <a:noFill/>
          <a:ln>
            <a:noFill/>
          </a:ln>
        </p:spPr>
        <p:txBody>
          <a:bodyPr wrap="square" lIns="152400" tIns="0" rIns="152400" bIns="0" anchor="t">
            <a:noAutofit/>
          </a:bodyPr>
          <a:lstStyle/>
          <a:p>
            <a:pPr algn="l">
              <a:lnSpc>
                <a:spcPts val="1150"/>
              </a:lnSpc>
              <a:buNone/>
            </a:pPr>
            <a:r>
              <a:rPr lang="en-US" sz="1000" b="0" dirty="0">
                <a:solidFill>
                  <a:srgbClr val="46565E"/>
                </a:solidFill>
              </a:rPr>
              <a:t>Operations / HR</a:t>
            </a:r>
          </a:p>
        </p:txBody>
      </p:sp>
      <p:sp>
        <p:nvSpPr>
          <p:cNvPr id="335" name="s335"/>
          <p:cNvSpPr/>
          <p:nvPr/>
        </p:nvSpPr>
        <p:spPr>
          <a:xfrm>
            <a:off x="3136900" y="48006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336" name="s336"/>
          <p:cNvSpPr/>
          <p:nvPr/>
        </p:nvSpPr>
        <p:spPr>
          <a:xfrm>
            <a:off x="3365500" y="3835400"/>
            <a:ext cx="2603500" cy="21336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337" name="s337"/>
          <p:cNvSpPr/>
          <p:nvPr/>
        </p:nvSpPr>
        <p:spPr>
          <a:xfrm>
            <a:off x="3365500" y="3835400"/>
            <a:ext cx="2603500" cy="4064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6   PROGRESS BILLING</a:t>
            </a:r>
          </a:p>
        </p:txBody>
      </p:sp>
      <p:sp>
        <p:nvSpPr>
          <p:cNvPr id="338" name="s338"/>
          <p:cNvSpPr/>
          <p:nvPr/>
        </p:nvSpPr>
        <p:spPr>
          <a:xfrm>
            <a:off x="3365500" y="4267200"/>
            <a:ext cx="2603500" cy="990600"/>
          </a:xfrm>
          <a:prstGeom prst="rect">
            <a:avLst/>
          </a:prstGeom>
          <a:noFill/>
          <a:ln>
            <a:noFill/>
          </a:ln>
        </p:spPr>
        <p:txBody>
          <a:bodyPr wrap="square" lIns="152400" tIns="101600" rIns="152400" bIns="101600" anchor="t">
            <a:noAutofit/>
          </a:bodyPr>
          <a:lstStyle/>
          <a:p>
            <a:pPr algn="l">
              <a:lnSpc>
                <a:spcPts val="1250"/>
              </a:lnSpc>
              <a:buNone/>
            </a:pPr>
            <a:r>
              <a:rPr lang="en-US" sz="1000" b="0" dirty="0">
                <a:solidFill>
                  <a:srgbClr val="16262E"/>
                </a:solidFill>
              </a:rPr>
              <a:t>›  30% downpayment billed</a:t>
            </a:r>
          </a:p>
          <a:p>
            <a:pPr algn="l">
              <a:lnSpc>
                <a:spcPts val="1250"/>
              </a:lnSpc>
              <a:spcBef>
                <a:spcPts val="90"/>
              </a:spcBef>
              <a:buNone/>
            </a:pPr>
            <a:r>
              <a:rPr lang="en-US" sz="1000" b="0" dirty="0">
                <a:solidFill>
                  <a:srgbClr val="16262E"/>
                </a:solidFill>
              </a:rPr>
              <a:t>›  Accomplishment billing to 100%</a:t>
            </a:r>
          </a:p>
          <a:p>
            <a:pPr algn="l">
              <a:lnSpc>
                <a:spcPts val="1250"/>
              </a:lnSpc>
              <a:spcBef>
                <a:spcPts val="90"/>
              </a:spcBef>
              <a:buNone/>
            </a:pPr>
            <a:r>
              <a:rPr lang="en-US" sz="1000" b="0" dirty="0">
                <a:solidFill>
                  <a:srgbClr val="16262E"/>
                </a:solidFill>
              </a:rPr>
              <a:t>›  Retention withheld per contract</a:t>
            </a:r>
          </a:p>
        </p:txBody>
      </p:sp>
      <p:sp>
        <p:nvSpPr>
          <p:cNvPr id="339" name="s339"/>
          <p:cNvSpPr/>
          <p:nvPr/>
        </p:nvSpPr>
        <p:spPr>
          <a:xfrm>
            <a:off x="3492500" y="5283200"/>
            <a:ext cx="2349500" cy="12700"/>
          </a:xfrm>
          <a:prstGeom prst="rect">
            <a:avLst/>
          </a:prstGeom>
          <a:solidFill>
            <a:srgbClr val="E4EAED"/>
          </a:solidFill>
          <a:ln>
            <a:noFill/>
          </a:ln>
        </p:spPr>
        <p:txBody>
          <a:bodyPr wrap="square" lIns="127000" tIns="76200" rIns="127000" bIns="76200" anchor="ctr">
            <a:noAutofit/>
          </a:bodyPr>
          <a:lstStyle/>
          <a:p>
            <a:pPr>
              <a:buNone/>
            </a:pPr>
            <a:endParaRPr lang="en-US"/>
          </a:p>
        </p:txBody>
      </p:sp>
      <p:sp>
        <p:nvSpPr>
          <p:cNvPr id="340" name="s340"/>
          <p:cNvSpPr/>
          <p:nvPr/>
        </p:nvSpPr>
        <p:spPr>
          <a:xfrm>
            <a:off x="3365500" y="5334000"/>
            <a:ext cx="2603500" cy="304800"/>
          </a:xfrm>
          <a:prstGeom prst="rect">
            <a:avLst/>
          </a:prstGeom>
          <a:noFill/>
          <a:ln>
            <a:noFill/>
          </a:ln>
        </p:spPr>
        <p:txBody>
          <a:bodyPr wrap="square" lIns="152400" tIns="25400" rIns="152400" bIns="25400" anchor="t">
            <a:noAutofit/>
          </a:bodyPr>
          <a:lstStyle/>
          <a:p>
            <a:pPr algn="l">
              <a:lnSpc>
                <a:spcPts val="1150"/>
              </a:lnSpc>
              <a:buNone/>
            </a:pPr>
            <a:r>
              <a:rPr lang="en-US" sz="1000" b="1" dirty="0">
                <a:solidFill>
                  <a:srgbClr val="B3560F"/>
                </a:solidFill>
              </a:rPr>
              <a:t>Billing form, accomplishment report</a:t>
            </a:r>
          </a:p>
        </p:txBody>
      </p:sp>
      <p:sp>
        <p:nvSpPr>
          <p:cNvPr id="341" name="s341"/>
          <p:cNvSpPr/>
          <p:nvPr/>
        </p:nvSpPr>
        <p:spPr>
          <a:xfrm>
            <a:off x="3365500" y="5638800"/>
            <a:ext cx="2603500" cy="279400"/>
          </a:xfrm>
          <a:prstGeom prst="rect">
            <a:avLst/>
          </a:prstGeom>
          <a:noFill/>
          <a:ln>
            <a:noFill/>
          </a:ln>
        </p:spPr>
        <p:txBody>
          <a:bodyPr wrap="square" lIns="152400" tIns="0" rIns="152400" bIns="0" anchor="t">
            <a:noAutofit/>
          </a:bodyPr>
          <a:lstStyle/>
          <a:p>
            <a:pPr algn="l">
              <a:lnSpc>
                <a:spcPts val="1150"/>
              </a:lnSpc>
              <a:buNone/>
            </a:pPr>
            <a:r>
              <a:rPr lang="en-US" sz="1000" b="0" dirty="0">
                <a:solidFill>
                  <a:srgbClr val="46565E"/>
                </a:solidFill>
              </a:rPr>
              <a:t>QS / Finance</a:t>
            </a:r>
          </a:p>
        </p:txBody>
      </p:sp>
      <p:sp>
        <p:nvSpPr>
          <p:cNvPr id="342" name="s342"/>
          <p:cNvSpPr/>
          <p:nvPr/>
        </p:nvSpPr>
        <p:spPr>
          <a:xfrm>
            <a:off x="5994400" y="48006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343" name="s343"/>
          <p:cNvSpPr/>
          <p:nvPr/>
        </p:nvSpPr>
        <p:spPr>
          <a:xfrm>
            <a:off x="6223000" y="3835400"/>
            <a:ext cx="2603500" cy="21336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344" name="s344"/>
          <p:cNvSpPr/>
          <p:nvPr/>
        </p:nvSpPr>
        <p:spPr>
          <a:xfrm>
            <a:off x="6223000" y="3835400"/>
            <a:ext cx="2603500" cy="4064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7   INVOICE AND RECEIPT</a:t>
            </a:r>
          </a:p>
        </p:txBody>
      </p:sp>
      <p:sp>
        <p:nvSpPr>
          <p:cNvPr id="345" name="s345"/>
          <p:cNvSpPr/>
          <p:nvPr/>
        </p:nvSpPr>
        <p:spPr>
          <a:xfrm>
            <a:off x="6223000" y="4267200"/>
            <a:ext cx="2603500" cy="990600"/>
          </a:xfrm>
          <a:prstGeom prst="rect">
            <a:avLst/>
          </a:prstGeom>
          <a:noFill/>
          <a:ln>
            <a:noFill/>
          </a:ln>
        </p:spPr>
        <p:txBody>
          <a:bodyPr wrap="square" lIns="152400" tIns="101600" rIns="152400" bIns="101600" anchor="t">
            <a:noAutofit/>
          </a:bodyPr>
          <a:lstStyle/>
          <a:p>
            <a:pPr algn="l">
              <a:lnSpc>
                <a:spcPts val="1250"/>
              </a:lnSpc>
              <a:buNone/>
            </a:pPr>
            <a:r>
              <a:rPr lang="en-US" sz="1000" b="0" dirty="0">
                <a:solidFill>
                  <a:srgbClr val="16262E"/>
                </a:solidFill>
              </a:rPr>
              <a:t>›  Sales invoice issued on approval</a:t>
            </a:r>
          </a:p>
          <a:p>
            <a:pPr algn="l">
              <a:lnSpc>
                <a:spcPts val="1250"/>
              </a:lnSpc>
              <a:spcBef>
                <a:spcPts val="90"/>
              </a:spcBef>
              <a:buNone/>
            </a:pPr>
            <a:r>
              <a:rPr lang="en-US" sz="1000" b="0" dirty="0">
                <a:solidFill>
                  <a:srgbClr val="16262E"/>
                </a:solidFill>
              </a:rPr>
              <a:t>›  Official receipt on collection</a:t>
            </a:r>
          </a:p>
          <a:p>
            <a:pPr algn="l">
              <a:lnSpc>
                <a:spcPts val="1250"/>
              </a:lnSpc>
              <a:spcBef>
                <a:spcPts val="90"/>
              </a:spcBef>
              <a:buNone/>
            </a:pPr>
            <a:r>
              <a:rPr lang="en-US" sz="1000" b="0" dirty="0">
                <a:solidFill>
                  <a:srgbClr val="16262E"/>
                </a:solidFill>
              </a:rPr>
              <a:t>›  AR aging monitored weekly</a:t>
            </a:r>
          </a:p>
        </p:txBody>
      </p:sp>
      <p:sp>
        <p:nvSpPr>
          <p:cNvPr id="346" name="s346"/>
          <p:cNvSpPr/>
          <p:nvPr/>
        </p:nvSpPr>
        <p:spPr>
          <a:xfrm>
            <a:off x="6350000" y="5283200"/>
            <a:ext cx="2349500" cy="12700"/>
          </a:xfrm>
          <a:prstGeom prst="rect">
            <a:avLst/>
          </a:prstGeom>
          <a:solidFill>
            <a:srgbClr val="E4EAED"/>
          </a:solidFill>
          <a:ln>
            <a:noFill/>
          </a:ln>
        </p:spPr>
        <p:txBody>
          <a:bodyPr wrap="square" lIns="127000" tIns="76200" rIns="127000" bIns="76200" anchor="ctr">
            <a:noAutofit/>
          </a:bodyPr>
          <a:lstStyle/>
          <a:p>
            <a:pPr>
              <a:buNone/>
            </a:pPr>
            <a:endParaRPr lang="en-US"/>
          </a:p>
        </p:txBody>
      </p:sp>
      <p:sp>
        <p:nvSpPr>
          <p:cNvPr id="347" name="s347"/>
          <p:cNvSpPr/>
          <p:nvPr/>
        </p:nvSpPr>
        <p:spPr>
          <a:xfrm>
            <a:off x="6223000" y="5334000"/>
            <a:ext cx="2603500" cy="304800"/>
          </a:xfrm>
          <a:prstGeom prst="rect">
            <a:avLst/>
          </a:prstGeom>
          <a:noFill/>
          <a:ln>
            <a:noFill/>
          </a:ln>
        </p:spPr>
        <p:txBody>
          <a:bodyPr wrap="square" lIns="152400" tIns="25400" rIns="152400" bIns="25400" anchor="t">
            <a:noAutofit/>
          </a:bodyPr>
          <a:lstStyle/>
          <a:p>
            <a:pPr algn="l">
              <a:lnSpc>
                <a:spcPts val="1150"/>
              </a:lnSpc>
              <a:buNone/>
            </a:pPr>
            <a:r>
              <a:rPr lang="en-US" sz="1000" b="1" dirty="0">
                <a:solidFill>
                  <a:srgbClr val="B3560F"/>
                </a:solidFill>
              </a:rPr>
              <a:t>Sales invoice, official receipt</a:t>
            </a:r>
          </a:p>
        </p:txBody>
      </p:sp>
      <p:sp>
        <p:nvSpPr>
          <p:cNvPr id="348" name="s348"/>
          <p:cNvSpPr/>
          <p:nvPr/>
        </p:nvSpPr>
        <p:spPr>
          <a:xfrm>
            <a:off x="6223000" y="5638800"/>
            <a:ext cx="2603500" cy="279400"/>
          </a:xfrm>
          <a:prstGeom prst="rect">
            <a:avLst/>
          </a:prstGeom>
          <a:noFill/>
          <a:ln>
            <a:noFill/>
          </a:ln>
        </p:spPr>
        <p:txBody>
          <a:bodyPr wrap="square" lIns="152400" tIns="0" rIns="152400" bIns="0" anchor="t">
            <a:noAutofit/>
          </a:bodyPr>
          <a:lstStyle/>
          <a:p>
            <a:pPr algn="l">
              <a:lnSpc>
                <a:spcPts val="1150"/>
              </a:lnSpc>
              <a:buNone/>
            </a:pPr>
            <a:r>
              <a:rPr lang="en-US" sz="1000" b="0" dirty="0">
                <a:solidFill>
                  <a:srgbClr val="46565E"/>
                </a:solidFill>
              </a:rPr>
              <a:t>Finance / Accounting</a:t>
            </a:r>
          </a:p>
        </p:txBody>
      </p:sp>
      <p:sp>
        <p:nvSpPr>
          <p:cNvPr id="349" name="s349"/>
          <p:cNvSpPr/>
          <p:nvPr/>
        </p:nvSpPr>
        <p:spPr>
          <a:xfrm>
            <a:off x="10363200" y="3403600"/>
            <a:ext cx="38100" cy="203200"/>
          </a:xfrm>
          <a:prstGeom prst="rect">
            <a:avLst/>
          </a:prstGeom>
          <a:solidFill>
            <a:srgbClr val="0E8C9E"/>
          </a:solidFill>
          <a:ln>
            <a:noFill/>
          </a:ln>
        </p:spPr>
        <p:txBody>
          <a:bodyPr wrap="square" lIns="127000" tIns="76200" rIns="127000" bIns="76200" anchor="ctr">
            <a:noAutofit/>
          </a:bodyPr>
          <a:lstStyle/>
          <a:p>
            <a:pPr>
              <a:buNone/>
            </a:pPr>
            <a:endParaRPr lang="en-US"/>
          </a:p>
        </p:txBody>
      </p:sp>
      <p:sp>
        <p:nvSpPr>
          <p:cNvPr id="350" name="s350"/>
          <p:cNvSpPr/>
          <p:nvPr/>
        </p:nvSpPr>
        <p:spPr>
          <a:xfrm>
            <a:off x="1803400" y="3568700"/>
            <a:ext cx="8597900" cy="38100"/>
          </a:xfrm>
          <a:prstGeom prst="rect">
            <a:avLst/>
          </a:prstGeom>
          <a:solidFill>
            <a:srgbClr val="0E8C9E"/>
          </a:solidFill>
          <a:ln>
            <a:noFill/>
          </a:ln>
        </p:spPr>
        <p:txBody>
          <a:bodyPr wrap="square" lIns="127000" tIns="76200" rIns="127000" bIns="76200" anchor="ctr">
            <a:noAutofit/>
          </a:bodyPr>
          <a:lstStyle/>
          <a:p>
            <a:pPr>
              <a:buNone/>
            </a:pPr>
            <a:endParaRPr lang="en-US"/>
          </a:p>
        </p:txBody>
      </p:sp>
      <p:sp>
        <p:nvSpPr>
          <p:cNvPr id="351" name="s351"/>
          <p:cNvSpPr/>
          <p:nvPr/>
        </p:nvSpPr>
        <p:spPr>
          <a:xfrm>
            <a:off x="1701800" y="3556000"/>
            <a:ext cx="203200" cy="254000"/>
          </a:xfrm>
          <a:prstGeom prst="downArrow">
            <a:avLst/>
          </a:prstGeom>
          <a:solidFill>
            <a:srgbClr val="0E8C9E"/>
          </a:solidFill>
          <a:ln>
            <a:noFill/>
          </a:ln>
        </p:spPr>
        <p:txBody>
          <a:bodyPr wrap="square" lIns="127000" tIns="76200" rIns="127000" bIns="76200" anchor="ctr">
            <a:noAutofit/>
          </a:bodyPr>
          <a:lstStyle/>
          <a:p>
            <a:pPr>
              <a:buNone/>
            </a:pPr>
            <a:endParaRPr lang="en-US"/>
          </a:p>
        </p:txBody>
      </p:sp>
      <p:sp>
        <p:nvSpPr>
          <p:cNvPr id="352" name="s352"/>
          <p:cNvSpPr/>
          <p:nvPr/>
        </p:nvSpPr>
        <p:spPr>
          <a:xfrm>
            <a:off x="9080500" y="3835400"/>
            <a:ext cx="2603500" cy="2133600"/>
          </a:xfrm>
          <a:prstGeom prst="rect">
            <a:avLst/>
          </a:prstGeom>
          <a:solidFill>
            <a:srgbClr val="F1F5F7"/>
          </a:solidFill>
          <a:ln w="12700">
            <a:solidFill>
              <a:srgbClr val="C8621B"/>
            </a:solidFill>
          </a:ln>
        </p:spPr>
        <p:txBody>
          <a:bodyPr wrap="square" lIns="127000" tIns="76200" rIns="127000" bIns="76200" anchor="ctr">
            <a:noAutofit/>
          </a:bodyPr>
          <a:lstStyle/>
          <a:p>
            <a:pPr>
              <a:buNone/>
            </a:pPr>
            <a:endParaRPr lang="en-US"/>
          </a:p>
        </p:txBody>
      </p:sp>
      <p:sp>
        <p:nvSpPr>
          <p:cNvPr id="353" name="s353"/>
          <p:cNvSpPr/>
          <p:nvPr/>
        </p:nvSpPr>
        <p:spPr>
          <a:xfrm>
            <a:off x="9080500" y="4267200"/>
            <a:ext cx="2603500" cy="1701800"/>
          </a:xfrm>
          <a:prstGeom prst="rect">
            <a:avLst/>
          </a:prstGeom>
          <a:noFill/>
          <a:ln>
            <a:noFill/>
          </a:ln>
        </p:spPr>
        <p:txBody>
          <a:bodyPr wrap="square" lIns="177800" tIns="177800" rIns="177800" bIns="177800" anchor="t">
            <a:noAutofit/>
          </a:bodyPr>
          <a:lstStyle/>
          <a:p>
            <a:pPr algn="l">
              <a:lnSpc>
                <a:spcPts val="1250"/>
              </a:lnSpc>
              <a:buNone/>
            </a:pPr>
            <a:r>
              <a:rPr lang="en-US" sz="1000" b="0" dirty="0">
                <a:solidFill>
                  <a:srgbClr val="16262E"/>
                </a:solidFill>
              </a:rPr>
              <a:t>No PO without an approved PR and a tabulated bid.</a:t>
            </a:r>
          </a:p>
          <a:p>
            <a:pPr algn="l">
              <a:lnSpc>
                <a:spcPts val="1250"/>
              </a:lnSpc>
              <a:spcBef>
                <a:spcPts val="200"/>
              </a:spcBef>
              <a:buNone/>
            </a:pPr>
            <a:r>
              <a:rPr lang="en-US" sz="1000" b="0" dirty="0">
                <a:solidFill>
                  <a:srgbClr val="16262E"/>
                </a:solidFill>
              </a:rPr>
              <a:t>No mobilization without a countersigned PO.</a:t>
            </a:r>
          </a:p>
          <a:p>
            <a:pPr algn="l">
              <a:lnSpc>
                <a:spcPts val="1250"/>
              </a:lnSpc>
              <a:spcBef>
                <a:spcPts val="200"/>
              </a:spcBef>
              <a:buNone/>
            </a:pPr>
            <a:r>
              <a:rPr lang="en-US" sz="1000" b="0" dirty="0">
                <a:solidFill>
                  <a:srgbClr val="16262E"/>
                </a:solidFill>
              </a:rPr>
              <a:t>No billing without a verified statement of accomplishment.</a:t>
            </a:r>
          </a:p>
        </p:txBody>
      </p:sp>
      <p:sp>
        <p:nvSpPr>
          <p:cNvPr id="354" name="s354"/>
          <p:cNvSpPr/>
          <p:nvPr/>
        </p:nvSpPr>
        <p:spPr>
          <a:xfrm>
            <a:off x="508000" y="6248400"/>
            <a:ext cx="11176000" cy="279400"/>
          </a:xfrm>
          <a:prstGeom prst="rect">
            <a:avLst/>
          </a:prstGeom>
          <a:noFill/>
          <a:ln>
            <a:noFill/>
          </a:ln>
        </p:spPr>
        <p:txBody>
          <a:bodyPr wrap="square" lIns="0" tIns="76200" rIns="0" bIns="76200" anchor="t">
            <a:noAutofit/>
          </a:bodyPr>
          <a:lstStyle/>
          <a:p>
            <a:pPr algn="l">
              <a:buNone/>
            </a:pPr>
            <a:r>
              <a:rPr lang="en-US" sz="1050" b="0" dirty="0">
                <a:solidFill>
                  <a:srgbClr val="3D4A52"/>
                </a:solidFill>
              </a:rPr>
              <a:t>Downpayment of 30% is billed on contract signing; the balance is billed against verified accomplishment, less retention released at close-out.</a:t>
            </a:r>
          </a:p>
        </p:txBody>
      </p:sp>
      <p:sp>
        <p:nvSpPr>
          <p:cNvPr id="401" name="gateHdr"/>
          <p:cNvSpPr/>
          <p:nvPr/>
        </p:nvSpPr>
        <p:spPr>
          <a:xfrm>
            <a:off x="9080500" y="3835400"/>
            <a:ext cx="2603500" cy="406400"/>
          </a:xfrm>
          <a:prstGeom prst="rect">
            <a:avLst/>
          </a:prstGeom>
          <a:solidFill>
            <a:srgbClr val="C8621B"/>
          </a:solidFill>
          <a:ln>
            <a:noFill/>
          </a:ln>
        </p:spPr>
        <p:txBody>
          <a:bodyPr wrap="square" lIns="152400" tIns="76200" rIns="152400" bIns="76200" anchor="ctr"/>
          <a:lstStyle/>
          <a:p>
            <a:pPr>
              <a:buNone/>
            </a:pPr>
            <a:r>
              <a:rPr lang="en-US" sz="1100" b="1" dirty="0">
                <a:solidFill>
                  <a:srgbClr val="FFFFFF"/>
                </a:solidFill>
              </a:rPr>
              <a:t>GATE RULES</a:t>
            </a:r>
          </a:p>
        </p:txBody>
      </p:sp>
    </p:spTree>
    <p:extLst>
      <p:ext uri="{BB962C8B-B14F-4D97-AF65-F5344CB8AC3E}">
        <p14:creationId xmlns:p14="http://schemas.microsoft.com/office/powerpoint/2010/main" val="1854011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06E79-8AA2-7DD8-2A71-F142A85A8D1A}"/>
              </a:ext>
            </a:extLst>
          </p:cNvPr>
          <p:cNvSpPr>
            <a:spLocks noGrp="1"/>
          </p:cNvSpPr>
          <p:nvPr>
            <p:ph type="title"/>
          </p:nvPr>
        </p:nvSpPr>
        <p:spPr>
          <a:xfrm>
            <a:off x="508000" y="533400"/>
            <a:ext cx="11176000" cy="508000"/>
          </a:xfrm>
        </p:spPr>
        <p:txBody>
          <a:bodyPr>
            <a:noAutofit/>
          </a:bodyPr>
          <a:lstStyle/>
          <a:p>
            <a:pPr algn="l">
              <a:buNone/>
            </a:pPr>
            <a:r>
              <a:rPr lang="en-US" sz="2200" b="1" dirty="0">
                <a:solidFill>
                  <a:srgbClr val="12556B"/>
                </a:solidFill>
              </a:rPr>
              <a:t>Material and vendor acquisition: from PR to payment in nine steps</a:t>
            </a:r>
          </a:p>
        </p:txBody>
      </p:sp>
      <p:sp>
        <p:nvSpPr>
          <p:cNvPr id="101" name="s101"/>
          <p:cNvSpPr/>
          <p:nvPr/>
        </p:nvSpPr>
        <p:spPr>
          <a:xfrm>
            <a:off x="508000" y="304800"/>
            <a:ext cx="7620000" cy="203200"/>
          </a:xfrm>
          <a:prstGeom prst="rect">
            <a:avLst/>
          </a:prstGeom>
          <a:noFill/>
          <a:ln>
            <a:noFill/>
          </a:ln>
        </p:spPr>
        <p:txBody>
          <a:bodyPr wrap="square" lIns="0" tIns="76200" rIns="0" bIns="76200" anchor="t">
            <a:noAutofit/>
          </a:bodyPr>
          <a:lstStyle/>
          <a:p>
            <a:pPr algn="l">
              <a:buNone/>
            </a:pPr>
            <a:r>
              <a:rPr lang="en-US" sz="1100" b="1" dirty="0">
                <a:solidFill>
                  <a:srgbClr val="C8621B"/>
                </a:solidFill>
              </a:rPr>
              <a:t>PHASE 2–3 · PROCUREMENT CYCLE</a:t>
            </a:r>
          </a:p>
        </p:txBody>
      </p:sp>
      <p:sp>
        <p:nvSpPr>
          <p:cNvPr id="102" name="s102"/>
          <p:cNvSpPr/>
          <p:nvPr/>
        </p:nvSpPr>
        <p:spPr>
          <a:xfrm>
            <a:off x="508000" y="12700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3" name="s103"/>
          <p:cNvSpPr/>
          <p:nvPr/>
        </p:nvSpPr>
        <p:spPr>
          <a:xfrm>
            <a:off x="508000" y="12700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1   PURCHASE REQUISITION</a:t>
            </a:r>
          </a:p>
        </p:txBody>
      </p:sp>
      <p:sp>
        <p:nvSpPr>
          <p:cNvPr id="104" name="s104"/>
          <p:cNvSpPr/>
          <p:nvPr/>
        </p:nvSpPr>
        <p:spPr>
          <a:xfrm>
            <a:off x="508000" y="1651000"/>
            <a:ext cx="3556000" cy="7620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Site raises PR from the BOM</a:t>
            </a:r>
          </a:p>
          <a:p>
            <a:pPr algn="l">
              <a:lnSpc>
                <a:spcPts val="1200"/>
              </a:lnSpc>
              <a:spcBef>
                <a:spcPts val="60"/>
              </a:spcBef>
              <a:buNone/>
            </a:pPr>
            <a:r>
              <a:rPr lang="en-US" sz="1000" b="0" dirty="0">
                <a:solidFill>
                  <a:srgbClr val="16262E"/>
                </a:solidFill>
              </a:rPr>
              <a:t>›  Quantity, spec and cost code validated</a:t>
            </a:r>
          </a:p>
          <a:p>
            <a:pPr algn="l">
              <a:lnSpc>
                <a:spcPts val="1200"/>
              </a:lnSpc>
              <a:spcBef>
                <a:spcPts val="60"/>
              </a:spcBef>
              <a:buNone/>
            </a:pPr>
            <a:r>
              <a:rPr lang="en-US" sz="1000" b="0" dirty="0">
                <a:solidFill>
                  <a:srgbClr val="16262E"/>
                </a:solidFill>
              </a:rPr>
              <a:t>›  Budget availability confirmed</a:t>
            </a:r>
          </a:p>
        </p:txBody>
      </p:sp>
      <p:sp>
        <p:nvSpPr>
          <p:cNvPr id="105" name="s105"/>
          <p:cNvSpPr/>
          <p:nvPr/>
        </p:nvSpPr>
        <p:spPr>
          <a:xfrm>
            <a:off x="508000" y="2413000"/>
            <a:ext cx="3556000" cy="254000"/>
          </a:xfrm>
          <a:prstGeom prst="rect">
            <a:avLst/>
          </a:prstGeom>
          <a:noFill/>
          <a:ln>
            <a:noFill/>
          </a:ln>
        </p:spPr>
        <p:txBody>
          <a:bodyPr wrap="square" lIns="152400" tIns="0" rIns="152400" bIns="0" anchor="t">
            <a:noAutofit/>
          </a:bodyPr>
          <a:lstStyle/>
          <a:p>
            <a:pPr algn="l">
              <a:lnSpc>
                <a:spcPts val="1100"/>
              </a:lnSpc>
              <a:buNone/>
            </a:pPr>
            <a:r>
              <a:rPr lang="en-US" sz="1000" b="0" dirty="0">
                <a:solidFill>
                  <a:srgbClr val="46565E"/>
                </a:solidFill>
              </a:rPr>
              <a:t>Site Engineer</a:t>
            </a:r>
          </a:p>
        </p:txBody>
      </p:sp>
      <p:sp>
        <p:nvSpPr>
          <p:cNvPr id="106" name="s106"/>
          <p:cNvSpPr/>
          <p:nvPr/>
        </p:nvSpPr>
        <p:spPr>
          <a:xfrm>
            <a:off x="4089400" y="18796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07" name="s107"/>
          <p:cNvSpPr/>
          <p:nvPr/>
        </p:nvSpPr>
        <p:spPr>
          <a:xfrm>
            <a:off x="4318000" y="12700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8" name="s108"/>
          <p:cNvSpPr/>
          <p:nvPr/>
        </p:nvSpPr>
        <p:spPr>
          <a:xfrm>
            <a:off x="4318000" y="12700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2   CANVASS AND RFQ</a:t>
            </a:r>
          </a:p>
        </p:txBody>
      </p:sp>
      <p:sp>
        <p:nvSpPr>
          <p:cNvPr id="109" name="s109"/>
          <p:cNvSpPr/>
          <p:nvPr/>
        </p:nvSpPr>
        <p:spPr>
          <a:xfrm>
            <a:off x="4318000" y="1651000"/>
            <a:ext cx="3556000" cy="7620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RFQ sent to three accredited vendors</a:t>
            </a:r>
          </a:p>
          <a:p>
            <a:pPr algn="l">
              <a:lnSpc>
                <a:spcPts val="1200"/>
              </a:lnSpc>
              <a:spcBef>
                <a:spcPts val="60"/>
              </a:spcBef>
              <a:buNone/>
            </a:pPr>
            <a:r>
              <a:rPr lang="en-US" sz="1000" b="0" dirty="0">
                <a:solidFill>
                  <a:srgbClr val="16262E"/>
                </a:solidFill>
              </a:rPr>
              <a:t>›  Specs, lead time and terms fixed</a:t>
            </a:r>
          </a:p>
          <a:p>
            <a:pPr algn="l">
              <a:lnSpc>
                <a:spcPts val="1200"/>
              </a:lnSpc>
              <a:spcBef>
                <a:spcPts val="60"/>
              </a:spcBef>
              <a:buNone/>
            </a:pPr>
            <a:r>
              <a:rPr lang="en-US" sz="1000" b="0" dirty="0">
                <a:solidFill>
                  <a:srgbClr val="16262E"/>
                </a:solidFill>
              </a:rPr>
              <a:t>›  Quotes returned sealed</a:t>
            </a:r>
          </a:p>
        </p:txBody>
      </p:sp>
      <p:sp>
        <p:nvSpPr>
          <p:cNvPr id="110" name="s110"/>
          <p:cNvSpPr/>
          <p:nvPr/>
        </p:nvSpPr>
        <p:spPr>
          <a:xfrm>
            <a:off x="4318000" y="2413000"/>
            <a:ext cx="3556000" cy="254000"/>
          </a:xfrm>
          <a:prstGeom prst="rect">
            <a:avLst/>
          </a:prstGeom>
          <a:noFill/>
          <a:ln>
            <a:noFill/>
          </a:ln>
        </p:spPr>
        <p:txBody>
          <a:bodyPr wrap="square" lIns="152400" tIns="0" rIns="152400" bIns="0" anchor="t">
            <a:noAutofit/>
          </a:bodyPr>
          <a:lstStyle/>
          <a:p>
            <a:pPr algn="l">
              <a:lnSpc>
                <a:spcPts val="1100"/>
              </a:lnSpc>
              <a:buNone/>
            </a:pPr>
            <a:r>
              <a:rPr lang="en-US" sz="1000" b="0" dirty="0">
                <a:solidFill>
                  <a:srgbClr val="46565E"/>
                </a:solidFill>
              </a:rPr>
              <a:t>Procurement</a:t>
            </a:r>
          </a:p>
        </p:txBody>
      </p:sp>
      <p:sp>
        <p:nvSpPr>
          <p:cNvPr id="111" name="s111"/>
          <p:cNvSpPr/>
          <p:nvPr/>
        </p:nvSpPr>
        <p:spPr>
          <a:xfrm>
            <a:off x="7899400" y="18796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12" name="s112"/>
          <p:cNvSpPr/>
          <p:nvPr/>
        </p:nvSpPr>
        <p:spPr>
          <a:xfrm>
            <a:off x="8128000" y="12700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3" name="s113"/>
          <p:cNvSpPr/>
          <p:nvPr/>
        </p:nvSpPr>
        <p:spPr>
          <a:xfrm>
            <a:off x="8128000" y="12700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3   BID TABULATION</a:t>
            </a:r>
          </a:p>
        </p:txBody>
      </p:sp>
      <p:sp>
        <p:nvSpPr>
          <p:cNvPr id="114" name="s114"/>
          <p:cNvSpPr/>
          <p:nvPr/>
        </p:nvSpPr>
        <p:spPr>
          <a:xfrm>
            <a:off x="8128000" y="1651000"/>
            <a:ext cx="3556000" cy="7620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Price, lead time and terms compared</a:t>
            </a:r>
          </a:p>
          <a:p>
            <a:pPr algn="l">
              <a:lnSpc>
                <a:spcPts val="1200"/>
              </a:lnSpc>
              <a:spcBef>
                <a:spcPts val="60"/>
              </a:spcBef>
              <a:buNone/>
            </a:pPr>
            <a:r>
              <a:rPr lang="en-US" sz="1000" b="0" dirty="0">
                <a:solidFill>
                  <a:srgbClr val="16262E"/>
                </a:solidFill>
              </a:rPr>
              <a:t>›  Abstract of canvass prepared</a:t>
            </a:r>
          </a:p>
          <a:p>
            <a:pPr algn="l">
              <a:lnSpc>
                <a:spcPts val="1200"/>
              </a:lnSpc>
              <a:spcBef>
                <a:spcPts val="60"/>
              </a:spcBef>
              <a:buNone/>
            </a:pPr>
            <a:r>
              <a:rPr lang="en-US" sz="1000" b="0" dirty="0">
                <a:solidFill>
                  <a:srgbClr val="16262E"/>
                </a:solidFill>
              </a:rPr>
              <a:t>›  Recommendation drafted</a:t>
            </a:r>
          </a:p>
        </p:txBody>
      </p:sp>
      <p:sp>
        <p:nvSpPr>
          <p:cNvPr id="115" name="s115"/>
          <p:cNvSpPr/>
          <p:nvPr/>
        </p:nvSpPr>
        <p:spPr>
          <a:xfrm>
            <a:off x="8128000" y="2413000"/>
            <a:ext cx="3556000" cy="254000"/>
          </a:xfrm>
          <a:prstGeom prst="rect">
            <a:avLst/>
          </a:prstGeom>
          <a:noFill/>
          <a:ln>
            <a:noFill/>
          </a:ln>
        </p:spPr>
        <p:txBody>
          <a:bodyPr wrap="square" lIns="152400" tIns="0" rIns="152400" bIns="0" anchor="t">
            <a:noAutofit/>
          </a:bodyPr>
          <a:lstStyle/>
          <a:p>
            <a:pPr algn="l">
              <a:lnSpc>
                <a:spcPts val="1100"/>
              </a:lnSpc>
              <a:buNone/>
            </a:pPr>
            <a:r>
              <a:rPr lang="en-US" sz="1000" b="0" dirty="0">
                <a:solidFill>
                  <a:srgbClr val="46565E"/>
                </a:solidFill>
              </a:rPr>
              <a:t>Procurement</a:t>
            </a:r>
          </a:p>
        </p:txBody>
      </p:sp>
      <p:sp>
        <p:nvSpPr>
          <p:cNvPr id="116" name="s116"/>
          <p:cNvSpPr/>
          <p:nvPr/>
        </p:nvSpPr>
        <p:spPr>
          <a:xfrm>
            <a:off x="508000" y="29464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7" name="s117"/>
          <p:cNvSpPr/>
          <p:nvPr/>
        </p:nvSpPr>
        <p:spPr>
          <a:xfrm>
            <a:off x="508000" y="29464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4   APPROVAL</a:t>
            </a:r>
          </a:p>
        </p:txBody>
      </p:sp>
      <p:sp>
        <p:nvSpPr>
          <p:cNvPr id="118" name="s118"/>
          <p:cNvSpPr/>
          <p:nvPr/>
        </p:nvSpPr>
        <p:spPr>
          <a:xfrm>
            <a:off x="508000" y="3327400"/>
            <a:ext cx="3556000" cy="7620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Signed per authority matrix</a:t>
            </a:r>
          </a:p>
          <a:p>
            <a:pPr algn="l">
              <a:lnSpc>
                <a:spcPts val="1200"/>
              </a:lnSpc>
              <a:spcBef>
                <a:spcPts val="60"/>
              </a:spcBef>
              <a:buNone/>
            </a:pPr>
            <a:r>
              <a:rPr lang="en-US" sz="1000" b="0" dirty="0">
                <a:solidFill>
                  <a:srgbClr val="16262E"/>
                </a:solidFill>
              </a:rPr>
              <a:t>›  Sole source needs written justification</a:t>
            </a:r>
          </a:p>
          <a:p>
            <a:pPr algn="l">
              <a:lnSpc>
                <a:spcPts val="1200"/>
              </a:lnSpc>
              <a:spcBef>
                <a:spcPts val="60"/>
              </a:spcBef>
              <a:buNone/>
            </a:pPr>
            <a:r>
              <a:rPr lang="en-US" sz="1000" b="0" dirty="0">
                <a:solidFill>
                  <a:srgbClr val="16262E"/>
                </a:solidFill>
              </a:rPr>
              <a:t>›  Rejected PRs returned to site</a:t>
            </a:r>
          </a:p>
        </p:txBody>
      </p:sp>
      <p:sp>
        <p:nvSpPr>
          <p:cNvPr id="119" name="s119"/>
          <p:cNvSpPr/>
          <p:nvPr/>
        </p:nvSpPr>
        <p:spPr>
          <a:xfrm>
            <a:off x="508000" y="4089400"/>
            <a:ext cx="3556000" cy="254000"/>
          </a:xfrm>
          <a:prstGeom prst="rect">
            <a:avLst/>
          </a:prstGeom>
          <a:noFill/>
          <a:ln>
            <a:noFill/>
          </a:ln>
        </p:spPr>
        <p:txBody>
          <a:bodyPr wrap="square" lIns="152400" tIns="0" rIns="152400" bIns="0" anchor="t">
            <a:noAutofit/>
          </a:bodyPr>
          <a:lstStyle/>
          <a:p>
            <a:pPr algn="l">
              <a:lnSpc>
                <a:spcPts val="1100"/>
              </a:lnSpc>
              <a:buNone/>
            </a:pPr>
            <a:r>
              <a:rPr lang="en-US" sz="1000" b="0" dirty="0">
                <a:solidFill>
                  <a:srgbClr val="46565E"/>
                </a:solidFill>
              </a:rPr>
              <a:t>Finance / Management</a:t>
            </a:r>
          </a:p>
        </p:txBody>
      </p:sp>
      <p:sp>
        <p:nvSpPr>
          <p:cNvPr id="120" name="s120"/>
          <p:cNvSpPr/>
          <p:nvPr/>
        </p:nvSpPr>
        <p:spPr>
          <a:xfrm>
            <a:off x="4089400" y="35560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21" name="s121"/>
          <p:cNvSpPr/>
          <p:nvPr/>
        </p:nvSpPr>
        <p:spPr>
          <a:xfrm>
            <a:off x="4318000" y="29464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22" name="s122"/>
          <p:cNvSpPr/>
          <p:nvPr/>
        </p:nvSpPr>
        <p:spPr>
          <a:xfrm>
            <a:off x="4318000" y="29464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5   PO ISSUANCE</a:t>
            </a:r>
          </a:p>
        </p:txBody>
      </p:sp>
      <p:sp>
        <p:nvSpPr>
          <p:cNvPr id="123" name="s123"/>
          <p:cNvSpPr/>
          <p:nvPr/>
        </p:nvSpPr>
        <p:spPr>
          <a:xfrm>
            <a:off x="4318000" y="3327400"/>
            <a:ext cx="3556000" cy="7620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PO carries spec, price, delivery date</a:t>
            </a:r>
          </a:p>
          <a:p>
            <a:pPr algn="l">
              <a:lnSpc>
                <a:spcPts val="1200"/>
              </a:lnSpc>
              <a:spcBef>
                <a:spcPts val="60"/>
              </a:spcBef>
              <a:buNone/>
            </a:pPr>
            <a:r>
              <a:rPr lang="en-US" sz="1000" b="0" dirty="0">
                <a:solidFill>
                  <a:srgbClr val="16262E"/>
                </a:solidFill>
              </a:rPr>
              <a:t>›  Vendor acknowledges in writing</a:t>
            </a:r>
          </a:p>
          <a:p>
            <a:pPr algn="l">
              <a:lnSpc>
                <a:spcPts val="1200"/>
              </a:lnSpc>
              <a:spcBef>
                <a:spcPts val="60"/>
              </a:spcBef>
              <a:buNone/>
            </a:pPr>
            <a:r>
              <a:rPr lang="en-US" sz="1000" b="0" dirty="0">
                <a:solidFill>
                  <a:srgbClr val="16262E"/>
                </a:solidFill>
              </a:rPr>
              <a:t>›  Downpayment released if required</a:t>
            </a:r>
          </a:p>
        </p:txBody>
      </p:sp>
      <p:sp>
        <p:nvSpPr>
          <p:cNvPr id="124" name="s124"/>
          <p:cNvSpPr/>
          <p:nvPr/>
        </p:nvSpPr>
        <p:spPr>
          <a:xfrm>
            <a:off x="4318000" y="4089400"/>
            <a:ext cx="3556000" cy="254000"/>
          </a:xfrm>
          <a:prstGeom prst="rect">
            <a:avLst/>
          </a:prstGeom>
          <a:noFill/>
          <a:ln>
            <a:noFill/>
          </a:ln>
        </p:spPr>
        <p:txBody>
          <a:bodyPr wrap="square" lIns="152400" tIns="0" rIns="152400" bIns="0" anchor="t">
            <a:noAutofit/>
          </a:bodyPr>
          <a:lstStyle/>
          <a:p>
            <a:pPr algn="l">
              <a:lnSpc>
                <a:spcPts val="1100"/>
              </a:lnSpc>
              <a:buNone/>
            </a:pPr>
            <a:r>
              <a:rPr lang="en-US" sz="1000" b="0" dirty="0">
                <a:solidFill>
                  <a:srgbClr val="46565E"/>
                </a:solidFill>
              </a:rPr>
              <a:t>Procurement</a:t>
            </a:r>
          </a:p>
        </p:txBody>
      </p:sp>
      <p:sp>
        <p:nvSpPr>
          <p:cNvPr id="125" name="s125"/>
          <p:cNvSpPr/>
          <p:nvPr/>
        </p:nvSpPr>
        <p:spPr>
          <a:xfrm>
            <a:off x="7899400" y="35560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26" name="s126"/>
          <p:cNvSpPr/>
          <p:nvPr/>
        </p:nvSpPr>
        <p:spPr>
          <a:xfrm>
            <a:off x="8128000" y="29464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27" name="s127"/>
          <p:cNvSpPr/>
          <p:nvPr/>
        </p:nvSpPr>
        <p:spPr>
          <a:xfrm>
            <a:off x="8128000" y="29464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6   DELIVERY AND RECEIVING</a:t>
            </a:r>
          </a:p>
        </p:txBody>
      </p:sp>
      <p:sp>
        <p:nvSpPr>
          <p:cNvPr id="128" name="s128"/>
          <p:cNvSpPr/>
          <p:nvPr/>
        </p:nvSpPr>
        <p:spPr>
          <a:xfrm>
            <a:off x="8128000" y="3327400"/>
            <a:ext cx="3556000" cy="7620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DR checked line by line against PO</a:t>
            </a:r>
          </a:p>
          <a:p>
            <a:pPr algn="l">
              <a:lnSpc>
                <a:spcPts val="1200"/>
              </a:lnSpc>
              <a:spcBef>
                <a:spcPts val="60"/>
              </a:spcBef>
              <a:buNone/>
            </a:pPr>
            <a:r>
              <a:rPr lang="en-US" sz="1000" b="0" dirty="0">
                <a:solidFill>
                  <a:srgbClr val="16262E"/>
                </a:solidFill>
              </a:rPr>
              <a:t>›  Short or over delivery noted on DR</a:t>
            </a:r>
          </a:p>
          <a:p>
            <a:pPr algn="l">
              <a:lnSpc>
                <a:spcPts val="1200"/>
              </a:lnSpc>
              <a:spcBef>
                <a:spcPts val="60"/>
              </a:spcBef>
              <a:buNone/>
            </a:pPr>
            <a:r>
              <a:rPr lang="en-US" sz="1000" b="0" dirty="0">
                <a:solidFill>
                  <a:srgbClr val="16262E"/>
                </a:solidFill>
              </a:rPr>
              <a:t>›  Receiving report issued</a:t>
            </a:r>
          </a:p>
        </p:txBody>
      </p:sp>
      <p:sp>
        <p:nvSpPr>
          <p:cNvPr id="129" name="s129"/>
          <p:cNvSpPr/>
          <p:nvPr/>
        </p:nvSpPr>
        <p:spPr>
          <a:xfrm>
            <a:off x="8128000" y="4089400"/>
            <a:ext cx="3556000" cy="254000"/>
          </a:xfrm>
          <a:prstGeom prst="rect">
            <a:avLst/>
          </a:prstGeom>
          <a:noFill/>
          <a:ln>
            <a:noFill/>
          </a:ln>
        </p:spPr>
        <p:txBody>
          <a:bodyPr wrap="square" lIns="152400" tIns="0" rIns="152400" bIns="0" anchor="t">
            <a:noAutofit/>
          </a:bodyPr>
          <a:lstStyle/>
          <a:p>
            <a:pPr algn="l">
              <a:lnSpc>
                <a:spcPts val="1100"/>
              </a:lnSpc>
              <a:buNone/>
            </a:pPr>
            <a:r>
              <a:rPr lang="en-US" sz="1000" b="0" dirty="0">
                <a:solidFill>
                  <a:srgbClr val="46565E"/>
                </a:solidFill>
              </a:rPr>
              <a:t>Warehouse / Site</a:t>
            </a:r>
          </a:p>
        </p:txBody>
      </p:sp>
      <p:sp>
        <p:nvSpPr>
          <p:cNvPr id="130" name="s130"/>
          <p:cNvSpPr/>
          <p:nvPr/>
        </p:nvSpPr>
        <p:spPr>
          <a:xfrm>
            <a:off x="508000" y="46228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31" name="s131"/>
          <p:cNvSpPr/>
          <p:nvPr/>
        </p:nvSpPr>
        <p:spPr>
          <a:xfrm>
            <a:off x="508000" y="46228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7   INSPECTION AND QC</a:t>
            </a:r>
          </a:p>
        </p:txBody>
      </p:sp>
      <p:sp>
        <p:nvSpPr>
          <p:cNvPr id="132" name="s132"/>
          <p:cNvSpPr/>
          <p:nvPr/>
        </p:nvSpPr>
        <p:spPr>
          <a:xfrm>
            <a:off x="508000" y="5003800"/>
            <a:ext cx="3556000" cy="7620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Material inspected against spec</a:t>
            </a:r>
          </a:p>
          <a:p>
            <a:pPr algn="l">
              <a:lnSpc>
                <a:spcPts val="1200"/>
              </a:lnSpc>
              <a:spcBef>
                <a:spcPts val="60"/>
              </a:spcBef>
              <a:buNone/>
            </a:pPr>
            <a:r>
              <a:rPr lang="en-US" sz="1000" b="0" dirty="0">
                <a:solidFill>
                  <a:srgbClr val="16262E"/>
                </a:solidFill>
              </a:rPr>
              <a:t>›  Rejects returned to vendor on RTV</a:t>
            </a:r>
          </a:p>
          <a:p>
            <a:pPr algn="l">
              <a:lnSpc>
                <a:spcPts val="1200"/>
              </a:lnSpc>
              <a:spcBef>
                <a:spcPts val="60"/>
              </a:spcBef>
              <a:buNone/>
            </a:pPr>
            <a:r>
              <a:rPr lang="en-US" sz="1000" b="0" dirty="0">
                <a:solidFill>
                  <a:srgbClr val="16262E"/>
                </a:solidFill>
              </a:rPr>
              <a:t>›  Test certificates filed</a:t>
            </a:r>
          </a:p>
        </p:txBody>
      </p:sp>
      <p:sp>
        <p:nvSpPr>
          <p:cNvPr id="133" name="s133"/>
          <p:cNvSpPr/>
          <p:nvPr/>
        </p:nvSpPr>
        <p:spPr>
          <a:xfrm>
            <a:off x="508000" y="5765800"/>
            <a:ext cx="3556000" cy="254000"/>
          </a:xfrm>
          <a:prstGeom prst="rect">
            <a:avLst/>
          </a:prstGeom>
          <a:noFill/>
          <a:ln>
            <a:noFill/>
          </a:ln>
        </p:spPr>
        <p:txBody>
          <a:bodyPr wrap="square" lIns="152400" tIns="0" rIns="152400" bIns="0" anchor="t">
            <a:noAutofit/>
          </a:bodyPr>
          <a:lstStyle/>
          <a:p>
            <a:pPr algn="l">
              <a:lnSpc>
                <a:spcPts val="1100"/>
              </a:lnSpc>
              <a:buNone/>
            </a:pPr>
            <a:r>
              <a:rPr lang="en-US" sz="1000" b="0" dirty="0">
                <a:solidFill>
                  <a:srgbClr val="46565E"/>
                </a:solidFill>
              </a:rPr>
              <a:t>QC / Technical</a:t>
            </a:r>
          </a:p>
        </p:txBody>
      </p:sp>
      <p:sp>
        <p:nvSpPr>
          <p:cNvPr id="134" name="s134"/>
          <p:cNvSpPr/>
          <p:nvPr/>
        </p:nvSpPr>
        <p:spPr>
          <a:xfrm>
            <a:off x="4089400" y="52324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35" name="s135"/>
          <p:cNvSpPr/>
          <p:nvPr/>
        </p:nvSpPr>
        <p:spPr>
          <a:xfrm>
            <a:off x="4318000" y="46228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36" name="s136"/>
          <p:cNvSpPr/>
          <p:nvPr/>
        </p:nvSpPr>
        <p:spPr>
          <a:xfrm>
            <a:off x="4318000" y="46228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8   WAREHOUSE AND ISSUANCE</a:t>
            </a:r>
          </a:p>
        </p:txBody>
      </p:sp>
      <p:sp>
        <p:nvSpPr>
          <p:cNvPr id="137" name="s137"/>
          <p:cNvSpPr/>
          <p:nvPr/>
        </p:nvSpPr>
        <p:spPr>
          <a:xfrm>
            <a:off x="4318000" y="5003800"/>
            <a:ext cx="3556000" cy="7620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Stock card and bin location updated</a:t>
            </a:r>
          </a:p>
          <a:p>
            <a:pPr algn="l">
              <a:lnSpc>
                <a:spcPts val="1200"/>
              </a:lnSpc>
              <a:spcBef>
                <a:spcPts val="60"/>
              </a:spcBef>
              <a:buNone/>
            </a:pPr>
            <a:r>
              <a:rPr lang="en-US" sz="1000" b="0" dirty="0">
                <a:solidFill>
                  <a:srgbClr val="16262E"/>
                </a:solidFill>
              </a:rPr>
              <a:t>›  Issued to cost code via material slip</a:t>
            </a:r>
          </a:p>
          <a:p>
            <a:pPr algn="l">
              <a:lnSpc>
                <a:spcPts val="1200"/>
              </a:lnSpc>
              <a:spcBef>
                <a:spcPts val="60"/>
              </a:spcBef>
              <a:buNone/>
            </a:pPr>
            <a:r>
              <a:rPr lang="en-US" sz="1000" b="0" dirty="0">
                <a:solidFill>
                  <a:srgbClr val="16262E"/>
                </a:solidFill>
              </a:rPr>
              <a:t>›  Physical count every month end</a:t>
            </a:r>
          </a:p>
        </p:txBody>
      </p:sp>
      <p:sp>
        <p:nvSpPr>
          <p:cNvPr id="138" name="s138"/>
          <p:cNvSpPr/>
          <p:nvPr/>
        </p:nvSpPr>
        <p:spPr>
          <a:xfrm>
            <a:off x="4318000" y="5765800"/>
            <a:ext cx="3556000" cy="254000"/>
          </a:xfrm>
          <a:prstGeom prst="rect">
            <a:avLst/>
          </a:prstGeom>
          <a:noFill/>
          <a:ln>
            <a:noFill/>
          </a:ln>
        </p:spPr>
        <p:txBody>
          <a:bodyPr wrap="square" lIns="152400" tIns="0" rIns="152400" bIns="0" anchor="t">
            <a:noAutofit/>
          </a:bodyPr>
          <a:lstStyle/>
          <a:p>
            <a:pPr algn="l">
              <a:lnSpc>
                <a:spcPts val="1100"/>
              </a:lnSpc>
              <a:buNone/>
            </a:pPr>
            <a:r>
              <a:rPr lang="en-US" sz="1000" b="0" dirty="0">
                <a:solidFill>
                  <a:srgbClr val="46565E"/>
                </a:solidFill>
              </a:rPr>
              <a:t>Warehouse</a:t>
            </a:r>
          </a:p>
        </p:txBody>
      </p:sp>
      <p:sp>
        <p:nvSpPr>
          <p:cNvPr id="139" name="s139"/>
          <p:cNvSpPr/>
          <p:nvPr/>
        </p:nvSpPr>
        <p:spPr>
          <a:xfrm>
            <a:off x="7899400" y="52324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40" name="s140"/>
          <p:cNvSpPr/>
          <p:nvPr/>
        </p:nvSpPr>
        <p:spPr>
          <a:xfrm>
            <a:off x="8128000" y="46228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41" name="s141"/>
          <p:cNvSpPr/>
          <p:nvPr/>
        </p:nvSpPr>
        <p:spPr>
          <a:xfrm>
            <a:off x="8128000" y="46228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9   MATCH AND PAYMENT</a:t>
            </a:r>
          </a:p>
        </p:txBody>
      </p:sp>
      <p:sp>
        <p:nvSpPr>
          <p:cNvPr id="142" name="s142"/>
          <p:cNvSpPr/>
          <p:nvPr/>
        </p:nvSpPr>
        <p:spPr>
          <a:xfrm>
            <a:off x="8128000" y="5003800"/>
            <a:ext cx="3556000" cy="7620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PO, receiving report and invoice matched</a:t>
            </a:r>
          </a:p>
          <a:p>
            <a:pPr algn="l">
              <a:lnSpc>
                <a:spcPts val="1200"/>
              </a:lnSpc>
              <a:spcBef>
                <a:spcPts val="60"/>
              </a:spcBef>
              <a:buNone/>
            </a:pPr>
            <a:r>
              <a:rPr lang="en-US" sz="1000" b="0" dirty="0">
                <a:solidFill>
                  <a:srgbClr val="16262E"/>
                </a:solidFill>
              </a:rPr>
              <a:t>›  AP voucher raised with tax documents</a:t>
            </a:r>
          </a:p>
          <a:p>
            <a:pPr algn="l">
              <a:lnSpc>
                <a:spcPts val="1200"/>
              </a:lnSpc>
              <a:spcBef>
                <a:spcPts val="60"/>
              </a:spcBef>
              <a:buNone/>
            </a:pPr>
            <a:r>
              <a:rPr lang="en-US" sz="1000" b="0" dirty="0">
                <a:solidFill>
                  <a:srgbClr val="16262E"/>
                </a:solidFill>
              </a:rPr>
              <a:t>›  Paid on terms; vendor rated</a:t>
            </a:r>
          </a:p>
        </p:txBody>
      </p:sp>
      <p:sp>
        <p:nvSpPr>
          <p:cNvPr id="143" name="s143"/>
          <p:cNvSpPr/>
          <p:nvPr/>
        </p:nvSpPr>
        <p:spPr>
          <a:xfrm>
            <a:off x="8128000" y="5765800"/>
            <a:ext cx="3556000" cy="254000"/>
          </a:xfrm>
          <a:prstGeom prst="rect">
            <a:avLst/>
          </a:prstGeom>
          <a:noFill/>
          <a:ln>
            <a:noFill/>
          </a:ln>
        </p:spPr>
        <p:txBody>
          <a:bodyPr wrap="square" lIns="152400" tIns="0" rIns="152400" bIns="0" anchor="t">
            <a:noAutofit/>
          </a:bodyPr>
          <a:lstStyle/>
          <a:p>
            <a:pPr algn="l">
              <a:lnSpc>
                <a:spcPts val="1100"/>
              </a:lnSpc>
              <a:buNone/>
            </a:pPr>
            <a:r>
              <a:rPr lang="en-US" sz="1000" b="0" dirty="0">
                <a:solidFill>
                  <a:srgbClr val="46565E"/>
                </a:solidFill>
              </a:rPr>
              <a:t>Accounting / Treasury</a:t>
            </a:r>
          </a:p>
        </p:txBody>
      </p:sp>
      <p:sp>
        <p:nvSpPr>
          <p:cNvPr id="144" name="s144"/>
          <p:cNvSpPr/>
          <p:nvPr/>
        </p:nvSpPr>
        <p:spPr>
          <a:xfrm>
            <a:off x="9880600" y="2692400"/>
            <a:ext cx="38100" cy="139700"/>
          </a:xfrm>
          <a:prstGeom prst="rect">
            <a:avLst/>
          </a:prstGeom>
          <a:solidFill>
            <a:srgbClr val="0E8C9E"/>
          </a:solidFill>
          <a:ln>
            <a:noFill/>
          </a:ln>
        </p:spPr>
        <p:txBody>
          <a:bodyPr wrap="square" lIns="127000" tIns="76200" rIns="127000" bIns="76200" anchor="ctr">
            <a:noAutofit/>
          </a:bodyPr>
          <a:lstStyle/>
          <a:p>
            <a:pPr>
              <a:buNone/>
            </a:pPr>
            <a:endParaRPr lang="en-US"/>
          </a:p>
        </p:txBody>
      </p:sp>
      <p:sp>
        <p:nvSpPr>
          <p:cNvPr id="145" name="s145"/>
          <p:cNvSpPr/>
          <p:nvPr/>
        </p:nvSpPr>
        <p:spPr>
          <a:xfrm>
            <a:off x="2286000" y="2806700"/>
            <a:ext cx="7632700" cy="38100"/>
          </a:xfrm>
          <a:prstGeom prst="rect">
            <a:avLst/>
          </a:prstGeom>
          <a:solidFill>
            <a:srgbClr val="0E8C9E"/>
          </a:solidFill>
          <a:ln>
            <a:noFill/>
          </a:ln>
        </p:spPr>
        <p:txBody>
          <a:bodyPr wrap="square" lIns="127000" tIns="76200" rIns="127000" bIns="76200" anchor="ctr">
            <a:noAutofit/>
          </a:bodyPr>
          <a:lstStyle/>
          <a:p>
            <a:pPr>
              <a:buNone/>
            </a:pPr>
            <a:endParaRPr lang="en-US"/>
          </a:p>
        </p:txBody>
      </p:sp>
      <p:sp>
        <p:nvSpPr>
          <p:cNvPr id="146" name="s146"/>
          <p:cNvSpPr/>
          <p:nvPr/>
        </p:nvSpPr>
        <p:spPr>
          <a:xfrm>
            <a:off x="2184400" y="2692400"/>
            <a:ext cx="203200" cy="203200"/>
          </a:xfrm>
          <a:prstGeom prst="downArrow">
            <a:avLst/>
          </a:prstGeom>
          <a:solidFill>
            <a:srgbClr val="0E8C9E"/>
          </a:solidFill>
          <a:ln>
            <a:noFill/>
          </a:ln>
        </p:spPr>
        <p:txBody>
          <a:bodyPr wrap="square" lIns="127000" tIns="76200" rIns="127000" bIns="76200" anchor="ctr">
            <a:noAutofit/>
          </a:bodyPr>
          <a:lstStyle/>
          <a:p>
            <a:pPr>
              <a:buNone/>
            </a:pPr>
            <a:endParaRPr lang="en-US"/>
          </a:p>
        </p:txBody>
      </p:sp>
      <p:sp>
        <p:nvSpPr>
          <p:cNvPr id="147" name="s147"/>
          <p:cNvSpPr/>
          <p:nvPr/>
        </p:nvSpPr>
        <p:spPr>
          <a:xfrm>
            <a:off x="9880600" y="4368800"/>
            <a:ext cx="38100" cy="139700"/>
          </a:xfrm>
          <a:prstGeom prst="rect">
            <a:avLst/>
          </a:prstGeom>
          <a:solidFill>
            <a:srgbClr val="0E8C9E"/>
          </a:solidFill>
          <a:ln>
            <a:noFill/>
          </a:ln>
        </p:spPr>
        <p:txBody>
          <a:bodyPr wrap="square" lIns="127000" tIns="76200" rIns="127000" bIns="76200" anchor="ctr">
            <a:noAutofit/>
          </a:bodyPr>
          <a:lstStyle/>
          <a:p>
            <a:pPr>
              <a:buNone/>
            </a:pPr>
            <a:endParaRPr lang="en-US"/>
          </a:p>
        </p:txBody>
      </p:sp>
      <p:sp>
        <p:nvSpPr>
          <p:cNvPr id="148" name="s148"/>
          <p:cNvSpPr/>
          <p:nvPr/>
        </p:nvSpPr>
        <p:spPr>
          <a:xfrm>
            <a:off x="2286000" y="4483100"/>
            <a:ext cx="7632700" cy="38100"/>
          </a:xfrm>
          <a:prstGeom prst="rect">
            <a:avLst/>
          </a:prstGeom>
          <a:solidFill>
            <a:srgbClr val="0E8C9E"/>
          </a:solidFill>
          <a:ln>
            <a:noFill/>
          </a:ln>
        </p:spPr>
        <p:txBody>
          <a:bodyPr wrap="square" lIns="127000" tIns="76200" rIns="127000" bIns="76200" anchor="ctr">
            <a:noAutofit/>
          </a:bodyPr>
          <a:lstStyle/>
          <a:p>
            <a:pPr>
              <a:buNone/>
            </a:pPr>
            <a:endParaRPr lang="en-US"/>
          </a:p>
        </p:txBody>
      </p:sp>
      <p:sp>
        <p:nvSpPr>
          <p:cNvPr id="149" name="s149"/>
          <p:cNvSpPr/>
          <p:nvPr/>
        </p:nvSpPr>
        <p:spPr>
          <a:xfrm>
            <a:off x="2184400" y="4368800"/>
            <a:ext cx="203200" cy="203200"/>
          </a:xfrm>
          <a:prstGeom prst="downArrow">
            <a:avLst/>
          </a:prstGeom>
          <a:solidFill>
            <a:srgbClr val="0E8C9E"/>
          </a:solidFill>
          <a:ln>
            <a:noFill/>
          </a:ln>
        </p:spPr>
        <p:txBody>
          <a:bodyPr wrap="square" lIns="127000" tIns="76200" rIns="127000" bIns="76200" anchor="ctr">
            <a:noAutofit/>
          </a:bodyPr>
          <a:lstStyle/>
          <a:p>
            <a:pPr>
              <a:buNone/>
            </a:pPr>
            <a:endParaRPr lang="en-US"/>
          </a:p>
        </p:txBody>
      </p:sp>
      <p:sp>
        <p:nvSpPr>
          <p:cNvPr id="150" name="s150"/>
          <p:cNvSpPr/>
          <p:nvPr/>
        </p:nvSpPr>
        <p:spPr>
          <a:xfrm>
            <a:off x="508000" y="6172200"/>
            <a:ext cx="11176000" cy="508000"/>
          </a:xfrm>
          <a:prstGeom prst="rect">
            <a:avLst/>
          </a:prstGeom>
          <a:noFill/>
          <a:ln>
            <a:noFill/>
          </a:ln>
        </p:spPr>
        <p:txBody>
          <a:bodyPr wrap="square" lIns="0" tIns="76200" rIns="0" bIns="76200" anchor="t">
            <a:noAutofit/>
          </a:bodyPr>
          <a:lstStyle/>
          <a:p>
            <a:pPr algn="l">
              <a:lnSpc>
                <a:spcPts val="1350"/>
              </a:lnSpc>
              <a:buNone/>
            </a:pPr>
            <a:r>
              <a:rPr lang="en-US" sz="1100" b="0" dirty="0">
                <a:solidFill>
                  <a:srgbClr val="3D4A52"/>
                </a:solidFill>
              </a:rPr>
              <a:t>Controls: three quotes minimum, PO before delivery, no payment without a three-way match. Vendor accreditation is renewed yearly; scorecards on price, on-time delivery and rejection rate drive the accredited list.</a:t>
            </a:r>
          </a:p>
        </p:txBody>
      </p:sp>
    </p:spTree>
    <p:extLst>
      <p:ext uri="{BB962C8B-B14F-4D97-AF65-F5344CB8AC3E}">
        <p14:creationId xmlns:p14="http://schemas.microsoft.com/office/powerpoint/2010/main" val="1212685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493CE-81A5-923B-D7E2-7E20B53EC651}"/>
              </a:ext>
            </a:extLst>
          </p:cNvPr>
          <p:cNvSpPr>
            <a:spLocks noGrp="1"/>
          </p:cNvSpPr>
          <p:nvPr>
            <p:ph type="title"/>
          </p:nvPr>
        </p:nvSpPr>
        <p:spPr>
          <a:xfrm>
            <a:off x="508000" y="533400"/>
            <a:ext cx="11176000" cy="508000"/>
          </a:xfrm>
        </p:spPr>
        <p:txBody>
          <a:bodyPr>
            <a:noAutofit/>
          </a:bodyPr>
          <a:lstStyle/>
          <a:p>
            <a:pPr algn="l">
              <a:buNone/>
            </a:pPr>
            <a:r>
              <a:rPr lang="en-US" sz="2200" b="1" dirty="0">
                <a:solidFill>
                  <a:srgbClr val="12556B"/>
                </a:solidFill>
              </a:rPr>
              <a:t>Approval authority and accreditation decide who can buy, from whom, and how fast</a:t>
            </a:r>
          </a:p>
        </p:txBody>
      </p:sp>
      <p:graphicFrame>
        <p:nvGraphicFramePr>
          <p:cNvPr id="4" name="Table 3">
            <a:extLst>
              <a:ext uri="{FF2B5EF4-FFF2-40B4-BE49-F238E27FC236}">
                <a16:creationId xmlns:a16="http://schemas.microsoft.com/office/drawing/2014/main" id="{1ECC1AC8-9C5A-43D6-A1FC-6B0870604D74}"/>
              </a:ext>
            </a:extLst>
          </p:cNvPr>
          <p:cNvGraphicFramePr>
            <a:graphicFrameLocks noGrp="1"/>
          </p:cNvGraphicFramePr>
          <p:nvPr/>
        </p:nvGraphicFramePr>
        <p:xfrm>
          <a:off x="508000" y="1320800"/>
          <a:ext cx="11176000" cy="24130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996412187"/>
                    </a:ext>
                  </a:extLst>
                </a:gridCol>
                <a:gridCol w="3683000">
                  <a:extLst>
                    <a:ext uri="{9D8B030D-6E8A-4147-A177-3AD203B41FA5}">
                      <a16:colId xmlns:a16="http://schemas.microsoft.com/office/drawing/2014/main" val="2193711294"/>
                    </a:ext>
                  </a:extLst>
                </a:gridCol>
                <a:gridCol w="3175000">
                  <a:extLst>
                    <a:ext uri="{9D8B030D-6E8A-4147-A177-3AD203B41FA5}">
                      <a16:colId xmlns:a16="http://schemas.microsoft.com/office/drawing/2014/main" val="3779551888"/>
                    </a:ext>
                  </a:extLst>
                </a:gridCol>
                <a:gridCol w="1651000">
                  <a:extLst>
                    <a:ext uri="{9D8B030D-6E8A-4147-A177-3AD203B41FA5}">
                      <a16:colId xmlns:a16="http://schemas.microsoft.com/office/drawing/2014/main" val="41026785"/>
                    </a:ext>
                  </a:extLst>
                </a:gridCol>
              </a:tblGrid>
              <a:tr h="406400">
                <a:tc>
                  <a:txBody>
                    <a:bodyPr/>
                    <a:lstStyle/>
                    <a:p>
                      <a:pPr algn="l"/>
                      <a:r>
                        <a:rPr lang="en-US" sz="1200" b="1">
                          <a:solidFill>
                            <a:srgbClr val="12556B"/>
                          </a:solidFill>
                          <a:latin typeface="Segoe UI"/>
                          <a:cs typeface="Segoe UI"/>
                        </a:rPr>
                        <a:t>Purchase value</a:t>
                      </a:r>
                    </a:p>
                  </a:txBody>
                  <a:tcPr marL="127000" marR="127000" anchor="ctr"/>
                </a:tc>
                <a:tc>
                  <a:txBody>
                    <a:bodyPr/>
                    <a:lstStyle/>
                    <a:p>
                      <a:pPr algn="l"/>
                      <a:r>
                        <a:rPr lang="en-US" sz="1200" b="1">
                          <a:solidFill>
                            <a:srgbClr val="12556B"/>
                          </a:solidFill>
                          <a:latin typeface="Segoe UI"/>
                          <a:cs typeface="Segoe UI"/>
                        </a:rPr>
                        <a:t>Required documents</a:t>
                      </a:r>
                    </a:p>
                  </a:txBody>
                  <a:tcPr marL="127000" marR="127000" anchor="ctr"/>
                </a:tc>
                <a:tc>
                  <a:txBody>
                    <a:bodyPr/>
                    <a:lstStyle/>
                    <a:p>
                      <a:pPr algn="l"/>
                      <a:r>
                        <a:rPr lang="en-US" sz="1200" b="1">
                          <a:solidFill>
                            <a:srgbClr val="12556B"/>
                          </a:solidFill>
                          <a:latin typeface="Segoe UI"/>
                          <a:cs typeface="Segoe UI"/>
                        </a:rPr>
                        <a:t>Approver</a:t>
                      </a:r>
                    </a:p>
                  </a:txBody>
                  <a:tcPr marL="127000" marR="127000" anchor="ctr"/>
                </a:tc>
                <a:tc>
                  <a:txBody>
                    <a:bodyPr/>
                    <a:lstStyle/>
                    <a:p>
                      <a:pPr algn="l"/>
                      <a:r>
                        <a:rPr lang="en-US" sz="1200" b="1">
                          <a:solidFill>
                            <a:srgbClr val="12556B"/>
                          </a:solidFill>
                          <a:latin typeface="Segoe UI"/>
                          <a:cs typeface="Segoe UI"/>
                        </a:rPr>
                        <a:t>Turnaround</a:t>
                      </a:r>
                    </a:p>
                  </a:txBody>
                  <a:tcPr marL="127000" marR="127000" anchor="ctr"/>
                </a:tc>
                <a:extLst>
                  <a:ext uri="{0D108BD9-81ED-4DB2-BD59-A6C34878D82A}">
                    <a16:rowId xmlns:a16="http://schemas.microsoft.com/office/drawing/2014/main" val="3258614965"/>
                  </a:ext>
                </a:extLst>
              </a:tr>
              <a:tr h="482600">
                <a:tc>
                  <a:txBody>
                    <a:bodyPr/>
                    <a:lstStyle/>
                    <a:p>
                      <a:pPr algn="l"/>
                      <a:r>
                        <a:rPr lang="en-US" sz="1200" b="1">
                          <a:solidFill>
                            <a:srgbClr val="12556B"/>
                          </a:solidFill>
                          <a:latin typeface="Segoe UI"/>
                          <a:cs typeface="Segoe UI"/>
                        </a:rPr>
                        <a:t>Tier 1 — low value</a:t>
                      </a:r>
                    </a:p>
                  </a:txBody>
                  <a:tcPr marL="127000" marR="127000" anchor="ctr"/>
                </a:tc>
                <a:tc>
                  <a:txBody>
                    <a:bodyPr/>
                    <a:lstStyle/>
                    <a:p>
                      <a:pPr algn="l"/>
                      <a:r>
                        <a:rPr lang="en-US" sz="1200" b="0">
                          <a:solidFill>
                            <a:srgbClr val="16262E"/>
                          </a:solidFill>
                          <a:latin typeface="Segoe UI"/>
                          <a:cs typeface="Segoe UI"/>
                        </a:rPr>
                        <a:t>PR, single canvass sheet</a:t>
                      </a:r>
                    </a:p>
                  </a:txBody>
                  <a:tcPr marL="127000" marR="127000" anchor="ctr"/>
                </a:tc>
                <a:tc>
                  <a:txBody>
                    <a:bodyPr/>
                    <a:lstStyle/>
                    <a:p>
                      <a:pPr algn="l"/>
                      <a:r>
                        <a:rPr lang="en-US" sz="1200" b="0">
                          <a:solidFill>
                            <a:srgbClr val="16262E"/>
                          </a:solidFill>
                          <a:latin typeface="Segoe UI"/>
                          <a:cs typeface="Segoe UI"/>
                        </a:rPr>
                        <a:t>Site Engineer, then Procurement Head</a:t>
                      </a:r>
                    </a:p>
                  </a:txBody>
                  <a:tcPr marL="127000" marR="127000" anchor="ctr"/>
                </a:tc>
                <a:tc>
                  <a:txBody>
                    <a:bodyPr/>
                    <a:lstStyle/>
                    <a:p>
                      <a:pPr algn="l"/>
                      <a:r>
                        <a:rPr lang="en-US" sz="1200" b="0">
                          <a:solidFill>
                            <a:srgbClr val="16262E"/>
                          </a:solidFill>
                          <a:latin typeface="Segoe UI"/>
                          <a:cs typeface="Segoe UI"/>
                        </a:rPr>
                        <a:t>1 working day</a:t>
                      </a:r>
                    </a:p>
                  </a:txBody>
                  <a:tcPr marL="127000" marR="127000" anchor="ctr"/>
                </a:tc>
                <a:extLst>
                  <a:ext uri="{0D108BD9-81ED-4DB2-BD59-A6C34878D82A}">
                    <a16:rowId xmlns:a16="http://schemas.microsoft.com/office/drawing/2014/main" val="2673303495"/>
                  </a:ext>
                </a:extLst>
              </a:tr>
              <a:tr h="482600">
                <a:tc>
                  <a:txBody>
                    <a:bodyPr/>
                    <a:lstStyle/>
                    <a:p>
                      <a:pPr algn="l"/>
                      <a:r>
                        <a:rPr lang="en-US" sz="1200" b="1">
                          <a:solidFill>
                            <a:srgbClr val="12556B"/>
                          </a:solidFill>
                          <a:latin typeface="Segoe UI"/>
                          <a:cs typeface="Segoe UI"/>
                        </a:rPr>
                        <a:t>Tier 2 — routine</a:t>
                      </a:r>
                    </a:p>
                  </a:txBody>
                  <a:tcPr marL="127000" marR="127000" anchor="ctr"/>
                </a:tc>
                <a:tc>
                  <a:txBody>
                    <a:bodyPr/>
                    <a:lstStyle/>
                    <a:p>
                      <a:pPr algn="l"/>
                      <a:r>
                        <a:rPr lang="en-US" sz="1200" b="0">
                          <a:solidFill>
                            <a:srgbClr val="16262E"/>
                          </a:solidFill>
                          <a:latin typeface="Segoe UI"/>
                          <a:cs typeface="Segoe UI"/>
                        </a:rPr>
                        <a:t>PR, three quotes, abstract of canvass</a:t>
                      </a:r>
                    </a:p>
                  </a:txBody>
                  <a:tcPr marL="127000" marR="127000" anchor="ctr"/>
                </a:tc>
                <a:tc>
                  <a:txBody>
                    <a:bodyPr/>
                    <a:lstStyle/>
                    <a:p>
                      <a:pPr algn="l"/>
                      <a:r>
                        <a:rPr lang="en-US" sz="1200" b="0">
                          <a:solidFill>
                            <a:srgbClr val="16262E"/>
                          </a:solidFill>
                          <a:latin typeface="Segoe UI"/>
                          <a:cs typeface="Segoe UI"/>
                        </a:rPr>
                        <a:t>Procurement Head, then Finance Manager</a:t>
                      </a:r>
                    </a:p>
                  </a:txBody>
                  <a:tcPr marL="127000" marR="127000" anchor="ctr"/>
                </a:tc>
                <a:tc>
                  <a:txBody>
                    <a:bodyPr/>
                    <a:lstStyle/>
                    <a:p>
                      <a:pPr algn="l"/>
                      <a:r>
                        <a:rPr lang="en-US" sz="1200" b="0">
                          <a:solidFill>
                            <a:srgbClr val="16262E"/>
                          </a:solidFill>
                          <a:latin typeface="Segoe UI"/>
                          <a:cs typeface="Segoe UI"/>
                        </a:rPr>
                        <a:t>2 working days</a:t>
                      </a:r>
                    </a:p>
                  </a:txBody>
                  <a:tcPr marL="127000" marR="127000" anchor="ctr"/>
                </a:tc>
                <a:extLst>
                  <a:ext uri="{0D108BD9-81ED-4DB2-BD59-A6C34878D82A}">
                    <a16:rowId xmlns:a16="http://schemas.microsoft.com/office/drawing/2014/main" val="2980999432"/>
                  </a:ext>
                </a:extLst>
              </a:tr>
              <a:tr h="482600">
                <a:tc>
                  <a:txBody>
                    <a:bodyPr/>
                    <a:lstStyle/>
                    <a:p>
                      <a:pPr algn="l"/>
                      <a:r>
                        <a:rPr lang="en-US" sz="1200" b="1">
                          <a:solidFill>
                            <a:srgbClr val="12556B"/>
                          </a:solidFill>
                          <a:latin typeface="Segoe UI"/>
                          <a:cs typeface="Segoe UI"/>
                        </a:rPr>
                        <a:t>Tier 3 — major</a:t>
                      </a:r>
                    </a:p>
                  </a:txBody>
                  <a:tcPr marL="127000" marR="127000" anchor="ctr"/>
                </a:tc>
                <a:tc>
                  <a:txBody>
                    <a:bodyPr/>
                    <a:lstStyle/>
                    <a:p>
                      <a:pPr algn="l"/>
                      <a:r>
                        <a:rPr lang="en-US" sz="1200" b="0">
                          <a:solidFill>
                            <a:srgbClr val="16262E"/>
                          </a:solidFill>
                          <a:latin typeface="Segoe UI"/>
                          <a:cs typeface="Segoe UI"/>
                        </a:rPr>
                        <a:t>PR, three quotes, tabulation, spec sheet</a:t>
                      </a:r>
                    </a:p>
                  </a:txBody>
                  <a:tcPr marL="127000" marR="127000" anchor="ctr"/>
                </a:tc>
                <a:tc>
                  <a:txBody>
                    <a:bodyPr/>
                    <a:lstStyle/>
                    <a:p>
                      <a:pPr algn="l"/>
                      <a:r>
                        <a:rPr lang="en-US" sz="1200" b="0">
                          <a:solidFill>
                            <a:srgbClr val="16262E"/>
                          </a:solidFill>
                          <a:latin typeface="Segoe UI"/>
                          <a:cs typeface="Segoe UI"/>
                        </a:rPr>
                        <a:t>Finance Manager, then COO</a:t>
                      </a:r>
                    </a:p>
                  </a:txBody>
                  <a:tcPr marL="127000" marR="127000" anchor="ctr"/>
                </a:tc>
                <a:tc>
                  <a:txBody>
                    <a:bodyPr/>
                    <a:lstStyle/>
                    <a:p>
                      <a:pPr algn="l"/>
                      <a:r>
                        <a:rPr lang="en-US" sz="1200" b="0">
                          <a:solidFill>
                            <a:srgbClr val="16262E"/>
                          </a:solidFill>
                          <a:latin typeface="Segoe UI"/>
                          <a:cs typeface="Segoe UI"/>
                        </a:rPr>
                        <a:t>3 working days</a:t>
                      </a:r>
                    </a:p>
                  </a:txBody>
                  <a:tcPr marL="127000" marR="127000" anchor="ctr"/>
                </a:tc>
                <a:extLst>
                  <a:ext uri="{0D108BD9-81ED-4DB2-BD59-A6C34878D82A}">
                    <a16:rowId xmlns:a16="http://schemas.microsoft.com/office/drawing/2014/main" val="765041158"/>
                  </a:ext>
                </a:extLst>
              </a:tr>
              <a:tr h="482600">
                <a:tc>
                  <a:txBody>
                    <a:bodyPr/>
                    <a:lstStyle/>
                    <a:p>
                      <a:pPr algn="l"/>
                      <a:r>
                        <a:rPr lang="en-US" sz="1200" b="1">
                          <a:solidFill>
                            <a:srgbClr val="12556B"/>
                          </a:solidFill>
                          <a:latin typeface="Segoe UI"/>
                          <a:cs typeface="Segoe UI"/>
                        </a:rPr>
                        <a:t>Tier 4 — capital or subcontract</a:t>
                      </a:r>
                    </a:p>
                  </a:txBody>
                  <a:tcPr marL="127000" marR="127000" anchor="ctr"/>
                </a:tc>
                <a:tc>
                  <a:txBody>
                    <a:bodyPr/>
                    <a:lstStyle/>
                    <a:p>
                      <a:pPr algn="l"/>
                      <a:r>
                        <a:rPr lang="en-US" sz="1200" b="0">
                          <a:solidFill>
                            <a:srgbClr val="16262E"/>
                          </a:solidFill>
                          <a:latin typeface="Segoe UI"/>
                          <a:cs typeface="Segoe UI"/>
                        </a:rPr>
                        <a:t>Full bid package, contract and legal review</a:t>
                      </a:r>
                    </a:p>
                  </a:txBody>
                  <a:tcPr marL="127000" marR="127000" anchor="ctr"/>
                </a:tc>
                <a:tc>
                  <a:txBody>
                    <a:bodyPr/>
                    <a:lstStyle/>
                    <a:p>
                      <a:pPr algn="l"/>
                      <a:r>
                        <a:rPr lang="en-US" sz="1200" b="0">
                          <a:solidFill>
                            <a:srgbClr val="16262E"/>
                          </a:solidFill>
                          <a:latin typeface="Segoe UI"/>
                          <a:cs typeface="Segoe UI"/>
                        </a:rPr>
                        <a:t>President or Board</a:t>
                      </a:r>
                    </a:p>
                  </a:txBody>
                  <a:tcPr marL="127000" marR="127000" anchor="ctr"/>
                </a:tc>
                <a:tc>
                  <a:txBody>
                    <a:bodyPr/>
                    <a:lstStyle/>
                    <a:p>
                      <a:pPr algn="l"/>
                      <a:r>
                        <a:rPr lang="en-US" sz="1200" b="0">
                          <a:solidFill>
                            <a:srgbClr val="16262E"/>
                          </a:solidFill>
                          <a:latin typeface="Segoe UI"/>
                          <a:cs typeface="Segoe UI"/>
                        </a:rPr>
                        <a:t>5 working days</a:t>
                      </a:r>
                    </a:p>
                  </a:txBody>
                  <a:tcPr marL="127000" marR="127000" anchor="ctr"/>
                </a:tc>
                <a:extLst>
                  <a:ext uri="{0D108BD9-81ED-4DB2-BD59-A6C34878D82A}">
                    <a16:rowId xmlns:a16="http://schemas.microsoft.com/office/drawing/2014/main" val="1852172087"/>
                  </a:ext>
                </a:extLst>
              </a:tr>
            </a:tbl>
          </a:graphicData>
        </a:graphic>
      </p:graphicFrame>
      <p:sp>
        <p:nvSpPr>
          <p:cNvPr id="101" name="s101"/>
          <p:cNvSpPr/>
          <p:nvPr/>
        </p:nvSpPr>
        <p:spPr>
          <a:xfrm>
            <a:off x="508000" y="304800"/>
            <a:ext cx="7620000" cy="203200"/>
          </a:xfrm>
          <a:prstGeom prst="rect">
            <a:avLst/>
          </a:prstGeom>
          <a:noFill/>
          <a:ln>
            <a:noFill/>
          </a:ln>
        </p:spPr>
        <p:txBody>
          <a:bodyPr wrap="square" lIns="0" tIns="76200" rIns="0" bIns="76200" anchor="t">
            <a:noAutofit/>
          </a:bodyPr>
          <a:lstStyle/>
          <a:p>
            <a:pPr algn="l">
              <a:buNone/>
            </a:pPr>
            <a:r>
              <a:rPr lang="en-US" sz="1100" b="1" dirty="0">
                <a:solidFill>
                  <a:srgbClr val="C8621B"/>
                </a:solidFill>
              </a:rPr>
              <a:t>PHASE 2 · PRE-CONSTRUCTION CONTROLS</a:t>
            </a:r>
          </a:p>
        </p:txBody>
      </p:sp>
      <p:sp>
        <p:nvSpPr>
          <p:cNvPr id="102" name="s102"/>
          <p:cNvSpPr/>
          <p:nvPr/>
        </p:nvSpPr>
        <p:spPr>
          <a:xfrm>
            <a:off x="508000" y="1727200"/>
            <a:ext cx="11176000" cy="25400"/>
          </a:xfrm>
          <a:prstGeom prst="rect">
            <a:avLst/>
          </a:prstGeom>
          <a:solidFill>
            <a:srgbClr val="12556B"/>
          </a:solidFill>
          <a:ln>
            <a:noFill/>
          </a:ln>
        </p:spPr>
        <p:txBody>
          <a:bodyPr wrap="square" lIns="127000" tIns="76200" rIns="127000" bIns="76200" anchor="ctr">
            <a:noAutofit/>
          </a:bodyPr>
          <a:lstStyle/>
          <a:p>
            <a:pPr>
              <a:buNone/>
            </a:pPr>
            <a:endParaRPr lang="en-US"/>
          </a:p>
        </p:txBody>
      </p:sp>
      <p:sp>
        <p:nvSpPr>
          <p:cNvPr id="103" name="s103"/>
          <p:cNvSpPr/>
          <p:nvPr/>
        </p:nvSpPr>
        <p:spPr>
          <a:xfrm>
            <a:off x="508000" y="2209800"/>
            <a:ext cx="11176000" cy="12700"/>
          </a:xfrm>
          <a:prstGeom prst="rect">
            <a:avLst/>
          </a:prstGeom>
          <a:solidFill>
            <a:srgbClr val="DCE4E8"/>
          </a:solidFill>
          <a:ln>
            <a:noFill/>
          </a:ln>
        </p:spPr>
        <p:txBody>
          <a:bodyPr wrap="square" lIns="127000" tIns="76200" rIns="127000" bIns="76200" anchor="ctr">
            <a:noAutofit/>
          </a:bodyPr>
          <a:lstStyle/>
          <a:p>
            <a:pPr>
              <a:buNone/>
            </a:pPr>
            <a:endParaRPr lang="en-US"/>
          </a:p>
        </p:txBody>
      </p:sp>
      <p:sp>
        <p:nvSpPr>
          <p:cNvPr id="104" name="s104"/>
          <p:cNvSpPr/>
          <p:nvPr/>
        </p:nvSpPr>
        <p:spPr>
          <a:xfrm>
            <a:off x="508000" y="2692400"/>
            <a:ext cx="11176000" cy="12700"/>
          </a:xfrm>
          <a:prstGeom prst="rect">
            <a:avLst/>
          </a:prstGeom>
          <a:solidFill>
            <a:srgbClr val="DCE4E8"/>
          </a:solidFill>
          <a:ln>
            <a:noFill/>
          </a:ln>
        </p:spPr>
        <p:txBody>
          <a:bodyPr wrap="square" lIns="127000" tIns="76200" rIns="127000" bIns="76200" anchor="ctr">
            <a:noAutofit/>
          </a:bodyPr>
          <a:lstStyle/>
          <a:p>
            <a:pPr>
              <a:buNone/>
            </a:pPr>
            <a:endParaRPr lang="en-US"/>
          </a:p>
        </p:txBody>
      </p:sp>
      <p:sp>
        <p:nvSpPr>
          <p:cNvPr id="105" name="s105"/>
          <p:cNvSpPr/>
          <p:nvPr/>
        </p:nvSpPr>
        <p:spPr>
          <a:xfrm>
            <a:off x="508000" y="3175000"/>
            <a:ext cx="11176000" cy="12700"/>
          </a:xfrm>
          <a:prstGeom prst="rect">
            <a:avLst/>
          </a:prstGeom>
          <a:solidFill>
            <a:srgbClr val="DCE4E8"/>
          </a:solidFill>
          <a:ln>
            <a:noFill/>
          </a:ln>
        </p:spPr>
        <p:txBody>
          <a:bodyPr wrap="square" lIns="127000" tIns="76200" rIns="127000" bIns="76200" anchor="ctr">
            <a:noAutofit/>
          </a:bodyPr>
          <a:lstStyle/>
          <a:p>
            <a:pPr>
              <a:buNone/>
            </a:pPr>
            <a:endParaRPr lang="en-US"/>
          </a:p>
        </p:txBody>
      </p:sp>
      <p:sp>
        <p:nvSpPr>
          <p:cNvPr id="106" name="s106"/>
          <p:cNvSpPr/>
          <p:nvPr/>
        </p:nvSpPr>
        <p:spPr>
          <a:xfrm>
            <a:off x="508000" y="3657600"/>
            <a:ext cx="11176000" cy="12700"/>
          </a:xfrm>
          <a:prstGeom prst="rect">
            <a:avLst/>
          </a:prstGeom>
          <a:solidFill>
            <a:srgbClr val="DCE4E8"/>
          </a:solidFill>
          <a:ln>
            <a:noFill/>
          </a:ln>
        </p:spPr>
        <p:txBody>
          <a:bodyPr wrap="square" lIns="127000" tIns="76200" rIns="127000" bIns="76200" anchor="ctr">
            <a:noAutofit/>
          </a:bodyPr>
          <a:lstStyle/>
          <a:p>
            <a:pPr>
              <a:buNone/>
            </a:pPr>
            <a:endParaRPr lang="en-US"/>
          </a:p>
        </p:txBody>
      </p:sp>
      <p:sp>
        <p:nvSpPr>
          <p:cNvPr id="107" name="s107"/>
          <p:cNvSpPr/>
          <p:nvPr/>
        </p:nvSpPr>
        <p:spPr>
          <a:xfrm>
            <a:off x="508000" y="3911600"/>
            <a:ext cx="3556000" cy="20320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8" name="s108"/>
          <p:cNvSpPr/>
          <p:nvPr/>
        </p:nvSpPr>
        <p:spPr>
          <a:xfrm>
            <a:off x="508000" y="39116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ACCREDITATION FILE</a:t>
            </a:r>
          </a:p>
        </p:txBody>
      </p:sp>
      <p:sp>
        <p:nvSpPr>
          <p:cNvPr id="109" name="s109"/>
          <p:cNvSpPr/>
          <p:nvPr/>
        </p:nvSpPr>
        <p:spPr>
          <a:xfrm>
            <a:off x="508000" y="4292600"/>
            <a:ext cx="3556000" cy="1625600"/>
          </a:xfrm>
          <a:prstGeom prst="rect">
            <a:avLst/>
          </a:prstGeom>
          <a:noFill/>
          <a:ln>
            <a:noFill/>
          </a:ln>
        </p:spPr>
        <p:txBody>
          <a:bodyPr wrap="square" lIns="152400" tIns="101600" rIns="152400" bIns="101600" anchor="t">
            <a:noAutofit/>
          </a:bodyPr>
          <a:lstStyle/>
          <a:p>
            <a:pPr algn="l">
              <a:lnSpc>
                <a:spcPts val="1200"/>
              </a:lnSpc>
              <a:buNone/>
            </a:pPr>
            <a:r>
              <a:rPr lang="en-US" sz="1000" b="0" dirty="0">
                <a:solidFill>
                  <a:srgbClr val="16262E"/>
                </a:solidFill>
              </a:rPr>
              <a:t>›  Business registration and tax certificate</a:t>
            </a:r>
          </a:p>
          <a:p>
            <a:pPr algn="l">
              <a:lnSpc>
                <a:spcPts val="1200"/>
              </a:lnSpc>
              <a:spcBef>
                <a:spcPts val="80"/>
              </a:spcBef>
              <a:buNone/>
            </a:pPr>
            <a:r>
              <a:rPr lang="en-US" sz="1000" b="0" dirty="0">
                <a:solidFill>
                  <a:srgbClr val="16262E"/>
                </a:solidFill>
              </a:rPr>
              <a:t>›  Local permit and tax clearance</a:t>
            </a:r>
          </a:p>
          <a:p>
            <a:pPr algn="l">
              <a:lnSpc>
                <a:spcPts val="1200"/>
              </a:lnSpc>
              <a:spcBef>
                <a:spcPts val="80"/>
              </a:spcBef>
              <a:buNone/>
            </a:pPr>
            <a:r>
              <a:rPr lang="en-US" sz="1000" b="0" dirty="0">
                <a:solidFill>
                  <a:srgbClr val="16262E"/>
                </a:solidFill>
              </a:rPr>
              <a:t>›  Bank details and authorized signatory</a:t>
            </a:r>
          </a:p>
          <a:p>
            <a:pPr algn="l">
              <a:lnSpc>
                <a:spcPts val="1200"/>
              </a:lnSpc>
              <a:spcBef>
                <a:spcPts val="80"/>
              </a:spcBef>
              <a:buNone/>
            </a:pPr>
            <a:r>
              <a:rPr lang="en-US" sz="1000" b="0" dirty="0">
                <a:solidFill>
                  <a:srgbClr val="16262E"/>
                </a:solidFill>
              </a:rPr>
              <a:t>›  Shop or plant validation visit</a:t>
            </a:r>
          </a:p>
          <a:p>
            <a:pPr algn="l">
              <a:lnSpc>
                <a:spcPts val="1200"/>
              </a:lnSpc>
              <a:spcBef>
                <a:spcPts val="80"/>
              </a:spcBef>
              <a:buNone/>
            </a:pPr>
            <a:r>
              <a:rPr lang="en-US" sz="1000" b="0" dirty="0">
                <a:solidFill>
                  <a:srgbClr val="16262E"/>
                </a:solidFill>
              </a:rPr>
              <a:t>›  Insurance and surety bond for subcontractors</a:t>
            </a:r>
          </a:p>
          <a:p>
            <a:pPr algn="l">
              <a:lnSpc>
                <a:spcPts val="1200"/>
              </a:lnSpc>
              <a:spcBef>
                <a:spcPts val="80"/>
              </a:spcBef>
              <a:buNone/>
            </a:pPr>
            <a:r>
              <a:rPr lang="en-US" sz="1000" b="0" dirty="0">
                <a:solidFill>
                  <a:srgbClr val="16262E"/>
                </a:solidFill>
              </a:rPr>
              <a:t>›  Renewed every twelve months</a:t>
            </a:r>
          </a:p>
        </p:txBody>
      </p:sp>
      <p:sp>
        <p:nvSpPr>
          <p:cNvPr id="110" name="s110"/>
          <p:cNvSpPr/>
          <p:nvPr/>
        </p:nvSpPr>
        <p:spPr>
          <a:xfrm>
            <a:off x="4318000" y="3911600"/>
            <a:ext cx="3556000" cy="20320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1" name="s111"/>
          <p:cNvSpPr/>
          <p:nvPr/>
        </p:nvSpPr>
        <p:spPr>
          <a:xfrm>
            <a:off x="4318000" y="3911600"/>
            <a:ext cx="3556000" cy="355600"/>
          </a:xfrm>
          <a:prstGeom prst="rect">
            <a:avLst/>
          </a:prstGeom>
          <a:solidFill>
            <a:srgbClr val="0E8C9E"/>
          </a:solidFill>
          <a:ln>
            <a:noFill/>
          </a:ln>
        </p:spPr>
        <p:txBody>
          <a:bodyPr wrap="square" lIns="152400" tIns="76200" rIns="152400" bIns="76200" anchor="ctr">
            <a:noAutofit/>
          </a:bodyPr>
          <a:lstStyle/>
          <a:p>
            <a:pPr algn="l">
              <a:buNone/>
            </a:pPr>
            <a:r>
              <a:rPr lang="en-US" sz="1100" b="1" dirty="0">
                <a:solidFill>
                  <a:srgbClr val="FFFFFF"/>
                </a:solidFill>
              </a:rPr>
              <a:t>VENDOR SCORECARD</a:t>
            </a:r>
          </a:p>
        </p:txBody>
      </p:sp>
      <p:sp>
        <p:nvSpPr>
          <p:cNvPr id="112" name="s112"/>
          <p:cNvSpPr/>
          <p:nvPr/>
        </p:nvSpPr>
        <p:spPr>
          <a:xfrm>
            <a:off x="4318000" y="4292600"/>
            <a:ext cx="3556000" cy="1625600"/>
          </a:xfrm>
          <a:prstGeom prst="rect">
            <a:avLst/>
          </a:prstGeom>
          <a:noFill/>
          <a:ln>
            <a:noFill/>
          </a:ln>
        </p:spPr>
        <p:txBody>
          <a:bodyPr wrap="square" lIns="152400" tIns="101600" rIns="152400" bIns="101600" anchor="t">
            <a:noAutofit/>
          </a:bodyPr>
          <a:lstStyle/>
          <a:p>
            <a:pPr algn="l">
              <a:lnSpc>
                <a:spcPts val="1200"/>
              </a:lnSpc>
              <a:buNone/>
            </a:pPr>
            <a:r>
              <a:rPr lang="en-US" sz="1000" b="0" dirty="0">
                <a:solidFill>
                  <a:srgbClr val="16262E"/>
                </a:solidFill>
              </a:rPr>
              <a:t>›  On-time delivery rate</a:t>
            </a:r>
          </a:p>
          <a:p>
            <a:pPr algn="l">
              <a:lnSpc>
                <a:spcPts val="1200"/>
              </a:lnSpc>
              <a:spcBef>
                <a:spcPts val="80"/>
              </a:spcBef>
              <a:buNone/>
            </a:pPr>
            <a:r>
              <a:rPr lang="en-US" sz="1000" b="0" dirty="0">
                <a:solidFill>
                  <a:srgbClr val="16262E"/>
                </a:solidFill>
              </a:rPr>
              <a:t>›  Rejection rate at inspection</a:t>
            </a:r>
          </a:p>
          <a:p>
            <a:pPr algn="l">
              <a:lnSpc>
                <a:spcPts val="1200"/>
              </a:lnSpc>
              <a:spcBef>
                <a:spcPts val="80"/>
              </a:spcBef>
              <a:buNone/>
            </a:pPr>
            <a:r>
              <a:rPr lang="en-US" sz="1000" b="0" dirty="0">
                <a:solidFill>
                  <a:srgbClr val="16262E"/>
                </a:solidFill>
              </a:rPr>
              <a:t>›  Price against last canvass</a:t>
            </a:r>
          </a:p>
          <a:p>
            <a:pPr algn="l">
              <a:lnSpc>
                <a:spcPts val="1200"/>
              </a:lnSpc>
              <a:spcBef>
                <a:spcPts val="80"/>
              </a:spcBef>
              <a:buNone/>
            </a:pPr>
            <a:r>
              <a:rPr lang="en-US" sz="1000" b="0" dirty="0">
                <a:solidFill>
                  <a:srgbClr val="16262E"/>
                </a:solidFill>
              </a:rPr>
              <a:t>›  Completeness of documents</a:t>
            </a:r>
          </a:p>
          <a:p>
            <a:pPr algn="l">
              <a:lnSpc>
                <a:spcPts val="1200"/>
              </a:lnSpc>
              <a:spcBef>
                <a:spcPts val="80"/>
              </a:spcBef>
              <a:buNone/>
            </a:pPr>
            <a:r>
              <a:rPr lang="en-US" sz="1000" b="0" dirty="0">
                <a:solidFill>
                  <a:srgbClr val="16262E"/>
                </a:solidFill>
              </a:rPr>
              <a:t>›  Rated after every PO</a:t>
            </a:r>
          </a:p>
          <a:p>
            <a:pPr algn="l">
              <a:lnSpc>
                <a:spcPts val="1200"/>
              </a:lnSpc>
              <a:spcBef>
                <a:spcPts val="80"/>
              </a:spcBef>
              <a:buNone/>
            </a:pPr>
            <a:r>
              <a:rPr lang="en-US" sz="1000" b="0" dirty="0">
                <a:solidFill>
                  <a:srgbClr val="16262E"/>
                </a:solidFill>
              </a:rPr>
              <a:t>›  Reviewed quarterly by procurement</a:t>
            </a:r>
          </a:p>
        </p:txBody>
      </p:sp>
      <p:sp>
        <p:nvSpPr>
          <p:cNvPr id="113" name="s113"/>
          <p:cNvSpPr/>
          <p:nvPr/>
        </p:nvSpPr>
        <p:spPr>
          <a:xfrm>
            <a:off x="8128000" y="3911600"/>
            <a:ext cx="3556000" cy="20320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4" name="s114"/>
          <p:cNvSpPr/>
          <p:nvPr/>
        </p:nvSpPr>
        <p:spPr>
          <a:xfrm>
            <a:off x="8128000" y="3911600"/>
            <a:ext cx="3556000" cy="355600"/>
          </a:xfrm>
          <a:prstGeom prst="rect">
            <a:avLst/>
          </a:prstGeom>
          <a:solidFill>
            <a:srgbClr val="C8621B"/>
          </a:solidFill>
          <a:ln>
            <a:noFill/>
          </a:ln>
        </p:spPr>
        <p:txBody>
          <a:bodyPr wrap="square" lIns="152400" tIns="76200" rIns="152400" bIns="76200" anchor="ctr">
            <a:noAutofit/>
          </a:bodyPr>
          <a:lstStyle/>
          <a:p>
            <a:pPr algn="l">
              <a:buNone/>
            </a:pPr>
            <a:r>
              <a:rPr lang="en-US" sz="1100" b="1" dirty="0">
                <a:solidFill>
                  <a:srgbClr val="FFFFFF"/>
                </a:solidFill>
              </a:rPr>
              <a:t>REMOVAL TRIGGERS</a:t>
            </a:r>
          </a:p>
        </p:txBody>
      </p:sp>
      <p:sp>
        <p:nvSpPr>
          <p:cNvPr id="115" name="s115"/>
          <p:cNvSpPr/>
          <p:nvPr/>
        </p:nvSpPr>
        <p:spPr>
          <a:xfrm>
            <a:off x="8128000" y="4292600"/>
            <a:ext cx="3556000" cy="1625600"/>
          </a:xfrm>
          <a:prstGeom prst="rect">
            <a:avLst/>
          </a:prstGeom>
          <a:noFill/>
          <a:ln>
            <a:noFill/>
          </a:ln>
        </p:spPr>
        <p:txBody>
          <a:bodyPr wrap="square" lIns="152400" tIns="101600" rIns="152400" bIns="101600" anchor="t">
            <a:noAutofit/>
          </a:bodyPr>
          <a:lstStyle/>
          <a:p>
            <a:pPr algn="l">
              <a:lnSpc>
                <a:spcPts val="1200"/>
              </a:lnSpc>
              <a:buNone/>
            </a:pPr>
            <a:r>
              <a:rPr lang="en-US" sz="1000" b="0" dirty="0">
                <a:solidFill>
                  <a:srgbClr val="16262E"/>
                </a:solidFill>
              </a:rPr>
              <a:t>›  Two late deliveries in one quarter</a:t>
            </a:r>
          </a:p>
          <a:p>
            <a:pPr algn="l">
              <a:lnSpc>
                <a:spcPts val="1200"/>
              </a:lnSpc>
              <a:spcBef>
                <a:spcPts val="80"/>
              </a:spcBef>
              <a:buNone/>
            </a:pPr>
            <a:r>
              <a:rPr lang="en-US" sz="1000" b="0" dirty="0">
                <a:solidFill>
                  <a:srgbClr val="16262E"/>
                </a:solidFill>
              </a:rPr>
              <a:t>›  Rejected volume above five percent</a:t>
            </a:r>
          </a:p>
          <a:p>
            <a:pPr algn="l">
              <a:lnSpc>
                <a:spcPts val="1200"/>
              </a:lnSpc>
              <a:spcBef>
                <a:spcPts val="80"/>
              </a:spcBef>
              <a:buNone/>
            </a:pPr>
            <a:r>
              <a:rPr lang="en-US" sz="1000" b="0" dirty="0">
                <a:solidFill>
                  <a:srgbClr val="16262E"/>
                </a:solidFill>
              </a:rPr>
              <a:t>›  Falsified documents — immediate removal</a:t>
            </a:r>
          </a:p>
          <a:p>
            <a:pPr algn="l">
              <a:lnSpc>
                <a:spcPts val="1200"/>
              </a:lnSpc>
              <a:spcBef>
                <a:spcPts val="80"/>
              </a:spcBef>
              <a:buNone/>
            </a:pPr>
            <a:r>
              <a:rPr lang="en-US" sz="1000" b="0" dirty="0">
                <a:solidFill>
                  <a:srgbClr val="16262E"/>
                </a:solidFill>
              </a:rPr>
              <a:t>›  Unresolved warranty claim</a:t>
            </a:r>
          </a:p>
          <a:p>
            <a:pPr algn="l">
              <a:lnSpc>
                <a:spcPts val="1200"/>
              </a:lnSpc>
              <a:spcBef>
                <a:spcPts val="80"/>
              </a:spcBef>
              <a:buNone/>
            </a:pPr>
            <a:r>
              <a:rPr lang="en-US" sz="1000" b="0" dirty="0">
                <a:solidFill>
                  <a:srgbClr val="16262E"/>
                </a:solidFill>
              </a:rPr>
              <a:t>›  Suspended until cleared by management</a:t>
            </a:r>
          </a:p>
        </p:txBody>
      </p:sp>
      <p:sp>
        <p:nvSpPr>
          <p:cNvPr id="116" name="s116"/>
          <p:cNvSpPr/>
          <p:nvPr/>
        </p:nvSpPr>
        <p:spPr>
          <a:xfrm>
            <a:off x="508000" y="6121400"/>
            <a:ext cx="11176000" cy="508000"/>
          </a:xfrm>
          <a:prstGeom prst="rect">
            <a:avLst/>
          </a:prstGeom>
          <a:noFill/>
          <a:ln>
            <a:noFill/>
          </a:ln>
        </p:spPr>
        <p:txBody>
          <a:bodyPr wrap="square" lIns="0" tIns="76200" rIns="0" bIns="76200" anchor="t">
            <a:noAutofit/>
          </a:bodyPr>
          <a:lstStyle/>
          <a:p>
            <a:pPr algn="l">
              <a:lnSpc>
                <a:spcPts val="1350"/>
              </a:lnSpc>
              <a:buNone/>
            </a:pPr>
            <a:r>
              <a:rPr lang="en-US" sz="1050" b="0" dirty="0">
                <a:solidFill>
                  <a:srgbClr val="3D4A52"/>
                </a:solidFill>
              </a:rPr>
              <a:t>Tiers are shown as bands, not amounts — set the peso limits against your own approval matrix before this is issued. Sole-source purchases skip canvassing only with written justification approved one level above the normal approver.</a:t>
            </a:r>
          </a:p>
        </p:txBody>
      </p:sp>
    </p:spTree>
    <p:extLst>
      <p:ext uri="{BB962C8B-B14F-4D97-AF65-F5344CB8AC3E}">
        <p14:creationId xmlns:p14="http://schemas.microsoft.com/office/powerpoint/2010/main" val="44903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CD686-4679-7D7A-2DC0-F8C1D9BFC57B}"/>
              </a:ext>
            </a:extLst>
          </p:cNvPr>
          <p:cNvSpPr>
            <a:spLocks noGrp="1"/>
          </p:cNvSpPr>
          <p:nvPr>
            <p:ph type="title"/>
          </p:nvPr>
        </p:nvSpPr>
        <p:spPr>
          <a:xfrm>
            <a:off x="508000" y="508000"/>
            <a:ext cx="11176000" cy="508000"/>
          </a:xfrm>
        </p:spPr>
        <p:txBody>
          <a:bodyPr>
            <a:normAutofit fontScale="90000"/>
          </a:bodyPr>
          <a:lstStyle/>
          <a:p>
            <a:pPr algn="l">
              <a:buNone/>
            </a:pPr>
            <a:r>
              <a:rPr lang="en-US" sz="2200" b="1" dirty="0">
                <a:solidFill>
                  <a:srgbClr val="12556B"/>
                </a:solidFill>
              </a:rPr>
              <a:t>Billing runs from a 30% downpayment to 100%, then branches to invoice and receipt</a:t>
            </a:r>
          </a:p>
        </p:txBody>
      </p:sp>
      <p:sp>
        <p:nvSpPr>
          <p:cNvPr id="101" name="s101"/>
          <p:cNvSpPr/>
          <p:nvPr/>
        </p:nvSpPr>
        <p:spPr>
          <a:xfrm>
            <a:off x="508000" y="254000"/>
            <a:ext cx="7620000" cy="254000"/>
          </a:xfrm>
          <a:prstGeom prst="rect">
            <a:avLst/>
          </a:prstGeom>
          <a:noFill/>
          <a:ln>
            <a:noFill/>
          </a:ln>
        </p:spPr>
        <p:txBody>
          <a:bodyPr wrap="square" lIns="0" tIns="76200" rIns="0" bIns="76200" anchor="ctr">
            <a:noAutofit/>
          </a:bodyPr>
          <a:lstStyle/>
          <a:p>
            <a:pPr algn="l">
              <a:buNone/>
            </a:pPr>
            <a:r>
              <a:rPr lang="en-US" sz="1100" b="1" dirty="0">
                <a:solidFill>
                  <a:srgbClr val="C8621B"/>
                </a:solidFill>
              </a:rPr>
              <a:t>PHASE 3 · PROGRESS BILLING AND COLLECTION</a:t>
            </a:r>
          </a:p>
        </p:txBody>
      </p:sp>
      <p:sp>
        <p:nvSpPr>
          <p:cNvPr id="102" name="s102"/>
          <p:cNvSpPr/>
          <p:nvPr/>
        </p:nvSpPr>
        <p:spPr>
          <a:xfrm>
            <a:off x="508000" y="1168400"/>
            <a:ext cx="2133600" cy="17780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3" name="s103"/>
          <p:cNvSpPr/>
          <p:nvPr/>
        </p:nvSpPr>
        <p:spPr>
          <a:xfrm>
            <a:off x="508000" y="1168400"/>
            <a:ext cx="2133600" cy="533400"/>
          </a:xfrm>
          <a:prstGeom prst="rect">
            <a:avLst/>
          </a:prstGeom>
          <a:solidFill>
            <a:srgbClr val="6FC6D2"/>
          </a:solidFill>
          <a:ln>
            <a:noFill/>
          </a:ln>
        </p:spPr>
        <p:txBody>
          <a:bodyPr wrap="square" lIns="152400" tIns="76200" rIns="152400" bIns="76200" anchor="ctr">
            <a:noAutofit/>
          </a:bodyPr>
          <a:lstStyle/>
          <a:p>
            <a:pPr algn="l">
              <a:lnSpc>
                <a:spcPts val="1450"/>
              </a:lnSpc>
              <a:buNone/>
            </a:pPr>
            <a:r>
              <a:rPr lang="en-US" sz="1300" b="1" dirty="0">
                <a:solidFill>
                  <a:srgbClr val="0B3A4A"/>
                </a:solidFill>
              </a:rPr>
              <a:t>30%   DOWNPAYMENT</a:t>
            </a:r>
          </a:p>
        </p:txBody>
      </p:sp>
      <p:sp>
        <p:nvSpPr>
          <p:cNvPr id="104" name="s104"/>
          <p:cNvSpPr/>
          <p:nvPr/>
        </p:nvSpPr>
        <p:spPr>
          <a:xfrm>
            <a:off x="508000" y="1752600"/>
            <a:ext cx="2133600" cy="660400"/>
          </a:xfrm>
          <a:prstGeom prst="rect">
            <a:avLst/>
          </a:prstGeom>
          <a:noFill/>
          <a:ln>
            <a:noFill/>
          </a:ln>
        </p:spPr>
        <p:txBody>
          <a:bodyPr wrap="square" lIns="152400" tIns="50800" rIns="152400" bIns="50800" anchor="t">
            <a:noAutofit/>
          </a:bodyPr>
          <a:lstStyle/>
          <a:p>
            <a:pPr algn="l">
              <a:lnSpc>
                <a:spcPts val="1250"/>
              </a:lnSpc>
              <a:buNone/>
            </a:pPr>
            <a:r>
              <a:rPr lang="en-US" sz="1050" b="0" dirty="0">
                <a:solidFill>
                  <a:srgbClr val="16262E"/>
                </a:solidFill>
              </a:rPr>
              <a:t>Contract signed and notice to proceed issued</a:t>
            </a:r>
          </a:p>
        </p:txBody>
      </p:sp>
      <p:sp>
        <p:nvSpPr>
          <p:cNvPr id="105" name="s105"/>
          <p:cNvSpPr/>
          <p:nvPr/>
        </p:nvSpPr>
        <p:spPr>
          <a:xfrm>
            <a:off x="508000" y="2387600"/>
            <a:ext cx="2133600" cy="533400"/>
          </a:xfrm>
          <a:prstGeom prst="rect">
            <a:avLst/>
          </a:prstGeom>
          <a:noFill/>
          <a:ln>
            <a:noFill/>
          </a:ln>
        </p:spPr>
        <p:txBody>
          <a:bodyPr wrap="square" lIns="152400" tIns="50800" rIns="152400" bIns="50800" anchor="t">
            <a:noAutofit/>
          </a:bodyPr>
          <a:lstStyle/>
          <a:p>
            <a:pPr algn="l">
              <a:lnSpc>
                <a:spcPts val="1200"/>
              </a:lnSpc>
              <a:buNone/>
            </a:pPr>
            <a:r>
              <a:rPr lang="en-US" sz="1000" b="0" dirty="0">
                <a:solidFill>
                  <a:srgbClr val="B3560F"/>
                </a:solidFill>
              </a:rPr>
              <a:t>Billing form, signed contract, invoice request</a:t>
            </a:r>
          </a:p>
        </p:txBody>
      </p:sp>
      <p:sp>
        <p:nvSpPr>
          <p:cNvPr id="106" name="s106"/>
          <p:cNvSpPr/>
          <p:nvPr/>
        </p:nvSpPr>
        <p:spPr>
          <a:xfrm>
            <a:off x="2654300" y="1333500"/>
            <a:ext cx="1016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07" name="s107"/>
          <p:cNvSpPr/>
          <p:nvPr/>
        </p:nvSpPr>
        <p:spPr>
          <a:xfrm>
            <a:off x="2768600" y="1168400"/>
            <a:ext cx="2133600" cy="17780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8" name="s108"/>
          <p:cNvSpPr/>
          <p:nvPr/>
        </p:nvSpPr>
        <p:spPr>
          <a:xfrm>
            <a:off x="2768600" y="1168400"/>
            <a:ext cx="2133600" cy="533400"/>
          </a:xfrm>
          <a:prstGeom prst="rect">
            <a:avLst/>
          </a:prstGeom>
          <a:solidFill>
            <a:srgbClr val="3FB4C4"/>
          </a:solidFill>
          <a:ln>
            <a:noFill/>
          </a:ln>
        </p:spPr>
        <p:txBody>
          <a:bodyPr wrap="square" lIns="152400" tIns="76200" rIns="152400" bIns="76200" anchor="ctr">
            <a:noAutofit/>
          </a:bodyPr>
          <a:lstStyle/>
          <a:p>
            <a:pPr algn="l">
              <a:lnSpc>
                <a:spcPts val="1450"/>
              </a:lnSpc>
              <a:buNone/>
            </a:pPr>
            <a:r>
              <a:rPr lang="en-US" sz="1300" b="1" dirty="0">
                <a:solidFill>
                  <a:srgbClr val="0B3A4A"/>
                </a:solidFill>
              </a:rPr>
              <a:t>50%   PROGRESS</a:t>
            </a:r>
          </a:p>
        </p:txBody>
      </p:sp>
      <p:sp>
        <p:nvSpPr>
          <p:cNvPr id="109" name="s109"/>
          <p:cNvSpPr/>
          <p:nvPr/>
        </p:nvSpPr>
        <p:spPr>
          <a:xfrm>
            <a:off x="2768600" y="1752600"/>
            <a:ext cx="2133600" cy="660400"/>
          </a:xfrm>
          <a:prstGeom prst="rect">
            <a:avLst/>
          </a:prstGeom>
          <a:noFill/>
          <a:ln>
            <a:noFill/>
          </a:ln>
        </p:spPr>
        <p:txBody>
          <a:bodyPr wrap="square" lIns="152400" tIns="50800" rIns="152400" bIns="50800" anchor="t">
            <a:noAutofit/>
          </a:bodyPr>
          <a:lstStyle/>
          <a:p>
            <a:pPr algn="l">
              <a:lnSpc>
                <a:spcPts val="1250"/>
              </a:lnSpc>
              <a:buNone/>
            </a:pPr>
            <a:r>
              <a:rPr lang="en-US" sz="1050" b="0" dirty="0">
                <a:solidFill>
                  <a:srgbClr val="16262E"/>
                </a:solidFill>
              </a:rPr>
              <a:t>Verified accomplishment reaches 50%</a:t>
            </a:r>
          </a:p>
        </p:txBody>
      </p:sp>
      <p:sp>
        <p:nvSpPr>
          <p:cNvPr id="110" name="s110"/>
          <p:cNvSpPr/>
          <p:nvPr/>
        </p:nvSpPr>
        <p:spPr>
          <a:xfrm>
            <a:off x="2768600" y="2387600"/>
            <a:ext cx="2133600" cy="533400"/>
          </a:xfrm>
          <a:prstGeom prst="rect">
            <a:avLst/>
          </a:prstGeom>
          <a:noFill/>
          <a:ln>
            <a:noFill/>
          </a:ln>
        </p:spPr>
        <p:txBody>
          <a:bodyPr wrap="square" lIns="152400" tIns="50800" rIns="152400" bIns="50800" anchor="t">
            <a:noAutofit/>
          </a:bodyPr>
          <a:lstStyle/>
          <a:p>
            <a:pPr algn="l">
              <a:lnSpc>
                <a:spcPts val="1200"/>
              </a:lnSpc>
              <a:buNone/>
            </a:pPr>
            <a:r>
              <a:rPr lang="en-US" sz="1000" b="0" dirty="0">
                <a:solidFill>
                  <a:srgbClr val="B3560F"/>
                </a:solidFill>
              </a:rPr>
              <a:t>Accomplishment report, joint survey, photos</a:t>
            </a:r>
          </a:p>
        </p:txBody>
      </p:sp>
      <p:sp>
        <p:nvSpPr>
          <p:cNvPr id="111" name="s111"/>
          <p:cNvSpPr/>
          <p:nvPr/>
        </p:nvSpPr>
        <p:spPr>
          <a:xfrm>
            <a:off x="4914900" y="1333500"/>
            <a:ext cx="1016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12" name="s112"/>
          <p:cNvSpPr/>
          <p:nvPr/>
        </p:nvSpPr>
        <p:spPr>
          <a:xfrm>
            <a:off x="5029200" y="1168400"/>
            <a:ext cx="2133600" cy="17780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3" name="s113"/>
          <p:cNvSpPr/>
          <p:nvPr/>
        </p:nvSpPr>
        <p:spPr>
          <a:xfrm>
            <a:off x="5029200" y="1168400"/>
            <a:ext cx="2133600" cy="533400"/>
          </a:xfrm>
          <a:prstGeom prst="rect">
            <a:avLst/>
          </a:prstGeom>
          <a:solidFill>
            <a:srgbClr val="0E8C9E"/>
          </a:solidFill>
          <a:ln>
            <a:noFill/>
          </a:ln>
        </p:spPr>
        <p:txBody>
          <a:bodyPr wrap="square" lIns="152400" tIns="76200" rIns="152400" bIns="76200" anchor="ctr">
            <a:noAutofit/>
          </a:bodyPr>
          <a:lstStyle/>
          <a:p>
            <a:pPr algn="l">
              <a:lnSpc>
                <a:spcPts val="1450"/>
              </a:lnSpc>
              <a:buNone/>
            </a:pPr>
            <a:r>
              <a:rPr lang="en-US" sz="1300" b="1" dirty="0">
                <a:solidFill>
                  <a:srgbClr val="FFFFFF"/>
                </a:solidFill>
              </a:rPr>
              <a:t>75%   PROGRESS</a:t>
            </a:r>
          </a:p>
        </p:txBody>
      </p:sp>
      <p:sp>
        <p:nvSpPr>
          <p:cNvPr id="114" name="s114"/>
          <p:cNvSpPr/>
          <p:nvPr/>
        </p:nvSpPr>
        <p:spPr>
          <a:xfrm>
            <a:off x="5029200" y="1752600"/>
            <a:ext cx="2133600" cy="660400"/>
          </a:xfrm>
          <a:prstGeom prst="rect">
            <a:avLst/>
          </a:prstGeom>
          <a:noFill/>
          <a:ln>
            <a:noFill/>
          </a:ln>
        </p:spPr>
        <p:txBody>
          <a:bodyPr wrap="square" lIns="152400" tIns="50800" rIns="152400" bIns="50800" anchor="t">
            <a:noAutofit/>
          </a:bodyPr>
          <a:lstStyle/>
          <a:p>
            <a:pPr algn="l">
              <a:lnSpc>
                <a:spcPts val="1250"/>
              </a:lnSpc>
              <a:buNone/>
            </a:pPr>
            <a:r>
              <a:rPr lang="en-US" sz="1050" b="0" dirty="0">
                <a:solidFill>
                  <a:srgbClr val="16262E"/>
                </a:solidFill>
              </a:rPr>
              <a:t>Verified accomplishment reaches 75%</a:t>
            </a:r>
          </a:p>
        </p:txBody>
      </p:sp>
      <p:sp>
        <p:nvSpPr>
          <p:cNvPr id="115" name="s115"/>
          <p:cNvSpPr/>
          <p:nvPr/>
        </p:nvSpPr>
        <p:spPr>
          <a:xfrm>
            <a:off x="5029200" y="2387600"/>
            <a:ext cx="2133600" cy="533400"/>
          </a:xfrm>
          <a:prstGeom prst="rect">
            <a:avLst/>
          </a:prstGeom>
          <a:noFill/>
          <a:ln>
            <a:noFill/>
          </a:ln>
        </p:spPr>
        <p:txBody>
          <a:bodyPr wrap="square" lIns="152400" tIns="50800" rIns="152400" bIns="50800" anchor="t">
            <a:noAutofit/>
          </a:bodyPr>
          <a:lstStyle/>
          <a:p>
            <a:pPr algn="l">
              <a:lnSpc>
                <a:spcPts val="1200"/>
              </a:lnSpc>
              <a:buNone/>
            </a:pPr>
            <a:r>
              <a:rPr lang="en-US" sz="1000" b="0" dirty="0">
                <a:solidFill>
                  <a:srgbClr val="B3560F"/>
                </a:solidFill>
              </a:rPr>
              <a:t>Accomplishment report, updated S-curve</a:t>
            </a:r>
          </a:p>
        </p:txBody>
      </p:sp>
      <p:sp>
        <p:nvSpPr>
          <p:cNvPr id="116" name="s116"/>
          <p:cNvSpPr/>
          <p:nvPr/>
        </p:nvSpPr>
        <p:spPr>
          <a:xfrm>
            <a:off x="7175500" y="1333500"/>
            <a:ext cx="1016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17" name="s117"/>
          <p:cNvSpPr/>
          <p:nvPr/>
        </p:nvSpPr>
        <p:spPr>
          <a:xfrm>
            <a:off x="7289800" y="1168400"/>
            <a:ext cx="2133600" cy="17780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8" name="s118"/>
          <p:cNvSpPr/>
          <p:nvPr/>
        </p:nvSpPr>
        <p:spPr>
          <a:xfrm>
            <a:off x="7289800" y="1168400"/>
            <a:ext cx="2133600" cy="533400"/>
          </a:xfrm>
          <a:prstGeom prst="rect">
            <a:avLst/>
          </a:prstGeom>
          <a:solidFill>
            <a:srgbClr val="12556B"/>
          </a:solidFill>
          <a:ln>
            <a:noFill/>
          </a:ln>
        </p:spPr>
        <p:txBody>
          <a:bodyPr wrap="square" lIns="152400" tIns="76200" rIns="152400" bIns="76200" anchor="ctr">
            <a:noAutofit/>
          </a:bodyPr>
          <a:lstStyle/>
          <a:p>
            <a:pPr algn="l">
              <a:lnSpc>
                <a:spcPts val="1450"/>
              </a:lnSpc>
              <a:buNone/>
            </a:pPr>
            <a:r>
              <a:rPr lang="en-US" sz="1300" b="1" dirty="0">
                <a:solidFill>
                  <a:srgbClr val="FFFFFF"/>
                </a:solidFill>
              </a:rPr>
              <a:t>95%   PRE-FINAL</a:t>
            </a:r>
          </a:p>
        </p:txBody>
      </p:sp>
      <p:sp>
        <p:nvSpPr>
          <p:cNvPr id="119" name="s119"/>
          <p:cNvSpPr/>
          <p:nvPr/>
        </p:nvSpPr>
        <p:spPr>
          <a:xfrm>
            <a:off x="7289800" y="1752600"/>
            <a:ext cx="2133600" cy="660400"/>
          </a:xfrm>
          <a:prstGeom prst="rect">
            <a:avLst/>
          </a:prstGeom>
          <a:noFill/>
          <a:ln>
            <a:noFill/>
          </a:ln>
        </p:spPr>
        <p:txBody>
          <a:bodyPr wrap="square" lIns="152400" tIns="50800" rIns="152400" bIns="50800" anchor="t">
            <a:noAutofit/>
          </a:bodyPr>
          <a:lstStyle/>
          <a:p>
            <a:pPr algn="l">
              <a:lnSpc>
                <a:spcPts val="1250"/>
              </a:lnSpc>
              <a:buNone/>
            </a:pPr>
            <a:r>
              <a:rPr lang="en-US" sz="1050" b="0" dirty="0">
                <a:solidFill>
                  <a:srgbClr val="16262E"/>
                </a:solidFill>
              </a:rPr>
              <a:t>Substantial completion; punchlist issued</a:t>
            </a:r>
          </a:p>
        </p:txBody>
      </p:sp>
      <p:sp>
        <p:nvSpPr>
          <p:cNvPr id="120" name="s120"/>
          <p:cNvSpPr/>
          <p:nvPr/>
        </p:nvSpPr>
        <p:spPr>
          <a:xfrm>
            <a:off x="7289800" y="2387600"/>
            <a:ext cx="2133600" cy="533400"/>
          </a:xfrm>
          <a:prstGeom prst="rect">
            <a:avLst/>
          </a:prstGeom>
          <a:noFill/>
          <a:ln>
            <a:noFill/>
          </a:ln>
        </p:spPr>
        <p:txBody>
          <a:bodyPr wrap="square" lIns="152400" tIns="50800" rIns="152400" bIns="50800" anchor="t">
            <a:noAutofit/>
          </a:bodyPr>
          <a:lstStyle/>
          <a:p>
            <a:pPr algn="l">
              <a:lnSpc>
                <a:spcPts val="1200"/>
              </a:lnSpc>
              <a:buNone/>
            </a:pPr>
            <a:r>
              <a:rPr lang="en-US" sz="1000" b="0" dirty="0">
                <a:solidFill>
                  <a:srgbClr val="B3560F"/>
                </a:solidFill>
              </a:rPr>
              <a:t>Punchlist, draft as-built drawings</a:t>
            </a:r>
          </a:p>
        </p:txBody>
      </p:sp>
      <p:sp>
        <p:nvSpPr>
          <p:cNvPr id="121" name="s121"/>
          <p:cNvSpPr/>
          <p:nvPr/>
        </p:nvSpPr>
        <p:spPr>
          <a:xfrm>
            <a:off x="9436100" y="1333500"/>
            <a:ext cx="1016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22" name="s122"/>
          <p:cNvSpPr/>
          <p:nvPr/>
        </p:nvSpPr>
        <p:spPr>
          <a:xfrm>
            <a:off x="9550400" y="1168400"/>
            <a:ext cx="2133600" cy="17780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23" name="s123"/>
          <p:cNvSpPr/>
          <p:nvPr/>
        </p:nvSpPr>
        <p:spPr>
          <a:xfrm>
            <a:off x="9550400" y="1168400"/>
            <a:ext cx="2133600" cy="533400"/>
          </a:xfrm>
          <a:prstGeom prst="rect">
            <a:avLst/>
          </a:prstGeom>
          <a:solidFill>
            <a:srgbClr val="0B3A4A"/>
          </a:solidFill>
          <a:ln>
            <a:noFill/>
          </a:ln>
        </p:spPr>
        <p:txBody>
          <a:bodyPr wrap="square" lIns="152400" tIns="76200" rIns="152400" bIns="76200" anchor="ctr">
            <a:noAutofit/>
          </a:bodyPr>
          <a:lstStyle/>
          <a:p>
            <a:pPr algn="l">
              <a:lnSpc>
                <a:spcPts val="1450"/>
              </a:lnSpc>
              <a:buNone/>
            </a:pPr>
            <a:r>
              <a:rPr lang="en-US" sz="1300" b="1" dirty="0">
                <a:solidFill>
                  <a:srgbClr val="FFFFFF"/>
                </a:solidFill>
              </a:rPr>
              <a:t>100%   FINAL</a:t>
            </a:r>
          </a:p>
        </p:txBody>
      </p:sp>
      <p:sp>
        <p:nvSpPr>
          <p:cNvPr id="124" name="s124"/>
          <p:cNvSpPr/>
          <p:nvPr/>
        </p:nvSpPr>
        <p:spPr>
          <a:xfrm>
            <a:off x="9550400" y="1752600"/>
            <a:ext cx="2133600" cy="660400"/>
          </a:xfrm>
          <a:prstGeom prst="rect">
            <a:avLst/>
          </a:prstGeom>
          <a:noFill/>
          <a:ln>
            <a:noFill/>
          </a:ln>
        </p:spPr>
        <p:txBody>
          <a:bodyPr wrap="square" lIns="152400" tIns="50800" rIns="152400" bIns="50800" anchor="t">
            <a:noAutofit/>
          </a:bodyPr>
          <a:lstStyle/>
          <a:p>
            <a:pPr algn="l">
              <a:lnSpc>
                <a:spcPts val="1250"/>
              </a:lnSpc>
              <a:buNone/>
            </a:pPr>
            <a:r>
              <a:rPr lang="en-US" sz="1050" b="0" dirty="0">
                <a:solidFill>
                  <a:srgbClr val="16262E"/>
                </a:solidFill>
              </a:rPr>
              <a:t>Punchlist cleared and turnover accepted</a:t>
            </a:r>
          </a:p>
        </p:txBody>
      </p:sp>
      <p:sp>
        <p:nvSpPr>
          <p:cNvPr id="125" name="s125"/>
          <p:cNvSpPr/>
          <p:nvPr/>
        </p:nvSpPr>
        <p:spPr>
          <a:xfrm>
            <a:off x="9550400" y="2387600"/>
            <a:ext cx="2133600" cy="533400"/>
          </a:xfrm>
          <a:prstGeom prst="rect">
            <a:avLst/>
          </a:prstGeom>
          <a:noFill/>
          <a:ln>
            <a:noFill/>
          </a:ln>
        </p:spPr>
        <p:txBody>
          <a:bodyPr wrap="square" lIns="152400" tIns="50800" rIns="152400" bIns="50800" anchor="t">
            <a:noAutofit/>
          </a:bodyPr>
          <a:lstStyle/>
          <a:p>
            <a:pPr algn="l">
              <a:lnSpc>
                <a:spcPts val="1200"/>
              </a:lnSpc>
              <a:buNone/>
            </a:pPr>
            <a:r>
              <a:rPr lang="en-US" sz="1000" b="0" dirty="0">
                <a:solidFill>
                  <a:srgbClr val="B3560F"/>
                </a:solidFill>
              </a:rPr>
              <a:t>Certificate of completion, warranty, clearances</a:t>
            </a:r>
          </a:p>
        </p:txBody>
      </p:sp>
      <p:sp>
        <p:nvSpPr>
          <p:cNvPr id="126" name="s126"/>
          <p:cNvSpPr/>
          <p:nvPr/>
        </p:nvSpPr>
        <p:spPr>
          <a:xfrm>
            <a:off x="508000" y="3048000"/>
            <a:ext cx="11176000" cy="304800"/>
          </a:xfrm>
          <a:prstGeom prst="rect">
            <a:avLst/>
          </a:prstGeom>
          <a:noFill/>
          <a:ln>
            <a:noFill/>
          </a:ln>
        </p:spPr>
        <p:txBody>
          <a:bodyPr wrap="square" lIns="0" tIns="76200" rIns="0" bIns="76200" anchor="ctr">
            <a:noAutofit/>
          </a:bodyPr>
          <a:lstStyle/>
          <a:p>
            <a:pPr algn="l">
              <a:buNone/>
            </a:pPr>
            <a:r>
              <a:rPr lang="en-US" sz="1100" b="1" dirty="0">
                <a:solidFill>
                  <a:srgbClr val="12556B"/>
                </a:solidFill>
              </a:rPr>
              <a:t>Retention of 10% is withheld on every billing and released after the defects liability period.</a:t>
            </a:r>
          </a:p>
        </p:txBody>
      </p:sp>
      <p:sp>
        <p:nvSpPr>
          <p:cNvPr id="127" name="s127"/>
          <p:cNvSpPr/>
          <p:nvPr/>
        </p:nvSpPr>
        <p:spPr>
          <a:xfrm>
            <a:off x="508000" y="3759200"/>
            <a:ext cx="1905000" cy="762000"/>
          </a:xfrm>
          <a:prstGeom prst="rect">
            <a:avLst/>
          </a:prstGeom>
          <a:solidFill>
            <a:srgbClr val="F1F5F7"/>
          </a:solidFill>
          <a:ln w="12700">
            <a:solidFill>
              <a:srgbClr val="DCE4E8"/>
            </a:solidFill>
          </a:ln>
        </p:spPr>
        <p:txBody>
          <a:bodyPr wrap="square" lIns="127000" tIns="76200" rIns="127000" bIns="76200" anchor="ctr">
            <a:noAutofit/>
          </a:bodyPr>
          <a:lstStyle/>
          <a:p>
            <a:pPr algn="l">
              <a:lnSpc>
                <a:spcPts val="1250"/>
              </a:lnSpc>
              <a:buNone/>
            </a:pPr>
            <a:r>
              <a:rPr lang="en-US" sz="1050" b="1" dirty="0">
                <a:solidFill>
                  <a:srgbClr val="16262E"/>
                </a:solidFill>
              </a:rPr>
              <a:t>Billing submitted to client</a:t>
            </a:r>
          </a:p>
        </p:txBody>
      </p:sp>
      <p:sp>
        <p:nvSpPr>
          <p:cNvPr id="128" name="s128"/>
          <p:cNvSpPr/>
          <p:nvPr/>
        </p:nvSpPr>
        <p:spPr>
          <a:xfrm>
            <a:off x="2438400" y="40386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29" name="s129"/>
          <p:cNvSpPr/>
          <p:nvPr/>
        </p:nvSpPr>
        <p:spPr>
          <a:xfrm>
            <a:off x="2692400" y="3708400"/>
            <a:ext cx="1498600" cy="863600"/>
          </a:xfrm>
          <a:prstGeom prst="diamond">
            <a:avLst/>
          </a:prstGeom>
          <a:solidFill>
            <a:srgbClr val="FFFFFF"/>
          </a:solidFill>
          <a:ln w="19050">
            <a:solidFill>
              <a:srgbClr val="12556B"/>
            </a:solidFill>
          </a:ln>
        </p:spPr>
        <p:txBody>
          <a:bodyPr wrap="square" lIns="101600" tIns="76200" rIns="101600" bIns="76200" anchor="ctr">
            <a:noAutofit/>
          </a:bodyPr>
          <a:lstStyle/>
          <a:p>
            <a:pPr algn="ctr">
              <a:lnSpc>
                <a:spcPts val="1150"/>
              </a:lnSpc>
              <a:buNone/>
            </a:pPr>
            <a:r>
              <a:rPr lang="en-US" sz="1000" b="1" dirty="0">
                <a:solidFill>
                  <a:srgbClr val="12556B"/>
                </a:solidFill>
              </a:rPr>
              <a:t>Client evaluation</a:t>
            </a:r>
          </a:p>
        </p:txBody>
      </p:sp>
      <p:sp>
        <p:nvSpPr>
          <p:cNvPr id="130" name="s130"/>
          <p:cNvSpPr/>
          <p:nvPr/>
        </p:nvSpPr>
        <p:spPr>
          <a:xfrm>
            <a:off x="4241800" y="4038600"/>
            <a:ext cx="2032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31" name="s131"/>
          <p:cNvSpPr/>
          <p:nvPr/>
        </p:nvSpPr>
        <p:spPr>
          <a:xfrm>
            <a:off x="4191000" y="3733800"/>
            <a:ext cx="1397000" cy="254000"/>
          </a:xfrm>
          <a:prstGeom prst="rect">
            <a:avLst/>
          </a:prstGeom>
          <a:noFill/>
          <a:ln>
            <a:noFill/>
          </a:ln>
        </p:spPr>
        <p:txBody>
          <a:bodyPr wrap="square" lIns="0" tIns="76200" rIns="0" bIns="76200" anchor="ctr">
            <a:noAutofit/>
          </a:bodyPr>
          <a:lstStyle/>
          <a:p>
            <a:pPr algn="l">
              <a:buNone/>
            </a:pPr>
            <a:r>
              <a:rPr lang="en-US" sz="1000" b="1" dirty="0">
                <a:solidFill>
                  <a:srgbClr val="0E8C9E"/>
                </a:solidFill>
              </a:rPr>
              <a:t>approved</a:t>
            </a:r>
          </a:p>
        </p:txBody>
      </p:sp>
      <p:sp>
        <p:nvSpPr>
          <p:cNvPr id="132" name="s132"/>
          <p:cNvSpPr/>
          <p:nvPr/>
        </p:nvSpPr>
        <p:spPr>
          <a:xfrm>
            <a:off x="3429000" y="4572000"/>
            <a:ext cx="25400" cy="711200"/>
          </a:xfrm>
          <a:prstGeom prst="rect">
            <a:avLst/>
          </a:prstGeom>
          <a:solidFill>
            <a:srgbClr val="C8621B"/>
          </a:solidFill>
          <a:ln>
            <a:noFill/>
          </a:ln>
        </p:spPr>
        <p:txBody>
          <a:bodyPr wrap="square" lIns="127000" tIns="76200" rIns="127000" bIns="76200" anchor="ctr">
            <a:noAutofit/>
          </a:bodyPr>
          <a:lstStyle/>
          <a:p>
            <a:pPr>
              <a:buNone/>
            </a:pPr>
            <a:endParaRPr lang="en-US"/>
          </a:p>
        </p:txBody>
      </p:sp>
      <p:sp>
        <p:nvSpPr>
          <p:cNvPr id="133" name="s133"/>
          <p:cNvSpPr/>
          <p:nvPr/>
        </p:nvSpPr>
        <p:spPr>
          <a:xfrm>
            <a:off x="1447800" y="5257800"/>
            <a:ext cx="2006600" cy="25400"/>
          </a:xfrm>
          <a:prstGeom prst="rect">
            <a:avLst/>
          </a:prstGeom>
          <a:solidFill>
            <a:srgbClr val="C8621B"/>
          </a:solidFill>
          <a:ln>
            <a:noFill/>
          </a:ln>
        </p:spPr>
        <p:txBody>
          <a:bodyPr wrap="square" lIns="127000" tIns="76200" rIns="127000" bIns="76200" anchor="ctr">
            <a:noAutofit/>
          </a:bodyPr>
          <a:lstStyle/>
          <a:p>
            <a:pPr>
              <a:buNone/>
            </a:pPr>
            <a:endParaRPr lang="en-US"/>
          </a:p>
        </p:txBody>
      </p:sp>
      <p:sp>
        <p:nvSpPr>
          <p:cNvPr id="134" name="s134"/>
          <p:cNvSpPr/>
          <p:nvPr/>
        </p:nvSpPr>
        <p:spPr>
          <a:xfrm>
            <a:off x="1358900" y="4521200"/>
            <a:ext cx="203200" cy="254000"/>
          </a:xfrm>
          <a:prstGeom prst="upArrow">
            <a:avLst/>
          </a:prstGeom>
          <a:solidFill>
            <a:srgbClr val="C8621B"/>
          </a:solidFill>
          <a:ln>
            <a:noFill/>
          </a:ln>
        </p:spPr>
        <p:txBody>
          <a:bodyPr wrap="square" lIns="127000" tIns="76200" rIns="127000" bIns="76200" anchor="ctr">
            <a:noAutofit/>
          </a:bodyPr>
          <a:lstStyle/>
          <a:p>
            <a:pPr>
              <a:buNone/>
            </a:pPr>
            <a:endParaRPr lang="en-US"/>
          </a:p>
        </p:txBody>
      </p:sp>
      <p:sp>
        <p:nvSpPr>
          <p:cNvPr id="135" name="s135"/>
          <p:cNvSpPr/>
          <p:nvPr/>
        </p:nvSpPr>
        <p:spPr>
          <a:xfrm>
            <a:off x="1447800" y="4749800"/>
            <a:ext cx="25400" cy="533400"/>
          </a:xfrm>
          <a:prstGeom prst="rect">
            <a:avLst/>
          </a:prstGeom>
          <a:solidFill>
            <a:srgbClr val="C8621B"/>
          </a:solidFill>
          <a:ln>
            <a:noFill/>
          </a:ln>
        </p:spPr>
        <p:txBody>
          <a:bodyPr wrap="square" lIns="127000" tIns="76200" rIns="127000" bIns="76200" anchor="ctr">
            <a:noAutofit/>
          </a:bodyPr>
          <a:lstStyle/>
          <a:p>
            <a:pPr>
              <a:buNone/>
            </a:pPr>
            <a:endParaRPr lang="en-US"/>
          </a:p>
        </p:txBody>
      </p:sp>
      <p:sp>
        <p:nvSpPr>
          <p:cNvPr id="136" name="s136"/>
          <p:cNvSpPr/>
          <p:nvPr/>
        </p:nvSpPr>
        <p:spPr>
          <a:xfrm>
            <a:off x="1905000" y="4927600"/>
            <a:ext cx="1397000" cy="254000"/>
          </a:xfrm>
          <a:prstGeom prst="rect">
            <a:avLst/>
          </a:prstGeom>
          <a:noFill/>
          <a:ln>
            <a:noFill/>
          </a:ln>
        </p:spPr>
        <p:txBody>
          <a:bodyPr wrap="square" lIns="0" tIns="76200" rIns="0" bIns="76200" anchor="ctr">
            <a:noAutofit/>
          </a:bodyPr>
          <a:lstStyle/>
          <a:p>
            <a:pPr algn="l">
              <a:buNone/>
            </a:pPr>
            <a:r>
              <a:rPr lang="en-US" sz="1000" b="1" dirty="0">
                <a:solidFill>
                  <a:srgbClr val="C8621B"/>
                </a:solidFill>
              </a:rPr>
              <a:t>returned</a:t>
            </a:r>
          </a:p>
        </p:txBody>
      </p:sp>
      <p:sp>
        <p:nvSpPr>
          <p:cNvPr id="137" name="s137"/>
          <p:cNvSpPr/>
          <p:nvPr/>
        </p:nvSpPr>
        <p:spPr>
          <a:xfrm>
            <a:off x="4521200" y="3708400"/>
            <a:ext cx="2286000" cy="13208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38" name="s138"/>
          <p:cNvSpPr/>
          <p:nvPr/>
        </p:nvSpPr>
        <p:spPr>
          <a:xfrm>
            <a:off x="4521200" y="3708400"/>
            <a:ext cx="2286000" cy="355600"/>
          </a:xfrm>
          <a:prstGeom prst="rect">
            <a:avLst/>
          </a:prstGeom>
          <a:solidFill>
            <a:srgbClr val="0E8C9E"/>
          </a:solidFill>
          <a:ln>
            <a:noFill/>
          </a:ln>
        </p:spPr>
        <p:txBody>
          <a:bodyPr wrap="square" lIns="127000" tIns="76200" rIns="127000" bIns="76200" anchor="ctr">
            <a:noAutofit/>
          </a:bodyPr>
          <a:lstStyle/>
          <a:p>
            <a:pPr algn="l">
              <a:buNone/>
            </a:pPr>
            <a:r>
              <a:rPr lang="en-US" sz="1000" b="1" dirty="0">
                <a:solidFill>
                  <a:srgbClr val="FFFFFF"/>
                </a:solidFill>
              </a:rPr>
              <a:t>SALES INVOICE ISSUED</a:t>
            </a:r>
          </a:p>
        </p:txBody>
      </p:sp>
      <p:sp>
        <p:nvSpPr>
          <p:cNvPr id="139" name="s139"/>
          <p:cNvSpPr/>
          <p:nvPr/>
        </p:nvSpPr>
        <p:spPr>
          <a:xfrm>
            <a:off x="4521200" y="4089400"/>
            <a:ext cx="2286000" cy="914400"/>
          </a:xfrm>
          <a:prstGeom prst="rect">
            <a:avLst/>
          </a:prstGeom>
          <a:noFill/>
          <a:ln>
            <a:noFill/>
          </a:ln>
        </p:spPr>
        <p:txBody>
          <a:bodyPr wrap="square" lIns="127000" tIns="76200" rIns="127000" bIns="76200" anchor="t">
            <a:noAutofit/>
          </a:bodyPr>
          <a:lstStyle/>
          <a:p>
            <a:pPr algn="l">
              <a:lnSpc>
                <a:spcPts val="1250"/>
              </a:lnSpc>
              <a:buNone/>
            </a:pPr>
            <a:r>
              <a:rPr lang="en-US" sz="1000" b="0" dirty="0">
                <a:solidFill>
                  <a:srgbClr val="16262E"/>
                </a:solidFill>
              </a:rPr>
              <a:t>Invoice raised against the approved billing; tax documents attached and logged in the AR ledger</a:t>
            </a:r>
          </a:p>
        </p:txBody>
      </p:sp>
      <p:sp>
        <p:nvSpPr>
          <p:cNvPr id="140" name="s140"/>
          <p:cNvSpPr/>
          <p:nvPr/>
        </p:nvSpPr>
        <p:spPr>
          <a:xfrm>
            <a:off x="6832600" y="4267200"/>
            <a:ext cx="1524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41" name="s141"/>
          <p:cNvSpPr/>
          <p:nvPr/>
        </p:nvSpPr>
        <p:spPr>
          <a:xfrm>
            <a:off x="6959600" y="3708400"/>
            <a:ext cx="2286000" cy="13208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42" name="s142"/>
          <p:cNvSpPr/>
          <p:nvPr/>
        </p:nvSpPr>
        <p:spPr>
          <a:xfrm>
            <a:off x="6959600" y="3708400"/>
            <a:ext cx="2286000" cy="355600"/>
          </a:xfrm>
          <a:prstGeom prst="rect">
            <a:avLst/>
          </a:prstGeom>
          <a:solidFill>
            <a:srgbClr val="0E8C9E"/>
          </a:solidFill>
          <a:ln>
            <a:noFill/>
          </a:ln>
        </p:spPr>
        <p:txBody>
          <a:bodyPr wrap="square" lIns="127000" tIns="76200" rIns="127000" bIns="76200" anchor="ctr">
            <a:noAutofit/>
          </a:bodyPr>
          <a:lstStyle/>
          <a:p>
            <a:pPr algn="l">
              <a:buNone/>
            </a:pPr>
            <a:r>
              <a:rPr lang="en-US" sz="1000" b="1" dirty="0">
                <a:solidFill>
                  <a:srgbClr val="FFFFFF"/>
                </a:solidFill>
              </a:rPr>
              <a:t>COLLECTION FOLLOW-UP</a:t>
            </a:r>
          </a:p>
        </p:txBody>
      </p:sp>
      <p:sp>
        <p:nvSpPr>
          <p:cNvPr id="143" name="s143"/>
          <p:cNvSpPr/>
          <p:nvPr/>
        </p:nvSpPr>
        <p:spPr>
          <a:xfrm>
            <a:off x="6959600" y="4089400"/>
            <a:ext cx="2286000" cy="914400"/>
          </a:xfrm>
          <a:prstGeom prst="rect">
            <a:avLst/>
          </a:prstGeom>
          <a:noFill/>
          <a:ln>
            <a:noFill/>
          </a:ln>
        </p:spPr>
        <p:txBody>
          <a:bodyPr wrap="square" lIns="127000" tIns="76200" rIns="127000" bIns="76200" anchor="t">
            <a:noAutofit/>
          </a:bodyPr>
          <a:lstStyle/>
          <a:p>
            <a:pPr algn="l">
              <a:lnSpc>
                <a:spcPts val="1250"/>
              </a:lnSpc>
              <a:buNone/>
            </a:pPr>
            <a:r>
              <a:rPr lang="en-US" sz="1000" b="0" dirty="0">
                <a:solidFill>
                  <a:srgbClr val="16262E"/>
                </a:solidFill>
              </a:rPr>
              <a:t>AR aging reviewed weekly; unpaid billings escalated to the project manager at 30 days</a:t>
            </a:r>
          </a:p>
        </p:txBody>
      </p:sp>
      <p:sp>
        <p:nvSpPr>
          <p:cNvPr id="144" name="s144"/>
          <p:cNvSpPr/>
          <p:nvPr/>
        </p:nvSpPr>
        <p:spPr>
          <a:xfrm>
            <a:off x="9271000" y="4267200"/>
            <a:ext cx="152400" cy="2032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45" name="s145"/>
          <p:cNvSpPr/>
          <p:nvPr/>
        </p:nvSpPr>
        <p:spPr>
          <a:xfrm>
            <a:off x="9398000" y="3708400"/>
            <a:ext cx="2286000" cy="13208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46" name="s146"/>
          <p:cNvSpPr/>
          <p:nvPr/>
        </p:nvSpPr>
        <p:spPr>
          <a:xfrm>
            <a:off x="9398000" y="3708400"/>
            <a:ext cx="2286000" cy="355600"/>
          </a:xfrm>
          <a:prstGeom prst="rect">
            <a:avLst/>
          </a:prstGeom>
          <a:solidFill>
            <a:srgbClr val="0E8C9E"/>
          </a:solidFill>
          <a:ln>
            <a:noFill/>
          </a:ln>
        </p:spPr>
        <p:txBody>
          <a:bodyPr wrap="square" lIns="127000" tIns="76200" rIns="127000" bIns="76200" anchor="ctr">
            <a:noAutofit/>
          </a:bodyPr>
          <a:lstStyle/>
          <a:p>
            <a:pPr algn="l">
              <a:buNone/>
            </a:pPr>
            <a:r>
              <a:rPr lang="en-US" sz="1000" b="1" dirty="0">
                <a:solidFill>
                  <a:srgbClr val="FFFFFF"/>
                </a:solidFill>
              </a:rPr>
              <a:t>OFFICIAL RECEIPT ISSUED</a:t>
            </a:r>
          </a:p>
        </p:txBody>
      </p:sp>
      <p:sp>
        <p:nvSpPr>
          <p:cNvPr id="147" name="s147"/>
          <p:cNvSpPr/>
          <p:nvPr/>
        </p:nvSpPr>
        <p:spPr>
          <a:xfrm>
            <a:off x="9398000" y="4089400"/>
            <a:ext cx="2286000" cy="914400"/>
          </a:xfrm>
          <a:prstGeom prst="rect">
            <a:avLst/>
          </a:prstGeom>
          <a:noFill/>
          <a:ln>
            <a:noFill/>
          </a:ln>
        </p:spPr>
        <p:txBody>
          <a:bodyPr wrap="square" lIns="127000" tIns="76200" rIns="127000" bIns="76200" anchor="t">
            <a:noAutofit/>
          </a:bodyPr>
          <a:lstStyle/>
          <a:p>
            <a:pPr algn="l">
              <a:lnSpc>
                <a:spcPts val="1250"/>
              </a:lnSpc>
              <a:buNone/>
            </a:pPr>
            <a:r>
              <a:rPr lang="en-US" sz="1000" b="0" dirty="0">
                <a:solidFill>
                  <a:srgbClr val="16262E"/>
                </a:solidFill>
              </a:rPr>
              <a:t>OR issued on payment; retention and deductions reconciled; billing closed in the AR ledger</a:t>
            </a:r>
          </a:p>
        </p:txBody>
      </p:sp>
      <p:sp>
        <p:nvSpPr>
          <p:cNvPr id="148" name="s148"/>
          <p:cNvSpPr/>
          <p:nvPr/>
        </p:nvSpPr>
        <p:spPr>
          <a:xfrm>
            <a:off x="4521200" y="5207000"/>
            <a:ext cx="7162800" cy="660400"/>
          </a:xfrm>
          <a:prstGeom prst="rect">
            <a:avLst/>
          </a:prstGeom>
          <a:solidFill>
            <a:srgbClr val="FDF3EC"/>
          </a:solidFill>
          <a:ln>
            <a:noFill/>
          </a:ln>
        </p:spPr>
        <p:txBody>
          <a:bodyPr wrap="square" lIns="152400" tIns="76200" rIns="152400" bIns="76200" anchor="ctr">
            <a:noAutofit/>
          </a:bodyPr>
          <a:lstStyle/>
          <a:p>
            <a:pPr algn="l">
              <a:lnSpc>
                <a:spcPts val="1300"/>
              </a:lnSpc>
              <a:buNone/>
            </a:pPr>
            <a:r>
              <a:rPr lang="en-US" sz="1050" b="0" dirty="0">
                <a:solidFill>
                  <a:srgbClr val="B3560F"/>
                </a:solidFill>
              </a:rPr>
              <a:t>Returned billings go back to the QS for re-measurement and are resubmitted in the next cutoff. The deduction and its reason are logged so the same item is not billed twice.</a:t>
            </a:r>
          </a:p>
        </p:txBody>
      </p:sp>
      <p:sp>
        <p:nvSpPr>
          <p:cNvPr id="149" name="s149"/>
          <p:cNvSpPr/>
          <p:nvPr/>
        </p:nvSpPr>
        <p:spPr>
          <a:xfrm>
            <a:off x="508000" y="6248400"/>
            <a:ext cx="11176000" cy="304800"/>
          </a:xfrm>
          <a:prstGeom prst="rect">
            <a:avLst/>
          </a:prstGeom>
          <a:noFill/>
          <a:ln>
            <a:noFill/>
          </a:ln>
        </p:spPr>
        <p:txBody>
          <a:bodyPr wrap="square" lIns="0" tIns="76200" rIns="0" bIns="76200" anchor="ctr">
            <a:noAutofit/>
          </a:bodyPr>
          <a:lstStyle/>
          <a:p>
            <a:pPr algn="l">
              <a:buNone/>
            </a:pPr>
            <a:r>
              <a:rPr lang="en-US" sz="1050" b="0" dirty="0">
                <a:solidFill>
                  <a:srgbClr val="3D4A52"/>
                </a:solidFill>
              </a:rPr>
              <a:t>Billing cutoff is monthly; every submission needs a joint accomplishment survey signed by the client representative before an invoice can be raised.</a:t>
            </a:r>
          </a:p>
        </p:txBody>
      </p:sp>
    </p:spTree>
    <p:extLst>
      <p:ext uri="{BB962C8B-B14F-4D97-AF65-F5344CB8AC3E}">
        <p14:creationId xmlns:p14="http://schemas.microsoft.com/office/powerpoint/2010/main" val="1732248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E4C9C-204F-BDCA-A01E-FFF444D5799C}"/>
              </a:ext>
            </a:extLst>
          </p:cNvPr>
          <p:cNvSpPr>
            <a:spLocks noGrp="1"/>
          </p:cNvSpPr>
          <p:nvPr>
            <p:ph type="title"/>
          </p:nvPr>
        </p:nvSpPr>
        <p:spPr>
          <a:xfrm>
            <a:off x="508000" y="508000"/>
            <a:ext cx="11176000" cy="508000"/>
          </a:xfrm>
        </p:spPr>
        <p:txBody>
          <a:bodyPr/>
          <a:lstStyle/>
          <a:p>
            <a:pPr algn="l">
              <a:buNone/>
            </a:pPr>
            <a:r>
              <a:rPr lang="en-US" sz="2200" b="1" dirty="0">
                <a:solidFill>
                  <a:srgbClr val="12556B"/>
                </a:solidFill>
              </a:rPr>
              <a:t>HRIS turns daily timelogs into payroll and posted labor cost in nine steps</a:t>
            </a:r>
          </a:p>
        </p:txBody>
      </p:sp>
      <p:sp>
        <p:nvSpPr>
          <p:cNvPr id="101" name="s101"/>
          <p:cNvSpPr/>
          <p:nvPr/>
        </p:nvSpPr>
        <p:spPr>
          <a:xfrm>
            <a:off x="508000" y="254000"/>
            <a:ext cx="7620000" cy="254000"/>
          </a:xfrm>
          <a:prstGeom prst="rect">
            <a:avLst/>
          </a:prstGeom>
          <a:noFill/>
          <a:ln>
            <a:noFill/>
          </a:ln>
        </p:spPr>
        <p:txBody>
          <a:bodyPr wrap="square" lIns="0" tIns="76200" rIns="0" bIns="76200" anchor="ctr">
            <a:noAutofit/>
          </a:bodyPr>
          <a:lstStyle/>
          <a:p>
            <a:pPr algn="l">
              <a:buNone/>
            </a:pPr>
            <a:r>
              <a:rPr lang="en-US" sz="1100" b="1" dirty="0">
                <a:solidFill>
                  <a:srgbClr val="C8621B"/>
                </a:solidFill>
              </a:rPr>
              <a:t>PHASES 2–3 · HRIS, PAYROLL AND TIMELOGS</a:t>
            </a:r>
          </a:p>
        </p:txBody>
      </p:sp>
      <p:sp>
        <p:nvSpPr>
          <p:cNvPr id="102" name="s102"/>
          <p:cNvSpPr/>
          <p:nvPr/>
        </p:nvSpPr>
        <p:spPr>
          <a:xfrm>
            <a:off x="508000" y="12192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3" name="s103"/>
          <p:cNvSpPr/>
          <p:nvPr/>
        </p:nvSpPr>
        <p:spPr>
          <a:xfrm>
            <a:off x="508000" y="1219200"/>
            <a:ext cx="35560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1   MANPOWER REQUEST</a:t>
            </a:r>
          </a:p>
        </p:txBody>
      </p:sp>
      <p:sp>
        <p:nvSpPr>
          <p:cNvPr id="104" name="s104"/>
          <p:cNvSpPr/>
          <p:nvPr/>
        </p:nvSpPr>
        <p:spPr>
          <a:xfrm>
            <a:off x="508000" y="1600200"/>
            <a:ext cx="3556000" cy="7366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Site requests headcount against the approved manpower plan</a:t>
            </a:r>
          </a:p>
          <a:p>
            <a:pPr algn="l">
              <a:lnSpc>
                <a:spcPts val="1200"/>
              </a:lnSpc>
              <a:spcBef>
                <a:spcPts val="70"/>
              </a:spcBef>
              <a:buNone/>
            </a:pPr>
            <a:r>
              <a:rPr lang="en-US" sz="1000" b="0" dirty="0">
                <a:solidFill>
                  <a:srgbClr val="16262E"/>
                </a:solidFill>
              </a:rPr>
              <a:t>›  Rate band and duration confirmed</a:t>
            </a:r>
          </a:p>
        </p:txBody>
      </p:sp>
      <p:sp>
        <p:nvSpPr>
          <p:cNvPr id="105" name="s105"/>
          <p:cNvSpPr/>
          <p:nvPr/>
        </p:nvSpPr>
        <p:spPr>
          <a:xfrm>
            <a:off x="508000" y="2336800"/>
            <a:ext cx="3556000" cy="2794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Site / Operations</a:t>
            </a:r>
          </a:p>
        </p:txBody>
      </p:sp>
      <p:sp>
        <p:nvSpPr>
          <p:cNvPr id="106" name="s106"/>
          <p:cNvSpPr/>
          <p:nvPr/>
        </p:nvSpPr>
        <p:spPr>
          <a:xfrm>
            <a:off x="4089400" y="1828800"/>
            <a:ext cx="203200" cy="203200"/>
          </a:xfrm>
          <a:prstGeom prst="rightArrow">
            <a:avLst/>
          </a:prstGeom>
          <a:solidFill>
            <a:srgbClr val="12556B"/>
          </a:solidFill>
          <a:ln>
            <a:noFill/>
          </a:ln>
        </p:spPr>
        <p:txBody>
          <a:bodyPr wrap="square" lIns="127000" tIns="76200" rIns="127000" bIns="76200" anchor="ctr">
            <a:noAutofit/>
          </a:bodyPr>
          <a:lstStyle/>
          <a:p>
            <a:pPr>
              <a:buNone/>
            </a:pPr>
            <a:endParaRPr lang="en-US"/>
          </a:p>
        </p:txBody>
      </p:sp>
      <p:sp>
        <p:nvSpPr>
          <p:cNvPr id="107" name="s107"/>
          <p:cNvSpPr/>
          <p:nvPr/>
        </p:nvSpPr>
        <p:spPr>
          <a:xfrm>
            <a:off x="4318000" y="12192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8" name="s108"/>
          <p:cNvSpPr/>
          <p:nvPr/>
        </p:nvSpPr>
        <p:spPr>
          <a:xfrm>
            <a:off x="4318000" y="1219200"/>
            <a:ext cx="35560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2   HIRING AND ONBOARDING</a:t>
            </a:r>
          </a:p>
        </p:txBody>
      </p:sp>
      <p:sp>
        <p:nvSpPr>
          <p:cNvPr id="109" name="s109"/>
          <p:cNvSpPr/>
          <p:nvPr/>
        </p:nvSpPr>
        <p:spPr>
          <a:xfrm>
            <a:off x="4318000" y="1600200"/>
            <a:ext cx="3556000" cy="7366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Requirements collected and 201 file opened</a:t>
            </a:r>
          </a:p>
          <a:p>
            <a:pPr algn="l">
              <a:lnSpc>
                <a:spcPts val="1200"/>
              </a:lnSpc>
              <a:spcBef>
                <a:spcPts val="70"/>
              </a:spcBef>
              <a:buNone/>
            </a:pPr>
            <a:r>
              <a:rPr lang="en-US" sz="1000" b="0" dirty="0">
                <a:solidFill>
                  <a:srgbClr val="16262E"/>
                </a:solidFill>
              </a:rPr>
              <a:t>›  Employment contract signed before first shift</a:t>
            </a:r>
          </a:p>
        </p:txBody>
      </p:sp>
      <p:sp>
        <p:nvSpPr>
          <p:cNvPr id="110" name="s110"/>
          <p:cNvSpPr/>
          <p:nvPr/>
        </p:nvSpPr>
        <p:spPr>
          <a:xfrm>
            <a:off x="4318000" y="2336800"/>
            <a:ext cx="3556000" cy="2794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HR</a:t>
            </a:r>
          </a:p>
        </p:txBody>
      </p:sp>
      <p:sp>
        <p:nvSpPr>
          <p:cNvPr id="111" name="s111"/>
          <p:cNvSpPr/>
          <p:nvPr/>
        </p:nvSpPr>
        <p:spPr>
          <a:xfrm>
            <a:off x="7899400" y="1828800"/>
            <a:ext cx="203200" cy="203200"/>
          </a:xfrm>
          <a:prstGeom prst="rightArrow">
            <a:avLst/>
          </a:prstGeom>
          <a:solidFill>
            <a:srgbClr val="12556B"/>
          </a:solidFill>
          <a:ln>
            <a:noFill/>
          </a:ln>
        </p:spPr>
        <p:txBody>
          <a:bodyPr wrap="square" lIns="127000" tIns="76200" rIns="127000" bIns="76200" anchor="ctr">
            <a:noAutofit/>
          </a:bodyPr>
          <a:lstStyle/>
          <a:p>
            <a:pPr>
              <a:buNone/>
            </a:pPr>
            <a:endParaRPr lang="en-US"/>
          </a:p>
        </p:txBody>
      </p:sp>
      <p:sp>
        <p:nvSpPr>
          <p:cNvPr id="112" name="s112"/>
          <p:cNvSpPr/>
          <p:nvPr/>
        </p:nvSpPr>
        <p:spPr>
          <a:xfrm>
            <a:off x="8128000" y="12192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3" name="s113"/>
          <p:cNvSpPr/>
          <p:nvPr/>
        </p:nvSpPr>
        <p:spPr>
          <a:xfrm>
            <a:off x="8128000" y="1219200"/>
            <a:ext cx="35560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3   HRIS ENROLLMENT</a:t>
            </a:r>
          </a:p>
        </p:txBody>
      </p:sp>
      <p:sp>
        <p:nvSpPr>
          <p:cNvPr id="114" name="s114"/>
          <p:cNvSpPr/>
          <p:nvPr/>
        </p:nvSpPr>
        <p:spPr>
          <a:xfrm>
            <a:off x="8128000" y="1600200"/>
            <a:ext cx="3556000" cy="7366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Employee master data and government numbers encoded</a:t>
            </a:r>
          </a:p>
          <a:p>
            <a:pPr algn="l">
              <a:lnSpc>
                <a:spcPts val="1200"/>
              </a:lnSpc>
              <a:spcBef>
                <a:spcPts val="70"/>
              </a:spcBef>
              <a:buNone/>
            </a:pPr>
            <a:r>
              <a:rPr lang="en-US" sz="1000" b="0" dirty="0">
                <a:solidFill>
                  <a:srgbClr val="16262E"/>
                </a:solidFill>
              </a:rPr>
              <a:t>›  Biometrics enrolled and cost center assigned</a:t>
            </a:r>
          </a:p>
        </p:txBody>
      </p:sp>
      <p:sp>
        <p:nvSpPr>
          <p:cNvPr id="115" name="s115"/>
          <p:cNvSpPr/>
          <p:nvPr/>
        </p:nvSpPr>
        <p:spPr>
          <a:xfrm>
            <a:off x="8128000" y="2336800"/>
            <a:ext cx="3556000" cy="2794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HR / IT</a:t>
            </a:r>
          </a:p>
        </p:txBody>
      </p:sp>
      <p:sp>
        <p:nvSpPr>
          <p:cNvPr id="116" name="s116"/>
          <p:cNvSpPr/>
          <p:nvPr/>
        </p:nvSpPr>
        <p:spPr>
          <a:xfrm>
            <a:off x="508000" y="28956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7" name="s117"/>
          <p:cNvSpPr/>
          <p:nvPr/>
        </p:nvSpPr>
        <p:spPr>
          <a:xfrm>
            <a:off x="508000" y="2895600"/>
            <a:ext cx="35560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4   DAILY TIMELOGS</a:t>
            </a:r>
          </a:p>
        </p:txBody>
      </p:sp>
      <p:sp>
        <p:nvSpPr>
          <p:cNvPr id="118" name="s118"/>
          <p:cNvSpPr/>
          <p:nvPr/>
        </p:nvSpPr>
        <p:spPr>
          <a:xfrm>
            <a:off x="508000" y="3276600"/>
            <a:ext cx="3556000" cy="7366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Biometric in and out per shift, backed by the site logbook</a:t>
            </a:r>
          </a:p>
          <a:p>
            <a:pPr algn="l">
              <a:lnSpc>
                <a:spcPts val="1200"/>
              </a:lnSpc>
              <a:spcBef>
                <a:spcPts val="70"/>
              </a:spcBef>
              <a:buNone/>
            </a:pPr>
            <a:r>
              <a:rPr lang="en-US" sz="1000" b="0" dirty="0">
                <a:solidFill>
                  <a:srgbClr val="16262E"/>
                </a:solidFill>
              </a:rPr>
              <a:t>›  Missing logs flagged the same day</a:t>
            </a:r>
          </a:p>
        </p:txBody>
      </p:sp>
      <p:sp>
        <p:nvSpPr>
          <p:cNvPr id="119" name="s119"/>
          <p:cNvSpPr/>
          <p:nvPr/>
        </p:nvSpPr>
        <p:spPr>
          <a:xfrm>
            <a:off x="508000" y="4013200"/>
            <a:ext cx="3556000" cy="2794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Timekeeper</a:t>
            </a:r>
          </a:p>
        </p:txBody>
      </p:sp>
      <p:sp>
        <p:nvSpPr>
          <p:cNvPr id="120" name="s120"/>
          <p:cNvSpPr/>
          <p:nvPr/>
        </p:nvSpPr>
        <p:spPr>
          <a:xfrm>
            <a:off x="4089400" y="3505200"/>
            <a:ext cx="203200" cy="203200"/>
          </a:xfrm>
          <a:prstGeom prst="rightArrow">
            <a:avLst/>
          </a:prstGeom>
          <a:solidFill>
            <a:srgbClr val="12556B"/>
          </a:solidFill>
          <a:ln>
            <a:noFill/>
          </a:ln>
        </p:spPr>
        <p:txBody>
          <a:bodyPr wrap="square" lIns="127000" tIns="76200" rIns="127000" bIns="76200" anchor="ctr">
            <a:noAutofit/>
          </a:bodyPr>
          <a:lstStyle/>
          <a:p>
            <a:pPr>
              <a:buNone/>
            </a:pPr>
            <a:endParaRPr lang="en-US"/>
          </a:p>
        </p:txBody>
      </p:sp>
      <p:sp>
        <p:nvSpPr>
          <p:cNvPr id="121" name="s121"/>
          <p:cNvSpPr/>
          <p:nvPr/>
        </p:nvSpPr>
        <p:spPr>
          <a:xfrm>
            <a:off x="4318000" y="28956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22" name="s122"/>
          <p:cNvSpPr/>
          <p:nvPr/>
        </p:nvSpPr>
        <p:spPr>
          <a:xfrm>
            <a:off x="4318000" y="2895600"/>
            <a:ext cx="35560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5   VALIDATION AND OT APPROVAL</a:t>
            </a:r>
          </a:p>
        </p:txBody>
      </p:sp>
      <p:sp>
        <p:nvSpPr>
          <p:cNvPr id="123" name="s123"/>
          <p:cNvSpPr/>
          <p:nvPr/>
        </p:nvSpPr>
        <p:spPr>
          <a:xfrm>
            <a:off x="4318000" y="3276600"/>
            <a:ext cx="3556000" cy="7366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DTR validated against the logbook before cutoff</a:t>
            </a:r>
          </a:p>
          <a:p>
            <a:pPr algn="l">
              <a:lnSpc>
                <a:spcPts val="1200"/>
              </a:lnSpc>
              <a:spcBef>
                <a:spcPts val="70"/>
              </a:spcBef>
              <a:buNone/>
            </a:pPr>
            <a:r>
              <a:rPr lang="en-US" sz="1000" b="0" dirty="0">
                <a:solidFill>
                  <a:srgbClr val="16262E"/>
                </a:solidFill>
              </a:rPr>
              <a:t>›  Overtime and night differential approved in writing</a:t>
            </a:r>
          </a:p>
        </p:txBody>
      </p:sp>
      <p:sp>
        <p:nvSpPr>
          <p:cNvPr id="124" name="s124"/>
          <p:cNvSpPr/>
          <p:nvPr/>
        </p:nvSpPr>
        <p:spPr>
          <a:xfrm>
            <a:off x="4318000" y="4013200"/>
            <a:ext cx="3556000" cy="2794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Site Engineer</a:t>
            </a:r>
          </a:p>
        </p:txBody>
      </p:sp>
      <p:sp>
        <p:nvSpPr>
          <p:cNvPr id="125" name="s125"/>
          <p:cNvSpPr/>
          <p:nvPr/>
        </p:nvSpPr>
        <p:spPr>
          <a:xfrm>
            <a:off x="7899400" y="3505200"/>
            <a:ext cx="203200" cy="203200"/>
          </a:xfrm>
          <a:prstGeom prst="rightArrow">
            <a:avLst/>
          </a:prstGeom>
          <a:solidFill>
            <a:srgbClr val="12556B"/>
          </a:solidFill>
          <a:ln>
            <a:noFill/>
          </a:ln>
        </p:spPr>
        <p:txBody>
          <a:bodyPr wrap="square" lIns="127000" tIns="76200" rIns="127000" bIns="76200" anchor="ctr">
            <a:noAutofit/>
          </a:bodyPr>
          <a:lstStyle/>
          <a:p>
            <a:pPr>
              <a:buNone/>
            </a:pPr>
            <a:endParaRPr lang="en-US"/>
          </a:p>
        </p:txBody>
      </p:sp>
      <p:sp>
        <p:nvSpPr>
          <p:cNvPr id="126" name="s126"/>
          <p:cNvSpPr/>
          <p:nvPr/>
        </p:nvSpPr>
        <p:spPr>
          <a:xfrm>
            <a:off x="8128000" y="28956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27" name="s127"/>
          <p:cNvSpPr/>
          <p:nvPr/>
        </p:nvSpPr>
        <p:spPr>
          <a:xfrm>
            <a:off x="8128000" y="2895600"/>
            <a:ext cx="35560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6   PAYROLL PROCESSING</a:t>
            </a:r>
          </a:p>
        </p:txBody>
      </p:sp>
      <p:sp>
        <p:nvSpPr>
          <p:cNvPr id="128" name="s128"/>
          <p:cNvSpPr/>
          <p:nvPr/>
        </p:nvSpPr>
        <p:spPr>
          <a:xfrm>
            <a:off x="8128000" y="3276600"/>
            <a:ext cx="3556000" cy="7366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Gross pay computed from validated DTR only</a:t>
            </a:r>
          </a:p>
          <a:p>
            <a:pPr algn="l">
              <a:lnSpc>
                <a:spcPts val="1200"/>
              </a:lnSpc>
              <a:spcBef>
                <a:spcPts val="70"/>
              </a:spcBef>
              <a:buNone/>
            </a:pPr>
            <a:r>
              <a:rPr lang="en-US" sz="1000" b="0" dirty="0">
                <a:solidFill>
                  <a:srgbClr val="16262E"/>
                </a:solidFill>
              </a:rPr>
              <a:t>›  Loans, cash advances and statutory deductions applied</a:t>
            </a:r>
          </a:p>
        </p:txBody>
      </p:sp>
      <p:sp>
        <p:nvSpPr>
          <p:cNvPr id="129" name="s129"/>
          <p:cNvSpPr/>
          <p:nvPr/>
        </p:nvSpPr>
        <p:spPr>
          <a:xfrm>
            <a:off x="8128000" y="4013200"/>
            <a:ext cx="3556000" cy="2794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HR / Payroll</a:t>
            </a:r>
          </a:p>
        </p:txBody>
      </p:sp>
      <p:sp>
        <p:nvSpPr>
          <p:cNvPr id="130" name="s130"/>
          <p:cNvSpPr/>
          <p:nvPr/>
        </p:nvSpPr>
        <p:spPr>
          <a:xfrm>
            <a:off x="508000" y="45720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31" name="s131"/>
          <p:cNvSpPr/>
          <p:nvPr/>
        </p:nvSpPr>
        <p:spPr>
          <a:xfrm>
            <a:off x="508000" y="4572000"/>
            <a:ext cx="35560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7   REVIEW AND APPROVAL</a:t>
            </a:r>
          </a:p>
        </p:txBody>
      </p:sp>
      <p:sp>
        <p:nvSpPr>
          <p:cNvPr id="132" name="s132"/>
          <p:cNvSpPr/>
          <p:nvPr/>
        </p:nvSpPr>
        <p:spPr>
          <a:xfrm>
            <a:off x="508000" y="4953000"/>
            <a:ext cx="3556000" cy="7366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Payroll register checked by HR, then Finance</a:t>
            </a:r>
          </a:p>
          <a:p>
            <a:pPr algn="l">
              <a:lnSpc>
                <a:spcPts val="1200"/>
              </a:lnSpc>
              <a:spcBef>
                <a:spcPts val="70"/>
              </a:spcBef>
              <a:buNone/>
            </a:pPr>
            <a:r>
              <a:rPr lang="en-US" sz="1000" b="0" dirty="0">
                <a:solidFill>
                  <a:srgbClr val="16262E"/>
                </a:solidFill>
              </a:rPr>
              <a:t>›  Variance against last cutoff explained per project</a:t>
            </a:r>
          </a:p>
        </p:txBody>
      </p:sp>
      <p:sp>
        <p:nvSpPr>
          <p:cNvPr id="133" name="s133"/>
          <p:cNvSpPr/>
          <p:nvPr/>
        </p:nvSpPr>
        <p:spPr>
          <a:xfrm>
            <a:off x="508000" y="5689600"/>
            <a:ext cx="3556000" cy="2794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HR / Finance</a:t>
            </a:r>
          </a:p>
        </p:txBody>
      </p:sp>
      <p:sp>
        <p:nvSpPr>
          <p:cNvPr id="134" name="s134"/>
          <p:cNvSpPr/>
          <p:nvPr/>
        </p:nvSpPr>
        <p:spPr>
          <a:xfrm>
            <a:off x="4089400" y="5181600"/>
            <a:ext cx="203200" cy="203200"/>
          </a:xfrm>
          <a:prstGeom prst="rightArrow">
            <a:avLst/>
          </a:prstGeom>
          <a:solidFill>
            <a:srgbClr val="12556B"/>
          </a:solidFill>
          <a:ln>
            <a:noFill/>
          </a:ln>
        </p:spPr>
        <p:txBody>
          <a:bodyPr wrap="square" lIns="127000" tIns="76200" rIns="127000" bIns="76200" anchor="ctr">
            <a:noAutofit/>
          </a:bodyPr>
          <a:lstStyle/>
          <a:p>
            <a:pPr>
              <a:buNone/>
            </a:pPr>
            <a:endParaRPr lang="en-US"/>
          </a:p>
        </p:txBody>
      </p:sp>
      <p:sp>
        <p:nvSpPr>
          <p:cNvPr id="135" name="s135"/>
          <p:cNvSpPr/>
          <p:nvPr/>
        </p:nvSpPr>
        <p:spPr>
          <a:xfrm>
            <a:off x="4318000" y="45720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36" name="s136"/>
          <p:cNvSpPr/>
          <p:nvPr/>
        </p:nvSpPr>
        <p:spPr>
          <a:xfrm>
            <a:off x="4318000" y="4572000"/>
            <a:ext cx="35560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8   DISBURSEMENT</a:t>
            </a:r>
          </a:p>
        </p:txBody>
      </p:sp>
      <p:sp>
        <p:nvSpPr>
          <p:cNvPr id="137" name="s137"/>
          <p:cNvSpPr/>
          <p:nvPr/>
        </p:nvSpPr>
        <p:spPr>
          <a:xfrm>
            <a:off x="4318000" y="4953000"/>
            <a:ext cx="3556000" cy="7366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Bank upload or cash payout with acknowledgment</a:t>
            </a:r>
          </a:p>
          <a:p>
            <a:pPr algn="l">
              <a:lnSpc>
                <a:spcPts val="1200"/>
              </a:lnSpc>
              <a:spcBef>
                <a:spcPts val="70"/>
              </a:spcBef>
              <a:buNone/>
            </a:pPr>
            <a:r>
              <a:rPr lang="en-US" sz="1000" b="0" dirty="0">
                <a:solidFill>
                  <a:srgbClr val="16262E"/>
                </a:solidFill>
              </a:rPr>
              <a:t>›  Payslips released on release date</a:t>
            </a:r>
          </a:p>
        </p:txBody>
      </p:sp>
      <p:sp>
        <p:nvSpPr>
          <p:cNvPr id="138" name="s138"/>
          <p:cNvSpPr/>
          <p:nvPr/>
        </p:nvSpPr>
        <p:spPr>
          <a:xfrm>
            <a:off x="4318000" y="5689600"/>
            <a:ext cx="3556000" cy="2794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Treasury</a:t>
            </a:r>
          </a:p>
        </p:txBody>
      </p:sp>
      <p:sp>
        <p:nvSpPr>
          <p:cNvPr id="139" name="s139"/>
          <p:cNvSpPr/>
          <p:nvPr/>
        </p:nvSpPr>
        <p:spPr>
          <a:xfrm>
            <a:off x="7899400" y="5181600"/>
            <a:ext cx="203200" cy="203200"/>
          </a:xfrm>
          <a:prstGeom prst="rightArrow">
            <a:avLst/>
          </a:prstGeom>
          <a:solidFill>
            <a:srgbClr val="12556B"/>
          </a:solidFill>
          <a:ln>
            <a:noFill/>
          </a:ln>
        </p:spPr>
        <p:txBody>
          <a:bodyPr wrap="square" lIns="127000" tIns="76200" rIns="127000" bIns="76200" anchor="ctr">
            <a:noAutofit/>
          </a:bodyPr>
          <a:lstStyle/>
          <a:p>
            <a:pPr>
              <a:buNone/>
            </a:pPr>
            <a:endParaRPr lang="en-US"/>
          </a:p>
        </p:txBody>
      </p:sp>
      <p:sp>
        <p:nvSpPr>
          <p:cNvPr id="140" name="s140"/>
          <p:cNvSpPr/>
          <p:nvPr/>
        </p:nvSpPr>
        <p:spPr>
          <a:xfrm>
            <a:off x="8128000" y="4572000"/>
            <a:ext cx="3556000" cy="1422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41" name="s141"/>
          <p:cNvSpPr/>
          <p:nvPr/>
        </p:nvSpPr>
        <p:spPr>
          <a:xfrm>
            <a:off x="8128000" y="4572000"/>
            <a:ext cx="35560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9   LABOR COST POSTING</a:t>
            </a:r>
          </a:p>
        </p:txBody>
      </p:sp>
      <p:sp>
        <p:nvSpPr>
          <p:cNvPr id="142" name="s142"/>
          <p:cNvSpPr/>
          <p:nvPr/>
        </p:nvSpPr>
        <p:spPr>
          <a:xfrm>
            <a:off x="8128000" y="4953000"/>
            <a:ext cx="3556000" cy="736600"/>
          </a:xfrm>
          <a:prstGeom prst="rect">
            <a:avLst/>
          </a:prstGeom>
          <a:noFill/>
          <a:ln>
            <a:noFill/>
          </a:ln>
        </p:spPr>
        <p:txBody>
          <a:bodyPr wrap="square" lIns="152400" tIns="76200" rIns="152400" bIns="76200" anchor="t">
            <a:noAutofit/>
          </a:bodyPr>
          <a:lstStyle/>
          <a:p>
            <a:pPr algn="l">
              <a:lnSpc>
                <a:spcPts val="1200"/>
              </a:lnSpc>
              <a:buNone/>
            </a:pPr>
            <a:r>
              <a:rPr lang="en-US" sz="1000" b="0" dirty="0">
                <a:solidFill>
                  <a:srgbClr val="16262E"/>
                </a:solidFill>
              </a:rPr>
              <a:t>›  Cost posted to project cost codes</a:t>
            </a:r>
          </a:p>
          <a:p>
            <a:pPr algn="l">
              <a:lnSpc>
                <a:spcPts val="1200"/>
              </a:lnSpc>
              <a:spcBef>
                <a:spcPts val="70"/>
              </a:spcBef>
              <a:buNone/>
            </a:pPr>
            <a:r>
              <a:rPr lang="en-US" sz="1000" b="0" dirty="0">
                <a:solidFill>
                  <a:srgbClr val="16262E"/>
                </a:solidFill>
              </a:rPr>
              <a:t>›  Feeds OPEX consolidation and project profitability</a:t>
            </a:r>
          </a:p>
        </p:txBody>
      </p:sp>
      <p:sp>
        <p:nvSpPr>
          <p:cNvPr id="143" name="s143"/>
          <p:cNvSpPr/>
          <p:nvPr/>
        </p:nvSpPr>
        <p:spPr>
          <a:xfrm>
            <a:off x="8128000" y="5689600"/>
            <a:ext cx="3556000" cy="2794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Accounting</a:t>
            </a:r>
          </a:p>
        </p:txBody>
      </p:sp>
      <p:sp>
        <p:nvSpPr>
          <p:cNvPr id="144" name="s144"/>
          <p:cNvSpPr/>
          <p:nvPr/>
        </p:nvSpPr>
        <p:spPr>
          <a:xfrm>
            <a:off x="9880600" y="2641600"/>
            <a:ext cx="38100" cy="114300"/>
          </a:xfrm>
          <a:prstGeom prst="rect">
            <a:avLst/>
          </a:prstGeom>
          <a:solidFill>
            <a:srgbClr val="12556B"/>
          </a:solidFill>
          <a:ln>
            <a:noFill/>
          </a:ln>
        </p:spPr>
        <p:txBody>
          <a:bodyPr wrap="square" lIns="127000" tIns="76200" rIns="127000" bIns="76200" anchor="ctr">
            <a:noAutofit/>
          </a:bodyPr>
          <a:lstStyle/>
          <a:p>
            <a:pPr>
              <a:buNone/>
            </a:pPr>
            <a:endParaRPr lang="en-US"/>
          </a:p>
        </p:txBody>
      </p:sp>
      <p:sp>
        <p:nvSpPr>
          <p:cNvPr id="145" name="s145"/>
          <p:cNvSpPr/>
          <p:nvPr/>
        </p:nvSpPr>
        <p:spPr>
          <a:xfrm>
            <a:off x="2286000" y="2730500"/>
            <a:ext cx="7632700" cy="38100"/>
          </a:xfrm>
          <a:prstGeom prst="rect">
            <a:avLst/>
          </a:prstGeom>
          <a:solidFill>
            <a:srgbClr val="12556B"/>
          </a:solidFill>
          <a:ln>
            <a:noFill/>
          </a:ln>
        </p:spPr>
        <p:txBody>
          <a:bodyPr wrap="square" lIns="127000" tIns="76200" rIns="127000" bIns="76200" anchor="ctr">
            <a:noAutofit/>
          </a:bodyPr>
          <a:lstStyle/>
          <a:p>
            <a:pPr>
              <a:buNone/>
            </a:pPr>
            <a:endParaRPr lang="en-US"/>
          </a:p>
        </p:txBody>
      </p:sp>
      <p:sp>
        <p:nvSpPr>
          <p:cNvPr id="146" name="s146"/>
          <p:cNvSpPr/>
          <p:nvPr/>
        </p:nvSpPr>
        <p:spPr>
          <a:xfrm>
            <a:off x="2184400" y="2641600"/>
            <a:ext cx="203200" cy="177800"/>
          </a:xfrm>
          <a:prstGeom prst="downArrow">
            <a:avLst/>
          </a:prstGeom>
          <a:solidFill>
            <a:srgbClr val="12556B"/>
          </a:solidFill>
          <a:ln>
            <a:noFill/>
          </a:ln>
        </p:spPr>
        <p:txBody>
          <a:bodyPr wrap="square" lIns="127000" tIns="76200" rIns="127000" bIns="76200" anchor="ctr">
            <a:noAutofit/>
          </a:bodyPr>
          <a:lstStyle/>
          <a:p>
            <a:pPr>
              <a:buNone/>
            </a:pPr>
            <a:endParaRPr lang="en-US"/>
          </a:p>
        </p:txBody>
      </p:sp>
      <p:sp>
        <p:nvSpPr>
          <p:cNvPr id="147" name="s147"/>
          <p:cNvSpPr/>
          <p:nvPr/>
        </p:nvSpPr>
        <p:spPr>
          <a:xfrm>
            <a:off x="9880600" y="4318000"/>
            <a:ext cx="38100" cy="114300"/>
          </a:xfrm>
          <a:prstGeom prst="rect">
            <a:avLst/>
          </a:prstGeom>
          <a:solidFill>
            <a:srgbClr val="12556B"/>
          </a:solidFill>
          <a:ln>
            <a:noFill/>
          </a:ln>
        </p:spPr>
        <p:txBody>
          <a:bodyPr wrap="square" lIns="127000" tIns="76200" rIns="127000" bIns="76200" anchor="ctr">
            <a:noAutofit/>
          </a:bodyPr>
          <a:lstStyle/>
          <a:p>
            <a:pPr>
              <a:buNone/>
            </a:pPr>
            <a:endParaRPr lang="en-US"/>
          </a:p>
        </p:txBody>
      </p:sp>
      <p:sp>
        <p:nvSpPr>
          <p:cNvPr id="148" name="s148"/>
          <p:cNvSpPr/>
          <p:nvPr/>
        </p:nvSpPr>
        <p:spPr>
          <a:xfrm>
            <a:off x="2286000" y="4406900"/>
            <a:ext cx="7632700" cy="38100"/>
          </a:xfrm>
          <a:prstGeom prst="rect">
            <a:avLst/>
          </a:prstGeom>
          <a:solidFill>
            <a:srgbClr val="12556B"/>
          </a:solidFill>
          <a:ln>
            <a:noFill/>
          </a:ln>
        </p:spPr>
        <p:txBody>
          <a:bodyPr wrap="square" lIns="127000" tIns="76200" rIns="127000" bIns="76200" anchor="ctr">
            <a:noAutofit/>
          </a:bodyPr>
          <a:lstStyle/>
          <a:p>
            <a:pPr>
              <a:buNone/>
            </a:pPr>
            <a:endParaRPr lang="en-US"/>
          </a:p>
        </p:txBody>
      </p:sp>
      <p:sp>
        <p:nvSpPr>
          <p:cNvPr id="149" name="s149"/>
          <p:cNvSpPr/>
          <p:nvPr/>
        </p:nvSpPr>
        <p:spPr>
          <a:xfrm>
            <a:off x="2184400" y="4318000"/>
            <a:ext cx="203200" cy="177800"/>
          </a:xfrm>
          <a:prstGeom prst="downArrow">
            <a:avLst/>
          </a:prstGeom>
          <a:solidFill>
            <a:srgbClr val="12556B"/>
          </a:solidFill>
          <a:ln>
            <a:noFill/>
          </a:ln>
        </p:spPr>
        <p:txBody>
          <a:bodyPr wrap="square" lIns="127000" tIns="76200" rIns="127000" bIns="76200" anchor="ctr">
            <a:noAutofit/>
          </a:bodyPr>
          <a:lstStyle/>
          <a:p>
            <a:pPr>
              <a:buNone/>
            </a:pPr>
            <a:endParaRPr lang="en-US"/>
          </a:p>
        </p:txBody>
      </p:sp>
      <p:sp>
        <p:nvSpPr>
          <p:cNvPr id="150" name="s150"/>
          <p:cNvSpPr/>
          <p:nvPr/>
        </p:nvSpPr>
        <p:spPr>
          <a:xfrm>
            <a:off x="508000" y="6121400"/>
            <a:ext cx="5461000" cy="508000"/>
          </a:xfrm>
          <a:prstGeom prst="rect">
            <a:avLst/>
          </a:prstGeom>
          <a:solidFill>
            <a:srgbClr val="F1F5F7"/>
          </a:solidFill>
          <a:ln>
            <a:noFill/>
          </a:ln>
        </p:spPr>
        <p:txBody>
          <a:bodyPr wrap="square" lIns="152400" tIns="76200" rIns="152400" bIns="76200" anchor="ctr">
            <a:noAutofit/>
          </a:bodyPr>
          <a:lstStyle/>
          <a:p>
            <a:pPr algn="l">
              <a:lnSpc>
                <a:spcPts val="1300"/>
              </a:lnSpc>
              <a:buNone/>
            </a:pPr>
            <a:r>
              <a:rPr lang="en-US" sz="1050" b="0" dirty="0">
                <a:solidFill>
                  <a:srgbClr val="16262E"/>
                </a:solidFill>
              </a:rPr>
              <a:t>Cutoffs: 1–15 and 16–end of month. DTR closes one day after cutoff; payroll releases three working days later.</a:t>
            </a:r>
          </a:p>
        </p:txBody>
      </p:sp>
      <p:sp>
        <p:nvSpPr>
          <p:cNvPr id="151" name="s151"/>
          <p:cNvSpPr/>
          <p:nvPr/>
        </p:nvSpPr>
        <p:spPr>
          <a:xfrm>
            <a:off x="6223000" y="6121400"/>
            <a:ext cx="5461000" cy="508000"/>
          </a:xfrm>
          <a:prstGeom prst="rect">
            <a:avLst/>
          </a:prstGeom>
          <a:solidFill>
            <a:srgbClr val="FDF3EC"/>
          </a:solidFill>
          <a:ln>
            <a:noFill/>
          </a:ln>
        </p:spPr>
        <p:txBody>
          <a:bodyPr wrap="square" lIns="152400" tIns="76200" rIns="152400" bIns="76200" anchor="ctr">
            <a:noAutofit/>
          </a:bodyPr>
          <a:lstStyle/>
          <a:p>
            <a:pPr algn="l">
              <a:lnSpc>
                <a:spcPts val="1300"/>
              </a:lnSpc>
              <a:buNone/>
            </a:pPr>
            <a:r>
              <a:rPr lang="en-US" sz="1050" b="0" dirty="0">
                <a:solidFill>
                  <a:srgbClr val="B3560F"/>
                </a:solidFill>
              </a:rPr>
              <a:t>No timelog, no pay: unvalidated days are held and paid in the next cutoff once the site certifies them.</a:t>
            </a:r>
          </a:p>
        </p:txBody>
      </p:sp>
    </p:spTree>
    <p:extLst>
      <p:ext uri="{BB962C8B-B14F-4D97-AF65-F5344CB8AC3E}">
        <p14:creationId xmlns:p14="http://schemas.microsoft.com/office/powerpoint/2010/main" val="1685289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58DE9-5B5B-C9AA-F832-D8D01F2C12D4}"/>
              </a:ext>
            </a:extLst>
          </p:cNvPr>
          <p:cNvSpPr>
            <a:spLocks noGrp="1"/>
          </p:cNvSpPr>
          <p:nvPr>
            <p:ph type="title"/>
          </p:nvPr>
        </p:nvSpPr>
        <p:spPr>
          <a:xfrm>
            <a:off x="508000" y="508000"/>
            <a:ext cx="11176000" cy="508000"/>
          </a:xfrm>
        </p:spPr>
        <p:txBody>
          <a:bodyPr>
            <a:normAutofit fontScale="90000"/>
          </a:bodyPr>
          <a:lstStyle/>
          <a:p>
            <a:pPr algn="l">
              <a:buNone/>
            </a:pPr>
            <a:r>
              <a:rPr lang="en-US" sz="2200" b="1" dirty="0">
                <a:solidFill>
                  <a:srgbClr val="12556B"/>
                </a:solidFill>
              </a:rPr>
              <a:t>OPEX is consolidated on a fixed monthly calendar, from capture to management report</a:t>
            </a:r>
          </a:p>
        </p:txBody>
      </p:sp>
      <p:sp>
        <p:nvSpPr>
          <p:cNvPr id="101" name="s101"/>
          <p:cNvSpPr/>
          <p:nvPr/>
        </p:nvSpPr>
        <p:spPr>
          <a:xfrm>
            <a:off x="508000" y="254000"/>
            <a:ext cx="7620000" cy="254000"/>
          </a:xfrm>
          <a:prstGeom prst="rect">
            <a:avLst/>
          </a:prstGeom>
          <a:noFill/>
          <a:ln>
            <a:noFill/>
          </a:ln>
        </p:spPr>
        <p:txBody>
          <a:bodyPr wrap="square" lIns="0" tIns="76200" rIns="0" bIns="76200" anchor="ctr">
            <a:noAutofit/>
          </a:bodyPr>
          <a:lstStyle/>
          <a:p>
            <a:pPr algn="l">
              <a:buNone/>
            </a:pPr>
            <a:r>
              <a:rPr lang="en-US" sz="1100" b="1" dirty="0">
                <a:solidFill>
                  <a:srgbClr val="C8621B"/>
                </a:solidFill>
              </a:rPr>
              <a:t>PHASE 3 · OPEX CONSOLIDATION</a:t>
            </a:r>
          </a:p>
        </p:txBody>
      </p:sp>
      <p:sp>
        <p:nvSpPr>
          <p:cNvPr id="102" name="s102"/>
          <p:cNvSpPr/>
          <p:nvPr/>
        </p:nvSpPr>
        <p:spPr>
          <a:xfrm>
            <a:off x="508000" y="1219200"/>
            <a:ext cx="1473200" cy="1930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3" name="s103"/>
          <p:cNvSpPr/>
          <p:nvPr/>
        </p:nvSpPr>
        <p:spPr>
          <a:xfrm>
            <a:off x="508000" y="1219200"/>
            <a:ext cx="1473200" cy="279400"/>
          </a:xfrm>
          <a:prstGeom prst="rect">
            <a:avLst/>
          </a:prstGeom>
          <a:solidFill>
            <a:srgbClr val="6FC6D2"/>
          </a:solidFill>
          <a:ln>
            <a:noFill/>
          </a:ln>
        </p:spPr>
        <p:txBody>
          <a:bodyPr wrap="square" lIns="127000" tIns="76200" rIns="127000" bIns="76200" anchor="ctr">
            <a:noAutofit/>
          </a:bodyPr>
          <a:lstStyle/>
          <a:p>
            <a:pPr algn="l">
              <a:buNone/>
            </a:pPr>
            <a:r>
              <a:rPr lang="en-US" sz="950" b="1" dirty="0">
                <a:solidFill>
                  <a:srgbClr val="0B3A4A"/>
                </a:solidFill>
              </a:rPr>
              <a:t>DAY 1–25</a:t>
            </a:r>
          </a:p>
        </p:txBody>
      </p:sp>
      <p:sp>
        <p:nvSpPr>
          <p:cNvPr id="104" name="s104"/>
          <p:cNvSpPr/>
          <p:nvPr/>
        </p:nvSpPr>
        <p:spPr>
          <a:xfrm>
            <a:off x="508000" y="1549400"/>
            <a:ext cx="1473200" cy="279400"/>
          </a:xfrm>
          <a:prstGeom prst="rect">
            <a:avLst/>
          </a:prstGeom>
          <a:noFill/>
          <a:ln>
            <a:noFill/>
          </a:ln>
        </p:spPr>
        <p:txBody>
          <a:bodyPr wrap="square" lIns="127000" tIns="0" rIns="127000" bIns="0" anchor="ctr">
            <a:noAutofit/>
          </a:bodyPr>
          <a:lstStyle/>
          <a:p>
            <a:pPr algn="l">
              <a:buNone/>
            </a:pPr>
            <a:r>
              <a:rPr lang="en-US" sz="1050" b="1" dirty="0">
                <a:solidFill>
                  <a:srgbClr val="12556B"/>
                </a:solidFill>
              </a:rPr>
              <a:t>CAPTURE</a:t>
            </a:r>
          </a:p>
        </p:txBody>
      </p:sp>
      <p:sp>
        <p:nvSpPr>
          <p:cNvPr id="105" name="s105"/>
          <p:cNvSpPr/>
          <p:nvPr/>
        </p:nvSpPr>
        <p:spPr>
          <a:xfrm>
            <a:off x="508000" y="1854200"/>
            <a:ext cx="1473200" cy="1244600"/>
          </a:xfrm>
          <a:prstGeom prst="rect">
            <a:avLst/>
          </a:prstGeom>
          <a:noFill/>
          <a:ln>
            <a:noFill/>
          </a:ln>
        </p:spPr>
        <p:txBody>
          <a:bodyPr wrap="square" lIns="127000" tIns="25400" rIns="127000" bIns="25400" anchor="t">
            <a:noAutofit/>
          </a:bodyPr>
          <a:lstStyle/>
          <a:p>
            <a:pPr algn="l">
              <a:lnSpc>
                <a:spcPts val="1200"/>
              </a:lnSpc>
              <a:buNone/>
            </a:pPr>
            <a:r>
              <a:rPr lang="en-US" sz="1000" b="0" dirty="0">
                <a:solidFill>
                  <a:srgbClr val="16262E"/>
                </a:solidFill>
              </a:rPr>
              <a:t>Petty cash, fuel, rentals, utilities and site purchases logged daily with receipts</a:t>
            </a:r>
          </a:p>
        </p:txBody>
      </p:sp>
      <p:sp>
        <p:nvSpPr>
          <p:cNvPr id="106" name="s106"/>
          <p:cNvSpPr/>
          <p:nvPr/>
        </p:nvSpPr>
        <p:spPr>
          <a:xfrm>
            <a:off x="1993900" y="1270000"/>
            <a:ext cx="114300" cy="1778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07" name="s107"/>
          <p:cNvSpPr/>
          <p:nvPr/>
        </p:nvSpPr>
        <p:spPr>
          <a:xfrm>
            <a:off x="2120900" y="1219200"/>
            <a:ext cx="1473200" cy="1930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8" name="s108"/>
          <p:cNvSpPr/>
          <p:nvPr/>
        </p:nvSpPr>
        <p:spPr>
          <a:xfrm>
            <a:off x="2120900" y="1219200"/>
            <a:ext cx="1473200" cy="279400"/>
          </a:xfrm>
          <a:prstGeom prst="rect">
            <a:avLst/>
          </a:prstGeom>
          <a:solidFill>
            <a:srgbClr val="3FB4C4"/>
          </a:solidFill>
          <a:ln>
            <a:noFill/>
          </a:ln>
        </p:spPr>
        <p:txBody>
          <a:bodyPr wrap="square" lIns="127000" tIns="76200" rIns="127000" bIns="76200" anchor="ctr">
            <a:noAutofit/>
          </a:bodyPr>
          <a:lstStyle/>
          <a:p>
            <a:pPr algn="l">
              <a:buNone/>
            </a:pPr>
            <a:r>
              <a:rPr lang="en-US" sz="950" b="1" dirty="0">
                <a:solidFill>
                  <a:srgbClr val="0B3A4A"/>
                </a:solidFill>
              </a:rPr>
              <a:t>DAY 26</a:t>
            </a:r>
          </a:p>
        </p:txBody>
      </p:sp>
      <p:sp>
        <p:nvSpPr>
          <p:cNvPr id="109" name="s109"/>
          <p:cNvSpPr/>
          <p:nvPr/>
        </p:nvSpPr>
        <p:spPr>
          <a:xfrm>
            <a:off x="2120900" y="1549400"/>
            <a:ext cx="1473200" cy="279400"/>
          </a:xfrm>
          <a:prstGeom prst="rect">
            <a:avLst/>
          </a:prstGeom>
          <a:noFill/>
          <a:ln>
            <a:noFill/>
          </a:ln>
        </p:spPr>
        <p:txBody>
          <a:bodyPr wrap="square" lIns="127000" tIns="0" rIns="127000" bIns="0" anchor="ctr">
            <a:noAutofit/>
          </a:bodyPr>
          <a:lstStyle/>
          <a:p>
            <a:pPr algn="l">
              <a:buNone/>
            </a:pPr>
            <a:r>
              <a:rPr lang="en-US" sz="1050" b="1" dirty="0">
                <a:solidFill>
                  <a:srgbClr val="12556B"/>
                </a:solidFill>
              </a:rPr>
              <a:t>CUTOFF</a:t>
            </a:r>
          </a:p>
        </p:txBody>
      </p:sp>
      <p:sp>
        <p:nvSpPr>
          <p:cNvPr id="110" name="s110"/>
          <p:cNvSpPr/>
          <p:nvPr/>
        </p:nvSpPr>
        <p:spPr>
          <a:xfrm>
            <a:off x="2120900" y="1854200"/>
            <a:ext cx="1473200" cy="1244600"/>
          </a:xfrm>
          <a:prstGeom prst="rect">
            <a:avLst/>
          </a:prstGeom>
          <a:noFill/>
          <a:ln>
            <a:noFill/>
          </a:ln>
        </p:spPr>
        <p:txBody>
          <a:bodyPr wrap="square" lIns="127000" tIns="25400" rIns="127000" bIns="25400" anchor="t">
            <a:noAutofit/>
          </a:bodyPr>
          <a:lstStyle/>
          <a:p>
            <a:pPr algn="l">
              <a:lnSpc>
                <a:spcPts val="1200"/>
              </a:lnSpc>
              <a:buNone/>
            </a:pPr>
            <a:r>
              <a:rPr lang="en-US" sz="1000" b="0" dirty="0">
                <a:solidFill>
                  <a:srgbClr val="16262E"/>
                </a:solidFill>
              </a:rPr>
              <a:t>Submission closes; cash advances liquidated or charged to the next payroll</a:t>
            </a:r>
          </a:p>
        </p:txBody>
      </p:sp>
      <p:sp>
        <p:nvSpPr>
          <p:cNvPr id="111" name="s111"/>
          <p:cNvSpPr/>
          <p:nvPr/>
        </p:nvSpPr>
        <p:spPr>
          <a:xfrm>
            <a:off x="3606800" y="1270000"/>
            <a:ext cx="114300" cy="1778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12" name="s112"/>
          <p:cNvSpPr/>
          <p:nvPr/>
        </p:nvSpPr>
        <p:spPr>
          <a:xfrm>
            <a:off x="3733800" y="1219200"/>
            <a:ext cx="1473200" cy="1930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3" name="s113"/>
          <p:cNvSpPr/>
          <p:nvPr/>
        </p:nvSpPr>
        <p:spPr>
          <a:xfrm>
            <a:off x="3733800" y="1219200"/>
            <a:ext cx="1473200" cy="279400"/>
          </a:xfrm>
          <a:prstGeom prst="rect">
            <a:avLst/>
          </a:prstGeom>
          <a:solidFill>
            <a:srgbClr val="0E8C9E"/>
          </a:solidFill>
          <a:ln>
            <a:noFill/>
          </a:ln>
        </p:spPr>
        <p:txBody>
          <a:bodyPr wrap="square" lIns="127000" tIns="76200" rIns="127000" bIns="76200" anchor="ctr">
            <a:noAutofit/>
          </a:bodyPr>
          <a:lstStyle/>
          <a:p>
            <a:pPr algn="l">
              <a:buNone/>
            </a:pPr>
            <a:r>
              <a:rPr lang="en-US" sz="950" b="1" dirty="0">
                <a:solidFill>
                  <a:srgbClr val="FFFFFF"/>
                </a:solidFill>
              </a:rPr>
              <a:t>DAY 27</a:t>
            </a:r>
          </a:p>
        </p:txBody>
      </p:sp>
      <p:sp>
        <p:nvSpPr>
          <p:cNvPr id="114" name="s114"/>
          <p:cNvSpPr/>
          <p:nvPr/>
        </p:nvSpPr>
        <p:spPr>
          <a:xfrm>
            <a:off x="3733800" y="1549400"/>
            <a:ext cx="1473200" cy="279400"/>
          </a:xfrm>
          <a:prstGeom prst="rect">
            <a:avLst/>
          </a:prstGeom>
          <a:noFill/>
          <a:ln>
            <a:noFill/>
          </a:ln>
        </p:spPr>
        <p:txBody>
          <a:bodyPr wrap="square" lIns="127000" tIns="0" rIns="127000" bIns="0" anchor="ctr">
            <a:noAutofit/>
          </a:bodyPr>
          <a:lstStyle/>
          <a:p>
            <a:pPr algn="l">
              <a:buNone/>
            </a:pPr>
            <a:r>
              <a:rPr lang="en-US" sz="1050" b="1" dirty="0">
                <a:solidFill>
                  <a:srgbClr val="12556B"/>
                </a:solidFill>
              </a:rPr>
              <a:t>CODING</a:t>
            </a:r>
          </a:p>
        </p:txBody>
      </p:sp>
      <p:sp>
        <p:nvSpPr>
          <p:cNvPr id="115" name="s115"/>
          <p:cNvSpPr/>
          <p:nvPr/>
        </p:nvSpPr>
        <p:spPr>
          <a:xfrm>
            <a:off x="3733800" y="1854200"/>
            <a:ext cx="1473200" cy="1244600"/>
          </a:xfrm>
          <a:prstGeom prst="rect">
            <a:avLst/>
          </a:prstGeom>
          <a:noFill/>
          <a:ln>
            <a:noFill/>
          </a:ln>
        </p:spPr>
        <p:txBody>
          <a:bodyPr wrap="square" lIns="127000" tIns="25400" rIns="127000" bIns="25400" anchor="t">
            <a:noAutofit/>
          </a:bodyPr>
          <a:lstStyle/>
          <a:p>
            <a:pPr algn="l">
              <a:lnSpc>
                <a:spcPts val="1200"/>
              </a:lnSpc>
              <a:buNone/>
            </a:pPr>
            <a:r>
              <a:rPr lang="en-US" sz="1000" b="0" dirty="0">
                <a:solidFill>
                  <a:srgbClr val="16262E"/>
                </a:solidFill>
              </a:rPr>
              <a:t>Every expense coded to project, cost center and account before entry</a:t>
            </a:r>
          </a:p>
        </p:txBody>
      </p:sp>
      <p:sp>
        <p:nvSpPr>
          <p:cNvPr id="116" name="s116"/>
          <p:cNvSpPr/>
          <p:nvPr/>
        </p:nvSpPr>
        <p:spPr>
          <a:xfrm>
            <a:off x="5219700" y="1270000"/>
            <a:ext cx="114300" cy="1778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17" name="s117"/>
          <p:cNvSpPr/>
          <p:nvPr/>
        </p:nvSpPr>
        <p:spPr>
          <a:xfrm>
            <a:off x="5346700" y="1219200"/>
            <a:ext cx="1473200" cy="1930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8" name="s118"/>
          <p:cNvSpPr/>
          <p:nvPr/>
        </p:nvSpPr>
        <p:spPr>
          <a:xfrm>
            <a:off x="5346700" y="1219200"/>
            <a:ext cx="1473200" cy="279400"/>
          </a:xfrm>
          <a:prstGeom prst="rect">
            <a:avLst/>
          </a:prstGeom>
          <a:solidFill>
            <a:srgbClr val="0E8C9E"/>
          </a:solidFill>
          <a:ln>
            <a:noFill/>
          </a:ln>
        </p:spPr>
        <p:txBody>
          <a:bodyPr wrap="square" lIns="127000" tIns="76200" rIns="127000" bIns="76200" anchor="ctr">
            <a:noAutofit/>
          </a:bodyPr>
          <a:lstStyle/>
          <a:p>
            <a:pPr algn="l">
              <a:buNone/>
            </a:pPr>
            <a:r>
              <a:rPr lang="en-US" sz="950" b="1" dirty="0">
                <a:solidFill>
                  <a:srgbClr val="FFFFFF"/>
                </a:solidFill>
              </a:rPr>
              <a:t>DAY 28</a:t>
            </a:r>
          </a:p>
        </p:txBody>
      </p:sp>
      <p:sp>
        <p:nvSpPr>
          <p:cNvPr id="119" name="s119"/>
          <p:cNvSpPr/>
          <p:nvPr/>
        </p:nvSpPr>
        <p:spPr>
          <a:xfrm>
            <a:off x="5346700" y="1549400"/>
            <a:ext cx="1473200" cy="279400"/>
          </a:xfrm>
          <a:prstGeom prst="rect">
            <a:avLst/>
          </a:prstGeom>
          <a:noFill/>
          <a:ln>
            <a:noFill/>
          </a:ln>
        </p:spPr>
        <p:txBody>
          <a:bodyPr wrap="square" lIns="127000" tIns="0" rIns="127000" bIns="0" anchor="ctr">
            <a:noAutofit/>
          </a:bodyPr>
          <a:lstStyle/>
          <a:p>
            <a:pPr algn="l">
              <a:buNone/>
            </a:pPr>
            <a:r>
              <a:rPr lang="en-US" sz="1050" b="1" dirty="0">
                <a:solidFill>
                  <a:srgbClr val="12556B"/>
                </a:solidFill>
              </a:rPr>
              <a:t>VALIDATION</a:t>
            </a:r>
          </a:p>
        </p:txBody>
      </p:sp>
      <p:sp>
        <p:nvSpPr>
          <p:cNvPr id="120" name="s120"/>
          <p:cNvSpPr/>
          <p:nvPr/>
        </p:nvSpPr>
        <p:spPr>
          <a:xfrm>
            <a:off x="5346700" y="1854200"/>
            <a:ext cx="1473200" cy="1244600"/>
          </a:xfrm>
          <a:prstGeom prst="rect">
            <a:avLst/>
          </a:prstGeom>
          <a:noFill/>
          <a:ln>
            <a:noFill/>
          </a:ln>
        </p:spPr>
        <p:txBody>
          <a:bodyPr wrap="square" lIns="127000" tIns="25400" rIns="127000" bIns="25400" anchor="t">
            <a:noAutofit/>
          </a:bodyPr>
          <a:lstStyle/>
          <a:p>
            <a:pPr algn="l">
              <a:lnSpc>
                <a:spcPts val="1200"/>
              </a:lnSpc>
              <a:buNone/>
            </a:pPr>
            <a:r>
              <a:rPr lang="en-US" sz="1000" b="0" dirty="0">
                <a:solidFill>
                  <a:srgbClr val="16262E"/>
                </a:solidFill>
              </a:rPr>
              <a:t>Accounting checks receipts, tax documents and the budget line charged</a:t>
            </a:r>
          </a:p>
        </p:txBody>
      </p:sp>
      <p:sp>
        <p:nvSpPr>
          <p:cNvPr id="121" name="s121"/>
          <p:cNvSpPr/>
          <p:nvPr/>
        </p:nvSpPr>
        <p:spPr>
          <a:xfrm>
            <a:off x="6832600" y="1270000"/>
            <a:ext cx="114300" cy="1778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22" name="s122"/>
          <p:cNvSpPr/>
          <p:nvPr/>
        </p:nvSpPr>
        <p:spPr>
          <a:xfrm>
            <a:off x="6959600" y="1219200"/>
            <a:ext cx="1473200" cy="1930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23" name="s123"/>
          <p:cNvSpPr/>
          <p:nvPr/>
        </p:nvSpPr>
        <p:spPr>
          <a:xfrm>
            <a:off x="6959600" y="1219200"/>
            <a:ext cx="1473200" cy="279400"/>
          </a:xfrm>
          <a:prstGeom prst="rect">
            <a:avLst/>
          </a:prstGeom>
          <a:solidFill>
            <a:srgbClr val="12556B"/>
          </a:solidFill>
          <a:ln>
            <a:noFill/>
          </a:ln>
        </p:spPr>
        <p:txBody>
          <a:bodyPr wrap="square" lIns="127000" tIns="76200" rIns="127000" bIns="76200" anchor="ctr">
            <a:noAutofit/>
          </a:bodyPr>
          <a:lstStyle/>
          <a:p>
            <a:pPr algn="l">
              <a:buNone/>
            </a:pPr>
            <a:r>
              <a:rPr lang="en-US" sz="950" b="1" dirty="0">
                <a:solidFill>
                  <a:srgbClr val="FFFFFF"/>
                </a:solidFill>
              </a:rPr>
              <a:t>DAY 29</a:t>
            </a:r>
          </a:p>
        </p:txBody>
      </p:sp>
      <p:sp>
        <p:nvSpPr>
          <p:cNvPr id="124" name="s124"/>
          <p:cNvSpPr/>
          <p:nvPr/>
        </p:nvSpPr>
        <p:spPr>
          <a:xfrm>
            <a:off x="6959600" y="1549400"/>
            <a:ext cx="1473200" cy="279400"/>
          </a:xfrm>
          <a:prstGeom prst="rect">
            <a:avLst/>
          </a:prstGeom>
          <a:noFill/>
          <a:ln>
            <a:noFill/>
          </a:ln>
        </p:spPr>
        <p:txBody>
          <a:bodyPr wrap="square" lIns="127000" tIns="0" rIns="127000" bIns="0" anchor="ctr">
            <a:noAutofit/>
          </a:bodyPr>
          <a:lstStyle/>
          <a:p>
            <a:pPr algn="l">
              <a:buNone/>
            </a:pPr>
            <a:r>
              <a:rPr lang="en-US" sz="1050" b="1" dirty="0">
                <a:solidFill>
                  <a:srgbClr val="12556B"/>
                </a:solidFill>
              </a:rPr>
              <a:t>CONSOLIDATION</a:t>
            </a:r>
          </a:p>
        </p:txBody>
      </p:sp>
      <p:sp>
        <p:nvSpPr>
          <p:cNvPr id="125" name="s125"/>
          <p:cNvSpPr/>
          <p:nvPr/>
        </p:nvSpPr>
        <p:spPr>
          <a:xfrm>
            <a:off x="6959600" y="1854200"/>
            <a:ext cx="1473200" cy="1244600"/>
          </a:xfrm>
          <a:prstGeom prst="rect">
            <a:avLst/>
          </a:prstGeom>
          <a:noFill/>
          <a:ln>
            <a:noFill/>
          </a:ln>
        </p:spPr>
        <p:txBody>
          <a:bodyPr wrap="square" lIns="127000" tIns="25400" rIns="127000" bIns="25400" anchor="t">
            <a:noAutofit/>
          </a:bodyPr>
          <a:lstStyle/>
          <a:p>
            <a:pPr algn="l">
              <a:lnSpc>
                <a:spcPts val="1200"/>
              </a:lnSpc>
              <a:buNone/>
            </a:pPr>
            <a:r>
              <a:rPr lang="en-US" sz="1000" b="0" dirty="0">
                <a:solidFill>
                  <a:srgbClr val="16262E"/>
                </a:solidFill>
              </a:rPr>
              <a:t>Site and head office OPEX rolled up per project and company</a:t>
            </a:r>
          </a:p>
        </p:txBody>
      </p:sp>
      <p:sp>
        <p:nvSpPr>
          <p:cNvPr id="126" name="s126"/>
          <p:cNvSpPr/>
          <p:nvPr/>
        </p:nvSpPr>
        <p:spPr>
          <a:xfrm>
            <a:off x="8445500" y="1270000"/>
            <a:ext cx="114300" cy="1778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27" name="s127"/>
          <p:cNvSpPr/>
          <p:nvPr/>
        </p:nvSpPr>
        <p:spPr>
          <a:xfrm>
            <a:off x="8572500" y="1219200"/>
            <a:ext cx="1473200" cy="1930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28" name="s128"/>
          <p:cNvSpPr/>
          <p:nvPr/>
        </p:nvSpPr>
        <p:spPr>
          <a:xfrm>
            <a:off x="8572500" y="1219200"/>
            <a:ext cx="1473200" cy="279400"/>
          </a:xfrm>
          <a:prstGeom prst="rect">
            <a:avLst/>
          </a:prstGeom>
          <a:solidFill>
            <a:srgbClr val="12556B"/>
          </a:solidFill>
          <a:ln>
            <a:noFill/>
          </a:ln>
        </p:spPr>
        <p:txBody>
          <a:bodyPr wrap="square" lIns="127000" tIns="76200" rIns="127000" bIns="76200" anchor="ctr">
            <a:noAutofit/>
          </a:bodyPr>
          <a:lstStyle/>
          <a:p>
            <a:pPr algn="l">
              <a:buNone/>
            </a:pPr>
            <a:r>
              <a:rPr lang="en-US" sz="950" b="1" dirty="0">
                <a:solidFill>
                  <a:srgbClr val="FFFFFF"/>
                </a:solidFill>
              </a:rPr>
              <a:t>DAY 30</a:t>
            </a:r>
          </a:p>
        </p:txBody>
      </p:sp>
      <p:sp>
        <p:nvSpPr>
          <p:cNvPr id="129" name="s129"/>
          <p:cNvSpPr/>
          <p:nvPr/>
        </p:nvSpPr>
        <p:spPr>
          <a:xfrm>
            <a:off x="8572500" y="1549400"/>
            <a:ext cx="1473200" cy="279400"/>
          </a:xfrm>
          <a:prstGeom prst="rect">
            <a:avLst/>
          </a:prstGeom>
          <a:noFill/>
          <a:ln>
            <a:noFill/>
          </a:ln>
        </p:spPr>
        <p:txBody>
          <a:bodyPr wrap="square" lIns="127000" tIns="0" rIns="127000" bIns="0" anchor="ctr">
            <a:noAutofit/>
          </a:bodyPr>
          <a:lstStyle/>
          <a:p>
            <a:pPr algn="l">
              <a:buNone/>
            </a:pPr>
            <a:r>
              <a:rPr lang="en-US" sz="1050" b="1" dirty="0">
                <a:solidFill>
                  <a:srgbClr val="12556B"/>
                </a:solidFill>
              </a:rPr>
              <a:t>BUDGET REVIEW</a:t>
            </a:r>
          </a:p>
        </p:txBody>
      </p:sp>
      <p:sp>
        <p:nvSpPr>
          <p:cNvPr id="130" name="s130"/>
          <p:cNvSpPr/>
          <p:nvPr/>
        </p:nvSpPr>
        <p:spPr>
          <a:xfrm>
            <a:off x="8572500" y="1854200"/>
            <a:ext cx="1473200" cy="1244600"/>
          </a:xfrm>
          <a:prstGeom prst="rect">
            <a:avLst/>
          </a:prstGeom>
          <a:noFill/>
          <a:ln>
            <a:noFill/>
          </a:ln>
        </p:spPr>
        <p:txBody>
          <a:bodyPr wrap="square" lIns="127000" tIns="25400" rIns="127000" bIns="25400" anchor="t">
            <a:noAutofit/>
          </a:bodyPr>
          <a:lstStyle/>
          <a:p>
            <a:pPr algn="l">
              <a:lnSpc>
                <a:spcPts val="1200"/>
              </a:lnSpc>
              <a:buNone/>
            </a:pPr>
            <a:r>
              <a:rPr lang="en-US" sz="1000" b="0" dirty="0">
                <a:solidFill>
                  <a:srgbClr val="16262E"/>
                </a:solidFill>
              </a:rPr>
              <a:t>Budget against actual by cost center; variance above 10% explained in writing</a:t>
            </a:r>
          </a:p>
        </p:txBody>
      </p:sp>
      <p:sp>
        <p:nvSpPr>
          <p:cNvPr id="131" name="s131"/>
          <p:cNvSpPr/>
          <p:nvPr/>
        </p:nvSpPr>
        <p:spPr>
          <a:xfrm>
            <a:off x="10058400" y="1270000"/>
            <a:ext cx="114300" cy="177800"/>
          </a:xfrm>
          <a:prstGeom prst="rightArrow">
            <a:avLst/>
          </a:prstGeom>
          <a:solidFill>
            <a:srgbClr val="0E8C9E"/>
          </a:solidFill>
          <a:ln>
            <a:noFill/>
          </a:ln>
        </p:spPr>
        <p:txBody>
          <a:bodyPr wrap="square" lIns="127000" tIns="76200" rIns="127000" bIns="76200" anchor="ctr">
            <a:noAutofit/>
          </a:bodyPr>
          <a:lstStyle/>
          <a:p>
            <a:pPr>
              <a:buNone/>
            </a:pPr>
            <a:endParaRPr lang="en-US"/>
          </a:p>
        </p:txBody>
      </p:sp>
      <p:sp>
        <p:nvSpPr>
          <p:cNvPr id="132" name="s132"/>
          <p:cNvSpPr/>
          <p:nvPr/>
        </p:nvSpPr>
        <p:spPr>
          <a:xfrm>
            <a:off x="10185400" y="1219200"/>
            <a:ext cx="1473200" cy="19304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33" name="s133"/>
          <p:cNvSpPr/>
          <p:nvPr/>
        </p:nvSpPr>
        <p:spPr>
          <a:xfrm>
            <a:off x="10185400" y="1219200"/>
            <a:ext cx="1473200" cy="279400"/>
          </a:xfrm>
          <a:prstGeom prst="rect">
            <a:avLst/>
          </a:prstGeom>
          <a:solidFill>
            <a:srgbClr val="0B3A4A"/>
          </a:solidFill>
          <a:ln>
            <a:noFill/>
          </a:ln>
        </p:spPr>
        <p:txBody>
          <a:bodyPr wrap="square" lIns="127000" tIns="76200" rIns="127000" bIns="76200" anchor="ctr">
            <a:noAutofit/>
          </a:bodyPr>
          <a:lstStyle/>
          <a:p>
            <a:pPr algn="l">
              <a:buNone/>
            </a:pPr>
            <a:r>
              <a:rPr lang="en-US" sz="950" b="1" dirty="0">
                <a:solidFill>
                  <a:srgbClr val="FFFFFF"/>
                </a:solidFill>
              </a:rPr>
              <a:t>DAY 3–5</a:t>
            </a:r>
          </a:p>
        </p:txBody>
      </p:sp>
      <p:sp>
        <p:nvSpPr>
          <p:cNvPr id="134" name="s134"/>
          <p:cNvSpPr/>
          <p:nvPr/>
        </p:nvSpPr>
        <p:spPr>
          <a:xfrm>
            <a:off x="10185400" y="1549400"/>
            <a:ext cx="1473200" cy="279400"/>
          </a:xfrm>
          <a:prstGeom prst="rect">
            <a:avLst/>
          </a:prstGeom>
          <a:noFill/>
          <a:ln>
            <a:noFill/>
          </a:ln>
        </p:spPr>
        <p:txBody>
          <a:bodyPr wrap="square" lIns="127000" tIns="0" rIns="127000" bIns="0" anchor="ctr">
            <a:noAutofit/>
          </a:bodyPr>
          <a:lstStyle/>
          <a:p>
            <a:pPr algn="l">
              <a:buNone/>
            </a:pPr>
            <a:r>
              <a:rPr lang="en-US" sz="1050" b="1" dirty="0">
                <a:solidFill>
                  <a:srgbClr val="12556B"/>
                </a:solidFill>
              </a:rPr>
              <a:t>REPORTING</a:t>
            </a:r>
          </a:p>
        </p:txBody>
      </p:sp>
      <p:sp>
        <p:nvSpPr>
          <p:cNvPr id="135" name="s135"/>
          <p:cNvSpPr/>
          <p:nvPr/>
        </p:nvSpPr>
        <p:spPr>
          <a:xfrm>
            <a:off x="10185400" y="1854200"/>
            <a:ext cx="1473200" cy="1244600"/>
          </a:xfrm>
          <a:prstGeom prst="rect">
            <a:avLst/>
          </a:prstGeom>
          <a:noFill/>
          <a:ln>
            <a:noFill/>
          </a:ln>
        </p:spPr>
        <p:txBody>
          <a:bodyPr wrap="square" lIns="127000" tIns="25400" rIns="127000" bIns="25400" anchor="t">
            <a:noAutofit/>
          </a:bodyPr>
          <a:lstStyle/>
          <a:p>
            <a:pPr algn="l">
              <a:lnSpc>
                <a:spcPts val="1200"/>
              </a:lnSpc>
              <a:buNone/>
            </a:pPr>
            <a:r>
              <a:rPr lang="en-US" sz="1000" b="0" dirty="0">
                <a:solidFill>
                  <a:srgbClr val="16262E"/>
                </a:solidFill>
              </a:rPr>
              <a:t>OPEX per project, cost per unit of accomplishment, and forecast to completion</a:t>
            </a:r>
          </a:p>
        </p:txBody>
      </p:sp>
      <p:sp>
        <p:nvSpPr>
          <p:cNvPr id="136" name="s136"/>
          <p:cNvSpPr/>
          <p:nvPr/>
        </p:nvSpPr>
        <p:spPr>
          <a:xfrm>
            <a:off x="508000" y="3479800"/>
            <a:ext cx="5461000" cy="22352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37" name="s137"/>
          <p:cNvSpPr/>
          <p:nvPr/>
        </p:nvSpPr>
        <p:spPr>
          <a:xfrm>
            <a:off x="508000" y="3479800"/>
            <a:ext cx="5461000" cy="355600"/>
          </a:xfrm>
          <a:prstGeom prst="rect">
            <a:avLst/>
          </a:prstGeom>
          <a:solidFill>
            <a:srgbClr val="0E8C9E"/>
          </a:solidFill>
          <a:ln>
            <a:noFill/>
          </a:ln>
        </p:spPr>
        <p:txBody>
          <a:bodyPr wrap="square" lIns="152400" tIns="76200" rIns="152400" bIns="76200" anchor="ctr">
            <a:noAutofit/>
          </a:bodyPr>
          <a:lstStyle/>
          <a:p>
            <a:pPr algn="l">
              <a:buNone/>
            </a:pPr>
            <a:r>
              <a:rPr lang="en-US" sz="1050" b="1" dirty="0">
                <a:solidFill>
                  <a:srgbClr val="FFFFFF"/>
                </a:solidFill>
              </a:rPr>
              <a:t>WHAT FEEDS THE CONSOLIDATION</a:t>
            </a:r>
          </a:p>
        </p:txBody>
      </p:sp>
      <p:sp>
        <p:nvSpPr>
          <p:cNvPr id="138" name="s138"/>
          <p:cNvSpPr/>
          <p:nvPr/>
        </p:nvSpPr>
        <p:spPr>
          <a:xfrm>
            <a:off x="508000" y="3886200"/>
            <a:ext cx="5461000" cy="1778000"/>
          </a:xfrm>
          <a:prstGeom prst="rect">
            <a:avLst/>
          </a:prstGeom>
          <a:noFill/>
          <a:ln>
            <a:noFill/>
          </a:ln>
        </p:spPr>
        <p:txBody>
          <a:bodyPr wrap="square" lIns="177800" tIns="76200" rIns="177800" bIns="76200" anchor="t">
            <a:noAutofit/>
          </a:bodyPr>
          <a:lstStyle/>
          <a:p>
            <a:pPr algn="l">
              <a:lnSpc>
                <a:spcPts val="1300"/>
              </a:lnSpc>
              <a:buNone/>
            </a:pPr>
            <a:r>
              <a:rPr lang="en-US" sz="1050" b="0" dirty="0">
                <a:solidFill>
                  <a:srgbClr val="16262E"/>
                </a:solidFill>
              </a:rPr>
              <a:t>›  Labor cost from the payroll register</a:t>
            </a:r>
          </a:p>
          <a:p>
            <a:pPr algn="l">
              <a:lnSpc>
                <a:spcPts val="1300"/>
              </a:lnSpc>
              <a:spcBef>
                <a:spcPts val="100"/>
              </a:spcBef>
              <a:buNone/>
            </a:pPr>
            <a:r>
              <a:rPr lang="en-US" sz="1050" b="0" dirty="0">
                <a:solidFill>
                  <a:srgbClr val="16262E"/>
                </a:solidFill>
              </a:rPr>
              <a:t>›  Materials and subcontracts from AP</a:t>
            </a:r>
          </a:p>
          <a:p>
            <a:pPr algn="l">
              <a:lnSpc>
                <a:spcPts val="1300"/>
              </a:lnSpc>
              <a:spcBef>
                <a:spcPts val="100"/>
              </a:spcBef>
              <a:buNone/>
            </a:pPr>
            <a:r>
              <a:rPr lang="en-US" sz="1050" b="0" dirty="0">
                <a:solidFill>
                  <a:srgbClr val="16262E"/>
                </a:solidFill>
              </a:rPr>
              <a:t>›  Site petty cash and revolving fund</a:t>
            </a:r>
          </a:p>
          <a:p>
            <a:pPr algn="l">
              <a:lnSpc>
                <a:spcPts val="1300"/>
              </a:lnSpc>
              <a:spcBef>
                <a:spcPts val="100"/>
              </a:spcBef>
              <a:buNone/>
            </a:pPr>
            <a:r>
              <a:rPr lang="en-US" sz="1050" b="0" dirty="0">
                <a:solidFill>
                  <a:srgbClr val="16262E"/>
                </a:solidFill>
              </a:rPr>
              <a:t>›  Utilities, rentals and permits</a:t>
            </a:r>
          </a:p>
          <a:p>
            <a:pPr algn="l">
              <a:lnSpc>
                <a:spcPts val="1300"/>
              </a:lnSpc>
              <a:spcBef>
                <a:spcPts val="100"/>
              </a:spcBef>
              <a:buNone/>
            </a:pPr>
            <a:r>
              <a:rPr lang="en-US" sz="1050" b="0" dirty="0">
                <a:solidFill>
                  <a:srgbClr val="16262E"/>
                </a:solidFill>
              </a:rPr>
              <a:t>›  Equipment fuel, repair and depreciation</a:t>
            </a:r>
          </a:p>
          <a:p>
            <a:pPr algn="l">
              <a:lnSpc>
                <a:spcPts val="1300"/>
              </a:lnSpc>
              <a:spcBef>
                <a:spcPts val="100"/>
              </a:spcBef>
              <a:buNone/>
            </a:pPr>
            <a:r>
              <a:rPr lang="en-US" sz="1050" b="0" dirty="0">
                <a:solidFill>
                  <a:srgbClr val="16262E"/>
                </a:solidFill>
              </a:rPr>
              <a:t>›  Insurance, bonds and IT services</a:t>
            </a:r>
          </a:p>
        </p:txBody>
      </p:sp>
      <p:sp>
        <p:nvSpPr>
          <p:cNvPr id="139" name="s139"/>
          <p:cNvSpPr/>
          <p:nvPr/>
        </p:nvSpPr>
        <p:spPr>
          <a:xfrm>
            <a:off x="6223000" y="3479800"/>
            <a:ext cx="5461000" cy="22352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40" name="s140"/>
          <p:cNvSpPr/>
          <p:nvPr/>
        </p:nvSpPr>
        <p:spPr>
          <a:xfrm>
            <a:off x="6223000" y="3479800"/>
            <a:ext cx="54610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WHAT THE CONSOLIDATION PRODUCES</a:t>
            </a:r>
          </a:p>
        </p:txBody>
      </p:sp>
      <p:sp>
        <p:nvSpPr>
          <p:cNvPr id="141" name="s141"/>
          <p:cNvSpPr/>
          <p:nvPr/>
        </p:nvSpPr>
        <p:spPr>
          <a:xfrm>
            <a:off x="6223000" y="3886200"/>
            <a:ext cx="5461000" cy="1778000"/>
          </a:xfrm>
          <a:prstGeom prst="rect">
            <a:avLst/>
          </a:prstGeom>
          <a:noFill/>
          <a:ln>
            <a:noFill/>
          </a:ln>
        </p:spPr>
        <p:txBody>
          <a:bodyPr wrap="square" lIns="177800" tIns="76200" rIns="177800" bIns="76200" anchor="t">
            <a:noAutofit/>
          </a:bodyPr>
          <a:lstStyle/>
          <a:p>
            <a:pPr algn="l">
              <a:lnSpc>
                <a:spcPts val="1300"/>
              </a:lnSpc>
              <a:buNone/>
            </a:pPr>
            <a:r>
              <a:rPr lang="en-US" sz="1050" b="0" dirty="0">
                <a:solidFill>
                  <a:srgbClr val="16262E"/>
                </a:solidFill>
              </a:rPr>
              <a:t>›  OPEX per project against budget</a:t>
            </a:r>
          </a:p>
          <a:p>
            <a:pPr algn="l">
              <a:lnSpc>
                <a:spcPts val="1300"/>
              </a:lnSpc>
              <a:spcBef>
                <a:spcPts val="100"/>
              </a:spcBef>
              <a:buNone/>
            </a:pPr>
            <a:r>
              <a:rPr lang="en-US" sz="1050" b="0" dirty="0">
                <a:solidFill>
                  <a:srgbClr val="16262E"/>
                </a:solidFill>
              </a:rPr>
              <a:t>›  Cost per unit of accomplishment</a:t>
            </a:r>
          </a:p>
          <a:p>
            <a:pPr algn="l">
              <a:lnSpc>
                <a:spcPts val="1300"/>
              </a:lnSpc>
              <a:spcBef>
                <a:spcPts val="100"/>
              </a:spcBef>
              <a:buNone/>
            </a:pPr>
            <a:r>
              <a:rPr lang="en-US" sz="1050" b="0" dirty="0">
                <a:solidFill>
                  <a:srgbClr val="16262E"/>
                </a:solidFill>
              </a:rPr>
              <a:t>›  Variance report by cost center</a:t>
            </a:r>
          </a:p>
          <a:p>
            <a:pPr algn="l">
              <a:lnSpc>
                <a:spcPts val="1300"/>
              </a:lnSpc>
              <a:spcBef>
                <a:spcPts val="100"/>
              </a:spcBef>
              <a:buNone/>
            </a:pPr>
            <a:r>
              <a:rPr lang="en-US" sz="1050" b="0" dirty="0">
                <a:solidFill>
                  <a:srgbClr val="16262E"/>
                </a:solidFill>
              </a:rPr>
              <a:t>›  Cash requirement for the next month</a:t>
            </a:r>
          </a:p>
          <a:p>
            <a:pPr algn="l">
              <a:lnSpc>
                <a:spcPts val="1300"/>
              </a:lnSpc>
              <a:spcBef>
                <a:spcPts val="100"/>
              </a:spcBef>
              <a:buNone/>
            </a:pPr>
            <a:r>
              <a:rPr lang="en-US" sz="1050" b="0" dirty="0">
                <a:solidFill>
                  <a:srgbClr val="16262E"/>
                </a:solidFill>
              </a:rPr>
              <a:t>›  Input to project profit and loss</a:t>
            </a:r>
          </a:p>
          <a:p>
            <a:pPr algn="l">
              <a:lnSpc>
                <a:spcPts val="1300"/>
              </a:lnSpc>
              <a:spcBef>
                <a:spcPts val="100"/>
              </a:spcBef>
              <a:buNone/>
            </a:pPr>
            <a:r>
              <a:rPr lang="en-US" sz="1050" b="0" dirty="0">
                <a:solidFill>
                  <a:srgbClr val="16262E"/>
                </a:solidFill>
              </a:rPr>
              <a:t>›  Forecast cost to completion</a:t>
            </a:r>
          </a:p>
        </p:txBody>
      </p:sp>
      <p:sp>
        <p:nvSpPr>
          <p:cNvPr id="142" name="s142"/>
          <p:cNvSpPr/>
          <p:nvPr/>
        </p:nvSpPr>
        <p:spPr>
          <a:xfrm>
            <a:off x="508000" y="5867400"/>
            <a:ext cx="11176000" cy="558800"/>
          </a:xfrm>
          <a:prstGeom prst="rect">
            <a:avLst/>
          </a:prstGeom>
          <a:solidFill>
            <a:srgbClr val="FDF3EC"/>
          </a:solidFill>
          <a:ln>
            <a:noFill/>
          </a:ln>
        </p:spPr>
        <p:txBody>
          <a:bodyPr wrap="square" lIns="177800" tIns="76200" rIns="177800" bIns="76200" anchor="ctr">
            <a:noAutofit/>
          </a:bodyPr>
          <a:lstStyle/>
          <a:p>
            <a:pPr algn="l">
              <a:lnSpc>
                <a:spcPts val="1300"/>
              </a:lnSpc>
              <a:buNone/>
            </a:pPr>
            <a:r>
              <a:rPr lang="en-US" sz="1050" b="0" dirty="0">
                <a:solidFill>
                  <a:srgbClr val="B3560F"/>
                </a:solidFill>
              </a:rPr>
              <a:t>Control: an expense with no receipt, no cost code, or no budget line is not booked — it is returned to the site the same day and cannot be charged to the project later.</a:t>
            </a:r>
          </a:p>
        </p:txBody>
      </p:sp>
    </p:spTree>
    <p:extLst>
      <p:ext uri="{BB962C8B-B14F-4D97-AF65-F5344CB8AC3E}">
        <p14:creationId xmlns:p14="http://schemas.microsoft.com/office/powerpoint/2010/main" val="1746657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3CD3C-B4EB-A1A0-BC22-5B64C4EACD2E}"/>
              </a:ext>
            </a:extLst>
          </p:cNvPr>
          <p:cNvSpPr>
            <a:spLocks noGrp="1"/>
          </p:cNvSpPr>
          <p:nvPr>
            <p:ph type="title"/>
          </p:nvPr>
        </p:nvSpPr>
        <p:spPr>
          <a:xfrm>
            <a:off x="508000" y="508000"/>
            <a:ext cx="11176000" cy="508000"/>
          </a:xfrm>
        </p:spPr>
        <p:txBody>
          <a:bodyPr>
            <a:normAutofit fontScale="90000"/>
          </a:bodyPr>
          <a:lstStyle/>
          <a:p>
            <a:pPr algn="l">
              <a:buNone/>
            </a:pPr>
            <a:r>
              <a:rPr lang="en-US" sz="2000" b="1" dirty="0">
                <a:solidFill>
                  <a:srgbClr val="12556B"/>
                </a:solidFill>
              </a:rPr>
              <a:t>Close-out is not finished at turnover — it ends when retention is collected and the books are closed</a:t>
            </a:r>
          </a:p>
        </p:txBody>
      </p:sp>
      <p:sp>
        <p:nvSpPr>
          <p:cNvPr id="101" name="s101"/>
          <p:cNvSpPr/>
          <p:nvPr/>
        </p:nvSpPr>
        <p:spPr>
          <a:xfrm>
            <a:off x="508000" y="254000"/>
            <a:ext cx="7620000" cy="254000"/>
          </a:xfrm>
          <a:prstGeom prst="rect">
            <a:avLst/>
          </a:prstGeom>
          <a:noFill/>
          <a:ln>
            <a:noFill/>
          </a:ln>
        </p:spPr>
        <p:txBody>
          <a:bodyPr wrap="square" lIns="0" tIns="76200" rIns="0" bIns="76200" anchor="ctr">
            <a:noAutofit/>
          </a:bodyPr>
          <a:lstStyle/>
          <a:p>
            <a:pPr algn="l">
              <a:buNone/>
            </a:pPr>
            <a:r>
              <a:rPr lang="en-US" sz="1100" b="1" dirty="0">
                <a:solidFill>
                  <a:srgbClr val="C8621B"/>
                </a:solidFill>
              </a:rPr>
              <a:t>PHASE 4 · POST-CONSTRUCTION</a:t>
            </a:r>
          </a:p>
        </p:txBody>
      </p:sp>
      <p:sp>
        <p:nvSpPr>
          <p:cNvPr id="102" name="s102"/>
          <p:cNvSpPr/>
          <p:nvPr/>
        </p:nvSpPr>
        <p:spPr>
          <a:xfrm>
            <a:off x="508000" y="1219200"/>
            <a:ext cx="3556000" cy="16002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3" name="s103"/>
          <p:cNvSpPr/>
          <p:nvPr/>
        </p:nvSpPr>
        <p:spPr>
          <a:xfrm>
            <a:off x="508000" y="1219200"/>
            <a:ext cx="3556000" cy="355600"/>
          </a:xfrm>
          <a:prstGeom prst="rect">
            <a:avLst/>
          </a:prstGeom>
          <a:solidFill>
            <a:srgbClr val="0B3A4A"/>
          </a:solidFill>
          <a:ln>
            <a:noFill/>
          </a:ln>
        </p:spPr>
        <p:txBody>
          <a:bodyPr wrap="square" lIns="152400" tIns="76200" rIns="152400" bIns="76200" anchor="ctr">
            <a:noAutofit/>
          </a:bodyPr>
          <a:lstStyle/>
          <a:p>
            <a:pPr algn="l">
              <a:buNone/>
            </a:pPr>
            <a:r>
              <a:rPr lang="en-US" sz="1050" b="1" dirty="0">
                <a:solidFill>
                  <a:srgbClr val="FFFFFF"/>
                </a:solidFill>
              </a:rPr>
              <a:t>1   SUBSTANTIAL COMPLETION</a:t>
            </a:r>
          </a:p>
        </p:txBody>
      </p:sp>
      <p:sp>
        <p:nvSpPr>
          <p:cNvPr id="104" name="s104"/>
          <p:cNvSpPr/>
          <p:nvPr/>
        </p:nvSpPr>
        <p:spPr>
          <a:xfrm>
            <a:off x="508000" y="1600200"/>
            <a:ext cx="3556000" cy="889000"/>
          </a:xfrm>
          <a:prstGeom prst="rect">
            <a:avLst/>
          </a:prstGeom>
          <a:noFill/>
          <a:ln>
            <a:noFill/>
          </a:ln>
        </p:spPr>
        <p:txBody>
          <a:bodyPr wrap="square" lIns="152400" tIns="76200" rIns="152400" bIns="76200" anchor="t">
            <a:noAutofit/>
          </a:bodyPr>
          <a:lstStyle/>
          <a:p>
            <a:pPr algn="l">
              <a:lnSpc>
                <a:spcPts val="1250"/>
              </a:lnSpc>
              <a:buNone/>
            </a:pPr>
            <a:r>
              <a:rPr lang="en-US" sz="1050" b="0" dirty="0">
                <a:solidFill>
                  <a:srgbClr val="16262E"/>
                </a:solidFill>
              </a:rPr>
              <a:t>›  Works reach 95% and the client inspects</a:t>
            </a:r>
          </a:p>
          <a:p>
            <a:pPr algn="l">
              <a:lnSpc>
                <a:spcPts val="1250"/>
              </a:lnSpc>
              <a:spcBef>
                <a:spcPts val="80"/>
              </a:spcBef>
              <a:buNone/>
            </a:pPr>
            <a:r>
              <a:rPr lang="en-US" sz="1050" b="0" dirty="0">
                <a:solidFill>
                  <a:srgbClr val="16262E"/>
                </a:solidFill>
              </a:rPr>
              <a:t>›  Punchlist issued and signed jointly</a:t>
            </a:r>
          </a:p>
        </p:txBody>
      </p:sp>
      <p:sp>
        <p:nvSpPr>
          <p:cNvPr id="105" name="s105"/>
          <p:cNvSpPr/>
          <p:nvPr/>
        </p:nvSpPr>
        <p:spPr>
          <a:xfrm>
            <a:off x="508000" y="2489200"/>
            <a:ext cx="3556000" cy="3048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Project Manager</a:t>
            </a:r>
          </a:p>
        </p:txBody>
      </p:sp>
      <p:sp>
        <p:nvSpPr>
          <p:cNvPr id="106" name="s106"/>
          <p:cNvSpPr/>
          <p:nvPr/>
        </p:nvSpPr>
        <p:spPr>
          <a:xfrm>
            <a:off x="4089400" y="1917700"/>
            <a:ext cx="203200" cy="203200"/>
          </a:xfrm>
          <a:prstGeom prst="rightArrow">
            <a:avLst/>
          </a:prstGeom>
          <a:solidFill>
            <a:srgbClr val="0B3A4A"/>
          </a:solidFill>
          <a:ln>
            <a:noFill/>
          </a:ln>
        </p:spPr>
        <p:txBody>
          <a:bodyPr wrap="square" lIns="127000" tIns="76200" rIns="127000" bIns="76200" anchor="ctr">
            <a:noAutofit/>
          </a:bodyPr>
          <a:lstStyle/>
          <a:p>
            <a:pPr>
              <a:buNone/>
            </a:pPr>
            <a:endParaRPr lang="en-US"/>
          </a:p>
        </p:txBody>
      </p:sp>
      <p:sp>
        <p:nvSpPr>
          <p:cNvPr id="107" name="s107"/>
          <p:cNvSpPr/>
          <p:nvPr/>
        </p:nvSpPr>
        <p:spPr>
          <a:xfrm>
            <a:off x="4318000" y="1219200"/>
            <a:ext cx="3556000" cy="16002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8" name="s108"/>
          <p:cNvSpPr/>
          <p:nvPr/>
        </p:nvSpPr>
        <p:spPr>
          <a:xfrm>
            <a:off x="4318000" y="1219200"/>
            <a:ext cx="3556000" cy="355600"/>
          </a:xfrm>
          <a:prstGeom prst="rect">
            <a:avLst/>
          </a:prstGeom>
          <a:solidFill>
            <a:srgbClr val="0B3A4A"/>
          </a:solidFill>
          <a:ln>
            <a:noFill/>
          </a:ln>
        </p:spPr>
        <p:txBody>
          <a:bodyPr wrap="square" lIns="152400" tIns="76200" rIns="152400" bIns="76200" anchor="ctr">
            <a:noAutofit/>
          </a:bodyPr>
          <a:lstStyle/>
          <a:p>
            <a:pPr algn="l">
              <a:buNone/>
            </a:pPr>
            <a:r>
              <a:rPr lang="en-US" sz="1050" b="1" dirty="0">
                <a:solidFill>
                  <a:srgbClr val="FFFFFF"/>
                </a:solidFill>
              </a:rPr>
              <a:t>2   PUNCHLIST CLEARING</a:t>
            </a:r>
          </a:p>
        </p:txBody>
      </p:sp>
      <p:sp>
        <p:nvSpPr>
          <p:cNvPr id="109" name="s109"/>
          <p:cNvSpPr/>
          <p:nvPr/>
        </p:nvSpPr>
        <p:spPr>
          <a:xfrm>
            <a:off x="4318000" y="1600200"/>
            <a:ext cx="3556000" cy="889000"/>
          </a:xfrm>
          <a:prstGeom prst="rect">
            <a:avLst/>
          </a:prstGeom>
          <a:noFill/>
          <a:ln>
            <a:noFill/>
          </a:ln>
        </p:spPr>
        <p:txBody>
          <a:bodyPr wrap="square" lIns="152400" tIns="76200" rIns="152400" bIns="76200" anchor="t">
            <a:noAutofit/>
          </a:bodyPr>
          <a:lstStyle/>
          <a:p>
            <a:pPr algn="l">
              <a:lnSpc>
                <a:spcPts val="1250"/>
              </a:lnSpc>
              <a:buNone/>
            </a:pPr>
            <a:r>
              <a:rPr lang="en-US" sz="1050" b="0" dirty="0">
                <a:solidFill>
                  <a:srgbClr val="16262E"/>
                </a:solidFill>
              </a:rPr>
              <a:t>›  Items closed and re-inspected item by item</a:t>
            </a:r>
          </a:p>
          <a:p>
            <a:pPr algn="l">
              <a:lnSpc>
                <a:spcPts val="1250"/>
              </a:lnSpc>
              <a:spcBef>
                <a:spcPts val="80"/>
              </a:spcBef>
              <a:buNone/>
            </a:pPr>
            <a:r>
              <a:rPr lang="en-US" sz="1050" b="0" dirty="0">
                <a:solidFill>
                  <a:srgbClr val="16262E"/>
                </a:solidFill>
              </a:rPr>
              <a:t>›  Subcontractor back-charges computed</a:t>
            </a:r>
          </a:p>
        </p:txBody>
      </p:sp>
      <p:sp>
        <p:nvSpPr>
          <p:cNvPr id="110" name="s110"/>
          <p:cNvSpPr/>
          <p:nvPr/>
        </p:nvSpPr>
        <p:spPr>
          <a:xfrm>
            <a:off x="4318000" y="2489200"/>
            <a:ext cx="3556000" cy="3048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Site / QC</a:t>
            </a:r>
          </a:p>
        </p:txBody>
      </p:sp>
      <p:sp>
        <p:nvSpPr>
          <p:cNvPr id="111" name="s111"/>
          <p:cNvSpPr/>
          <p:nvPr/>
        </p:nvSpPr>
        <p:spPr>
          <a:xfrm>
            <a:off x="7899400" y="1917700"/>
            <a:ext cx="203200" cy="203200"/>
          </a:xfrm>
          <a:prstGeom prst="rightArrow">
            <a:avLst/>
          </a:prstGeom>
          <a:solidFill>
            <a:srgbClr val="0B3A4A"/>
          </a:solidFill>
          <a:ln>
            <a:noFill/>
          </a:ln>
        </p:spPr>
        <p:txBody>
          <a:bodyPr wrap="square" lIns="127000" tIns="76200" rIns="127000" bIns="76200" anchor="ctr">
            <a:noAutofit/>
          </a:bodyPr>
          <a:lstStyle/>
          <a:p>
            <a:pPr>
              <a:buNone/>
            </a:pPr>
            <a:endParaRPr lang="en-US"/>
          </a:p>
        </p:txBody>
      </p:sp>
      <p:sp>
        <p:nvSpPr>
          <p:cNvPr id="112" name="s112"/>
          <p:cNvSpPr/>
          <p:nvPr/>
        </p:nvSpPr>
        <p:spPr>
          <a:xfrm>
            <a:off x="8128000" y="1219200"/>
            <a:ext cx="3556000" cy="16002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3" name="s113"/>
          <p:cNvSpPr/>
          <p:nvPr/>
        </p:nvSpPr>
        <p:spPr>
          <a:xfrm>
            <a:off x="8128000" y="1219200"/>
            <a:ext cx="3556000" cy="355600"/>
          </a:xfrm>
          <a:prstGeom prst="rect">
            <a:avLst/>
          </a:prstGeom>
          <a:solidFill>
            <a:srgbClr val="0B3A4A"/>
          </a:solidFill>
          <a:ln>
            <a:noFill/>
          </a:ln>
        </p:spPr>
        <p:txBody>
          <a:bodyPr wrap="square" lIns="152400" tIns="76200" rIns="152400" bIns="76200" anchor="ctr">
            <a:noAutofit/>
          </a:bodyPr>
          <a:lstStyle/>
          <a:p>
            <a:pPr algn="l">
              <a:buNone/>
            </a:pPr>
            <a:r>
              <a:rPr lang="en-US" sz="1050" b="1" dirty="0">
                <a:solidFill>
                  <a:srgbClr val="FFFFFF"/>
                </a:solidFill>
              </a:rPr>
              <a:t>3   TURNOVER AND ACCEPTANCE</a:t>
            </a:r>
          </a:p>
        </p:txBody>
      </p:sp>
      <p:sp>
        <p:nvSpPr>
          <p:cNvPr id="114" name="s114"/>
          <p:cNvSpPr/>
          <p:nvPr/>
        </p:nvSpPr>
        <p:spPr>
          <a:xfrm>
            <a:off x="8128000" y="1600200"/>
            <a:ext cx="3556000" cy="889000"/>
          </a:xfrm>
          <a:prstGeom prst="rect">
            <a:avLst/>
          </a:prstGeom>
          <a:noFill/>
          <a:ln>
            <a:noFill/>
          </a:ln>
        </p:spPr>
        <p:txBody>
          <a:bodyPr wrap="square" lIns="152400" tIns="76200" rIns="152400" bIns="76200" anchor="t">
            <a:noAutofit/>
          </a:bodyPr>
          <a:lstStyle/>
          <a:p>
            <a:pPr algn="l">
              <a:lnSpc>
                <a:spcPts val="1250"/>
              </a:lnSpc>
              <a:buNone/>
            </a:pPr>
            <a:r>
              <a:rPr lang="en-US" sz="1050" b="0" dirty="0">
                <a:solidFill>
                  <a:srgbClr val="16262E"/>
                </a:solidFill>
              </a:rPr>
              <a:t>›  As-built drawings, manuals and warranties handed over</a:t>
            </a:r>
          </a:p>
          <a:p>
            <a:pPr algn="l">
              <a:lnSpc>
                <a:spcPts val="1250"/>
              </a:lnSpc>
              <a:spcBef>
                <a:spcPts val="80"/>
              </a:spcBef>
              <a:buNone/>
            </a:pPr>
            <a:r>
              <a:rPr lang="en-US" sz="1050" b="0" dirty="0">
                <a:solidFill>
                  <a:srgbClr val="16262E"/>
                </a:solidFill>
              </a:rPr>
              <a:t>›  Certificate of completion and acceptance signed</a:t>
            </a:r>
          </a:p>
        </p:txBody>
      </p:sp>
      <p:sp>
        <p:nvSpPr>
          <p:cNvPr id="115" name="s115"/>
          <p:cNvSpPr/>
          <p:nvPr/>
        </p:nvSpPr>
        <p:spPr>
          <a:xfrm>
            <a:off x="8128000" y="2489200"/>
            <a:ext cx="3556000" cy="3048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PMO / Client</a:t>
            </a:r>
          </a:p>
        </p:txBody>
      </p:sp>
      <p:sp>
        <p:nvSpPr>
          <p:cNvPr id="116" name="s116"/>
          <p:cNvSpPr/>
          <p:nvPr/>
        </p:nvSpPr>
        <p:spPr>
          <a:xfrm>
            <a:off x="508000" y="3098800"/>
            <a:ext cx="3556000" cy="16002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17" name="s117"/>
          <p:cNvSpPr/>
          <p:nvPr/>
        </p:nvSpPr>
        <p:spPr>
          <a:xfrm>
            <a:off x="508000" y="3098800"/>
            <a:ext cx="3556000" cy="355600"/>
          </a:xfrm>
          <a:prstGeom prst="rect">
            <a:avLst/>
          </a:prstGeom>
          <a:solidFill>
            <a:srgbClr val="0B3A4A"/>
          </a:solidFill>
          <a:ln>
            <a:noFill/>
          </a:ln>
        </p:spPr>
        <p:txBody>
          <a:bodyPr wrap="square" lIns="152400" tIns="76200" rIns="152400" bIns="76200" anchor="ctr">
            <a:noAutofit/>
          </a:bodyPr>
          <a:lstStyle/>
          <a:p>
            <a:pPr algn="l">
              <a:buNone/>
            </a:pPr>
            <a:r>
              <a:rPr lang="en-US" sz="1050" b="1" dirty="0">
                <a:solidFill>
                  <a:srgbClr val="FFFFFF"/>
                </a:solidFill>
              </a:rPr>
              <a:t>4   FINAL BILLING</a:t>
            </a:r>
          </a:p>
        </p:txBody>
      </p:sp>
      <p:sp>
        <p:nvSpPr>
          <p:cNvPr id="118" name="s118"/>
          <p:cNvSpPr/>
          <p:nvPr/>
        </p:nvSpPr>
        <p:spPr>
          <a:xfrm>
            <a:off x="508000" y="3479800"/>
            <a:ext cx="3556000" cy="889000"/>
          </a:xfrm>
          <a:prstGeom prst="rect">
            <a:avLst/>
          </a:prstGeom>
          <a:noFill/>
          <a:ln>
            <a:noFill/>
          </a:ln>
        </p:spPr>
        <p:txBody>
          <a:bodyPr wrap="square" lIns="152400" tIns="76200" rIns="152400" bIns="76200" anchor="t">
            <a:noAutofit/>
          </a:bodyPr>
          <a:lstStyle/>
          <a:p>
            <a:pPr algn="l">
              <a:lnSpc>
                <a:spcPts val="1250"/>
              </a:lnSpc>
              <a:buNone/>
            </a:pPr>
            <a:r>
              <a:rPr lang="en-US" sz="1050" b="0" dirty="0">
                <a:solidFill>
                  <a:srgbClr val="16262E"/>
                </a:solidFill>
              </a:rPr>
              <a:t>›  100% billing with the final accomplishment</a:t>
            </a:r>
          </a:p>
          <a:p>
            <a:pPr algn="l">
              <a:lnSpc>
                <a:spcPts val="1250"/>
              </a:lnSpc>
              <a:spcBef>
                <a:spcPts val="80"/>
              </a:spcBef>
              <a:buNone/>
            </a:pPr>
            <a:r>
              <a:rPr lang="en-US" sz="1050" b="0" dirty="0">
                <a:solidFill>
                  <a:srgbClr val="16262E"/>
                </a:solidFill>
              </a:rPr>
              <a:t>›  Deductions and back-charges applied before invoice</a:t>
            </a:r>
          </a:p>
        </p:txBody>
      </p:sp>
      <p:sp>
        <p:nvSpPr>
          <p:cNvPr id="119" name="s119"/>
          <p:cNvSpPr/>
          <p:nvPr/>
        </p:nvSpPr>
        <p:spPr>
          <a:xfrm>
            <a:off x="508000" y="4368800"/>
            <a:ext cx="3556000" cy="3048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QS / Finance</a:t>
            </a:r>
          </a:p>
        </p:txBody>
      </p:sp>
      <p:sp>
        <p:nvSpPr>
          <p:cNvPr id="120" name="s120"/>
          <p:cNvSpPr/>
          <p:nvPr/>
        </p:nvSpPr>
        <p:spPr>
          <a:xfrm>
            <a:off x="4089400" y="3797300"/>
            <a:ext cx="203200" cy="203200"/>
          </a:xfrm>
          <a:prstGeom prst="rightArrow">
            <a:avLst/>
          </a:prstGeom>
          <a:solidFill>
            <a:srgbClr val="0B3A4A"/>
          </a:solidFill>
          <a:ln>
            <a:noFill/>
          </a:ln>
        </p:spPr>
        <p:txBody>
          <a:bodyPr wrap="square" lIns="127000" tIns="76200" rIns="127000" bIns="76200" anchor="ctr">
            <a:noAutofit/>
          </a:bodyPr>
          <a:lstStyle/>
          <a:p>
            <a:pPr>
              <a:buNone/>
            </a:pPr>
            <a:endParaRPr lang="en-US"/>
          </a:p>
        </p:txBody>
      </p:sp>
      <p:sp>
        <p:nvSpPr>
          <p:cNvPr id="121" name="s121"/>
          <p:cNvSpPr/>
          <p:nvPr/>
        </p:nvSpPr>
        <p:spPr>
          <a:xfrm>
            <a:off x="4318000" y="3098800"/>
            <a:ext cx="3556000" cy="16002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22" name="s122"/>
          <p:cNvSpPr/>
          <p:nvPr/>
        </p:nvSpPr>
        <p:spPr>
          <a:xfrm>
            <a:off x="4318000" y="3098800"/>
            <a:ext cx="3556000" cy="355600"/>
          </a:xfrm>
          <a:prstGeom prst="rect">
            <a:avLst/>
          </a:prstGeom>
          <a:solidFill>
            <a:srgbClr val="0B3A4A"/>
          </a:solidFill>
          <a:ln>
            <a:noFill/>
          </a:ln>
        </p:spPr>
        <p:txBody>
          <a:bodyPr wrap="square" lIns="152400" tIns="76200" rIns="152400" bIns="76200" anchor="ctr">
            <a:noAutofit/>
          </a:bodyPr>
          <a:lstStyle/>
          <a:p>
            <a:pPr algn="l">
              <a:buNone/>
            </a:pPr>
            <a:r>
              <a:rPr lang="en-US" sz="1050" b="1" dirty="0">
                <a:solidFill>
                  <a:srgbClr val="FFFFFF"/>
                </a:solidFill>
              </a:rPr>
              <a:t>5   DEMOBILIZATION</a:t>
            </a:r>
          </a:p>
        </p:txBody>
      </p:sp>
      <p:sp>
        <p:nvSpPr>
          <p:cNvPr id="123" name="s123"/>
          <p:cNvSpPr/>
          <p:nvPr/>
        </p:nvSpPr>
        <p:spPr>
          <a:xfrm>
            <a:off x="4318000" y="3479800"/>
            <a:ext cx="3556000" cy="889000"/>
          </a:xfrm>
          <a:prstGeom prst="rect">
            <a:avLst/>
          </a:prstGeom>
          <a:noFill/>
          <a:ln>
            <a:noFill/>
          </a:ln>
        </p:spPr>
        <p:txBody>
          <a:bodyPr wrap="square" lIns="152400" tIns="76200" rIns="152400" bIns="76200" anchor="t">
            <a:noAutofit/>
          </a:bodyPr>
          <a:lstStyle/>
          <a:p>
            <a:pPr algn="l">
              <a:lnSpc>
                <a:spcPts val="1250"/>
              </a:lnSpc>
              <a:buNone/>
            </a:pPr>
            <a:r>
              <a:rPr lang="en-US" sz="1050" b="0" dirty="0">
                <a:solidFill>
                  <a:srgbClr val="16262E"/>
                </a:solidFill>
              </a:rPr>
              <a:t>›  Manpower cleared and final pay released</a:t>
            </a:r>
          </a:p>
          <a:p>
            <a:pPr algn="l">
              <a:lnSpc>
                <a:spcPts val="1250"/>
              </a:lnSpc>
              <a:spcBef>
                <a:spcPts val="80"/>
              </a:spcBef>
              <a:buNone/>
            </a:pPr>
            <a:r>
              <a:rPr lang="en-US" sz="1050" b="0" dirty="0">
                <a:solidFill>
                  <a:srgbClr val="16262E"/>
                </a:solidFill>
              </a:rPr>
              <a:t>›  Equipment, tools and IT assets returned and logged</a:t>
            </a:r>
          </a:p>
        </p:txBody>
      </p:sp>
      <p:sp>
        <p:nvSpPr>
          <p:cNvPr id="124" name="s124"/>
          <p:cNvSpPr/>
          <p:nvPr/>
        </p:nvSpPr>
        <p:spPr>
          <a:xfrm>
            <a:off x="4318000" y="4368800"/>
            <a:ext cx="3556000" cy="3048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HR / Operations</a:t>
            </a:r>
          </a:p>
        </p:txBody>
      </p:sp>
      <p:sp>
        <p:nvSpPr>
          <p:cNvPr id="125" name="s125"/>
          <p:cNvSpPr/>
          <p:nvPr/>
        </p:nvSpPr>
        <p:spPr>
          <a:xfrm>
            <a:off x="7899400" y="3797300"/>
            <a:ext cx="203200" cy="203200"/>
          </a:xfrm>
          <a:prstGeom prst="rightArrow">
            <a:avLst/>
          </a:prstGeom>
          <a:solidFill>
            <a:srgbClr val="0B3A4A"/>
          </a:solidFill>
          <a:ln>
            <a:noFill/>
          </a:ln>
        </p:spPr>
        <p:txBody>
          <a:bodyPr wrap="square" lIns="127000" tIns="76200" rIns="127000" bIns="76200" anchor="ctr">
            <a:noAutofit/>
          </a:bodyPr>
          <a:lstStyle/>
          <a:p>
            <a:pPr>
              <a:buNone/>
            </a:pPr>
            <a:endParaRPr lang="en-US"/>
          </a:p>
        </p:txBody>
      </p:sp>
      <p:sp>
        <p:nvSpPr>
          <p:cNvPr id="126" name="s126"/>
          <p:cNvSpPr/>
          <p:nvPr/>
        </p:nvSpPr>
        <p:spPr>
          <a:xfrm>
            <a:off x="8128000" y="3098800"/>
            <a:ext cx="3556000" cy="16002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27" name="s127"/>
          <p:cNvSpPr/>
          <p:nvPr/>
        </p:nvSpPr>
        <p:spPr>
          <a:xfrm>
            <a:off x="8128000" y="3098800"/>
            <a:ext cx="3556000" cy="355600"/>
          </a:xfrm>
          <a:prstGeom prst="rect">
            <a:avLst/>
          </a:prstGeom>
          <a:solidFill>
            <a:srgbClr val="0B3A4A"/>
          </a:solidFill>
          <a:ln>
            <a:noFill/>
          </a:ln>
        </p:spPr>
        <p:txBody>
          <a:bodyPr wrap="square" lIns="152400" tIns="76200" rIns="152400" bIns="76200" anchor="ctr">
            <a:noAutofit/>
          </a:bodyPr>
          <a:lstStyle/>
          <a:p>
            <a:pPr algn="l">
              <a:buNone/>
            </a:pPr>
            <a:r>
              <a:rPr lang="en-US" sz="1050" b="1" dirty="0">
                <a:solidFill>
                  <a:srgbClr val="FFFFFF"/>
                </a:solidFill>
              </a:rPr>
              <a:t>6   PROJECT CLOSE-OUT</a:t>
            </a:r>
          </a:p>
        </p:txBody>
      </p:sp>
      <p:sp>
        <p:nvSpPr>
          <p:cNvPr id="128" name="s128"/>
          <p:cNvSpPr/>
          <p:nvPr/>
        </p:nvSpPr>
        <p:spPr>
          <a:xfrm>
            <a:off x="8128000" y="3479800"/>
            <a:ext cx="3556000" cy="889000"/>
          </a:xfrm>
          <a:prstGeom prst="rect">
            <a:avLst/>
          </a:prstGeom>
          <a:noFill/>
          <a:ln>
            <a:noFill/>
          </a:ln>
        </p:spPr>
        <p:txBody>
          <a:bodyPr wrap="square" lIns="152400" tIns="76200" rIns="152400" bIns="76200" anchor="t">
            <a:noAutofit/>
          </a:bodyPr>
          <a:lstStyle/>
          <a:p>
            <a:pPr algn="l">
              <a:lnSpc>
                <a:spcPts val="1250"/>
              </a:lnSpc>
              <a:buNone/>
            </a:pPr>
            <a:r>
              <a:rPr lang="en-US" sz="1050" b="0" dirty="0">
                <a:solidFill>
                  <a:srgbClr val="16262E"/>
                </a:solidFill>
              </a:rPr>
              <a:t>›  Retention collected after the defects liability period</a:t>
            </a:r>
          </a:p>
          <a:p>
            <a:pPr algn="l">
              <a:lnSpc>
                <a:spcPts val="1250"/>
              </a:lnSpc>
              <a:spcBef>
                <a:spcPts val="80"/>
              </a:spcBef>
              <a:buNone/>
            </a:pPr>
            <a:r>
              <a:rPr lang="en-US" sz="1050" b="0" dirty="0">
                <a:solidFill>
                  <a:srgbClr val="16262E"/>
                </a:solidFill>
              </a:rPr>
              <a:t>›  Final project profit and loss issued; scorecards filed</a:t>
            </a:r>
          </a:p>
        </p:txBody>
      </p:sp>
      <p:sp>
        <p:nvSpPr>
          <p:cNvPr id="129" name="s129"/>
          <p:cNvSpPr/>
          <p:nvPr/>
        </p:nvSpPr>
        <p:spPr>
          <a:xfrm>
            <a:off x="8128000" y="4368800"/>
            <a:ext cx="3556000" cy="304800"/>
          </a:xfrm>
          <a:prstGeom prst="rect">
            <a:avLst/>
          </a:prstGeom>
          <a:noFill/>
          <a:ln>
            <a:noFill/>
          </a:ln>
        </p:spPr>
        <p:txBody>
          <a:bodyPr wrap="square" lIns="152400" tIns="0" rIns="152400" bIns="0" anchor="ctr">
            <a:noAutofit/>
          </a:bodyPr>
          <a:lstStyle/>
          <a:p>
            <a:pPr algn="l">
              <a:buNone/>
            </a:pPr>
            <a:r>
              <a:rPr lang="en-US" sz="1000" b="0" dirty="0">
                <a:solidFill>
                  <a:srgbClr val="46565E"/>
                </a:solidFill>
              </a:rPr>
              <a:t>Accounting / PMO</a:t>
            </a:r>
          </a:p>
        </p:txBody>
      </p:sp>
      <p:sp>
        <p:nvSpPr>
          <p:cNvPr id="130" name="s130"/>
          <p:cNvSpPr/>
          <p:nvPr/>
        </p:nvSpPr>
        <p:spPr>
          <a:xfrm>
            <a:off x="9880600" y="2819400"/>
            <a:ext cx="38100" cy="114300"/>
          </a:xfrm>
          <a:prstGeom prst="rect">
            <a:avLst/>
          </a:prstGeom>
          <a:solidFill>
            <a:srgbClr val="0B3A4A"/>
          </a:solidFill>
          <a:ln>
            <a:noFill/>
          </a:ln>
        </p:spPr>
        <p:txBody>
          <a:bodyPr wrap="square" lIns="127000" tIns="76200" rIns="127000" bIns="76200" anchor="ctr">
            <a:noAutofit/>
          </a:bodyPr>
          <a:lstStyle/>
          <a:p>
            <a:pPr>
              <a:buNone/>
            </a:pPr>
            <a:endParaRPr lang="en-US"/>
          </a:p>
        </p:txBody>
      </p:sp>
      <p:sp>
        <p:nvSpPr>
          <p:cNvPr id="131" name="s131"/>
          <p:cNvSpPr/>
          <p:nvPr/>
        </p:nvSpPr>
        <p:spPr>
          <a:xfrm>
            <a:off x="2286000" y="2908300"/>
            <a:ext cx="7632700" cy="38100"/>
          </a:xfrm>
          <a:prstGeom prst="rect">
            <a:avLst/>
          </a:prstGeom>
          <a:solidFill>
            <a:srgbClr val="0B3A4A"/>
          </a:solidFill>
          <a:ln>
            <a:noFill/>
          </a:ln>
        </p:spPr>
        <p:txBody>
          <a:bodyPr wrap="square" lIns="127000" tIns="76200" rIns="127000" bIns="76200" anchor="ctr">
            <a:noAutofit/>
          </a:bodyPr>
          <a:lstStyle/>
          <a:p>
            <a:pPr>
              <a:buNone/>
            </a:pPr>
            <a:endParaRPr lang="en-US"/>
          </a:p>
        </p:txBody>
      </p:sp>
      <p:sp>
        <p:nvSpPr>
          <p:cNvPr id="132" name="s132"/>
          <p:cNvSpPr/>
          <p:nvPr/>
        </p:nvSpPr>
        <p:spPr>
          <a:xfrm>
            <a:off x="2184400" y="2819400"/>
            <a:ext cx="203200" cy="177800"/>
          </a:xfrm>
          <a:prstGeom prst="downArrow">
            <a:avLst/>
          </a:prstGeom>
          <a:solidFill>
            <a:srgbClr val="0B3A4A"/>
          </a:solidFill>
          <a:ln>
            <a:noFill/>
          </a:ln>
        </p:spPr>
        <p:txBody>
          <a:bodyPr wrap="square" lIns="127000" tIns="76200" rIns="127000" bIns="76200" anchor="ctr">
            <a:noAutofit/>
          </a:bodyPr>
          <a:lstStyle/>
          <a:p>
            <a:pPr>
              <a:buNone/>
            </a:pPr>
            <a:endParaRPr lang="en-US"/>
          </a:p>
        </p:txBody>
      </p:sp>
      <p:sp>
        <p:nvSpPr>
          <p:cNvPr id="133" name="s133"/>
          <p:cNvSpPr/>
          <p:nvPr/>
        </p:nvSpPr>
        <p:spPr>
          <a:xfrm>
            <a:off x="508000" y="4902200"/>
            <a:ext cx="3556000" cy="1346200"/>
          </a:xfrm>
          <a:prstGeom prst="rect">
            <a:avLst/>
          </a:prstGeom>
          <a:solidFill>
            <a:srgbClr val="F7F9FA"/>
          </a:solidFill>
          <a:ln w="12700">
            <a:solidFill>
              <a:srgbClr val="DCE4E8"/>
            </a:solidFill>
          </a:ln>
        </p:spPr>
        <p:txBody>
          <a:bodyPr wrap="square" lIns="127000" tIns="76200" rIns="127000" bIns="76200" anchor="ctr">
            <a:noAutofit/>
          </a:bodyPr>
          <a:lstStyle/>
          <a:p>
            <a:pPr>
              <a:buNone/>
            </a:pPr>
            <a:endParaRPr lang="en-US"/>
          </a:p>
        </p:txBody>
      </p:sp>
      <p:sp>
        <p:nvSpPr>
          <p:cNvPr id="134" name="s134"/>
          <p:cNvSpPr/>
          <p:nvPr/>
        </p:nvSpPr>
        <p:spPr>
          <a:xfrm>
            <a:off x="508000" y="4902200"/>
            <a:ext cx="50800" cy="1346200"/>
          </a:xfrm>
          <a:prstGeom prst="rect">
            <a:avLst/>
          </a:prstGeom>
          <a:solidFill>
            <a:srgbClr val="0E8C9E"/>
          </a:solidFill>
          <a:ln>
            <a:noFill/>
          </a:ln>
        </p:spPr>
        <p:txBody>
          <a:bodyPr wrap="square" lIns="127000" tIns="76200" rIns="127000" bIns="76200" anchor="ctr">
            <a:noAutofit/>
          </a:bodyPr>
          <a:lstStyle/>
          <a:p>
            <a:pPr>
              <a:buNone/>
            </a:pPr>
            <a:endParaRPr lang="en-US"/>
          </a:p>
        </p:txBody>
      </p:sp>
      <p:sp>
        <p:nvSpPr>
          <p:cNvPr id="135" name="s135"/>
          <p:cNvSpPr/>
          <p:nvPr/>
        </p:nvSpPr>
        <p:spPr>
          <a:xfrm>
            <a:off x="508000" y="4902200"/>
            <a:ext cx="3556000" cy="1346200"/>
          </a:xfrm>
          <a:prstGeom prst="rect">
            <a:avLst/>
          </a:prstGeom>
          <a:noFill/>
          <a:ln>
            <a:noFill/>
          </a:ln>
        </p:spPr>
        <p:txBody>
          <a:bodyPr wrap="square" lIns="203200" tIns="127000" rIns="203200" bIns="127000" anchor="t">
            <a:noAutofit/>
          </a:bodyPr>
          <a:lstStyle/>
          <a:p>
            <a:pPr algn="l">
              <a:buNone/>
            </a:pPr>
            <a:r>
              <a:rPr lang="en-US" sz="1050" b="1" dirty="0">
                <a:solidFill>
                  <a:srgbClr val="0E8C9E"/>
                </a:solidFill>
              </a:rPr>
              <a:t>DOCUMENTS TO CLOSE</a:t>
            </a:r>
          </a:p>
          <a:p>
            <a:pPr algn="l">
              <a:lnSpc>
                <a:spcPts val="1250"/>
              </a:lnSpc>
              <a:spcBef>
                <a:spcPts val="80"/>
              </a:spcBef>
              <a:buNone/>
            </a:pPr>
            <a:r>
              <a:rPr lang="en-US" sz="1000" b="0" dirty="0">
                <a:solidFill>
                  <a:srgbClr val="16262E"/>
                </a:solidFill>
              </a:rPr>
              <a:t>›  As-built drawings and manuals</a:t>
            </a:r>
          </a:p>
          <a:p>
            <a:pPr algn="l">
              <a:lnSpc>
                <a:spcPts val="1250"/>
              </a:lnSpc>
              <a:spcBef>
                <a:spcPts val="80"/>
              </a:spcBef>
              <a:buNone/>
            </a:pPr>
            <a:r>
              <a:rPr lang="en-US" sz="1000" b="0" dirty="0">
                <a:solidFill>
                  <a:srgbClr val="16262E"/>
                </a:solidFill>
              </a:rPr>
              <a:t>›  Certificate of completion</a:t>
            </a:r>
          </a:p>
          <a:p>
            <a:pPr algn="l">
              <a:lnSpc>
                <a:spcPts val="1250"/>
              </a:lnSpc>
              <a:spcBef>
                <a:spcPts val="80"/>
              </a:spcBef>
              <a:buNone/>
            </a:pPr>
            <a:r>
              <a:rPr lang="en-US" sz="1000" b="0" dirty="0">
                <a:solidFill>
                  <a:srgbClr val="16262E"/>
                </a:solidFill>
              </a:rPr>
              <a:t>›  Warranty certificates and permits</a:t>
            </a:r>
          </a:p>
        </p:txBody>
      </p:sp>
      <p:sp>
        <p:nvSpPr>
          <p:cNvPr id="136" name="s136"/>
          <p:cNvSpPr/>
          <p:nvPr/>
        </p:nvSpPr>
        <p:spPr>
          <a:xfrm>
            <a:off x="4318000" y="4902200"/>
            <a:ext cx="3556000" cy="1346200"/>
          </a:xfrm>
          <a:prstGeom prst="rect">
            <a:avLst/>
          </a:prstGeom>
          <a:solidFill>
            <a:srgbClr val="F7F9FA"/>
          </a:solidFill>
          <a:ln w="12700">
            <a:solidFill>
              <a:srgbClr val="DCE4E8"/>
            </a:solidFill>
          </a:ln>
        </p:spPr>
        <p:txBody>
          <a:bodyPr wrap="square" lIns="127000" tIns="76200" rIns="127000" bIns="76200" anchor="ctr">
            <a:noAutofit/>
          </a:bodyPr>
          <a:lstStyle/>
          <a:p>
            <a:pPr>
              <a:buNone/>
            </a:pPr>
            <a:endParaRPr lang="en-US"/>
          </a:p>
        </p:txBody>
      </p:sp>
      <p:sp>
        <p:nvSpPr>
          <p:cNvPr id="137" name="s137"/>
          <p:cNvSpPr/>
          <p:nvPr/>
        </p:nvSpPr>
        <p:spPr>
          <a:xfrm>
            <a:off x="4318000" y="4902200"/>
            <a:ext cx="50800" cy="1346200"/>
          </a:xfrm>
          <a:prstGeom prst="rect">
            <a:avLst/>
          </a:prstGeom>
          <a:solidFill>
            <a:srgbClr val="12556B"/>
          </a:solidFill>
          <a:ln>
            <a:noFill/>
          </a:ln>
        </p:spPr>
        <p:txBody>
          <a:bodyPr wrap="square" lIns="127000" tIns="76200" rIns="127000" bIns="76200" anchor="ctr">
            <a:noAutofit/>
          </a:bodyPr>
          <a:lstStyle/>
          <a:p>
            <a:pPr>
              <a:buNone/>
            </a:pPr>
            <a:endParaRPr lang="en-US"/>
          </a:p>
        </p:txBody>
      </p:sp>
      <p:sp>
        <p:nvSpPr>
          <p:cNvPr id="138" name="s138"/>
          <p:cNvSpPr/>
          <p:nvPr/>
        </p:nvSpPr>
        <p:spPr>
          <a:xfrm>
            <a:off x="4318000" y="4902200"/>
            <a:ext cx="3556000" cy="1346200"/>
          </a:xfrm>
          <a:prstGeom prst="rect">
            <a:avLst/>
          </a:prstGeom>
          <a:noFill/>
          <a:ln>
            <a:noFill/>
          </a:ln>
        </p:spPr>
        <p:txBody>
          <a:bodyPr wrap="square" lIns="203200" tIns="127000" rIns="203200" bIns="127000" anchor="t">
            <a:noAutofit/>
          </a:bodyPr>
          <a:lstStyle/>
          <a:p>
            <a:pPr algn="l">
              <a:buNone/>
            </a:pPr>
            <a:r>
              <a:rPr lang="en-US" sz="1050" b="1" dirty="0">
                <a:solidFill>
                  <a:srgbClr val="12556B"/>
                </a:solidFill>
              </a:rPr>
              <a:t>FINANCIAL CLOSE</a:t>
            </a:r>
          </a:p>
          <a:p>
            <a:pPr algn="l">
              <a:lnSpc>
                <a:spcPts val="1250"/>
              </a:lnSpc>
              <a:spcBef>
                <a:spcPts val="80"/>
              </a:spcBef>
              <a:buNone/>
            </a:pPr>
            <a:r>
              <a:rPr lang="en-US" sz="1000" b="0" dirty="0">
                <a:solidFill>
                  <a:srgbClr val="16262E"/>
                </a:solidFill>
              </a:rPr>
              <a:t>›  Final billing and collection</a:t>
            </a:r>
          </a:p>
          <a:p>
            <a:pPr algn="l">
              <a:lnSpc>
                <a:spcPts val="1250"/>
              </a:lnSpc>
              <a:spcBef>
                <a:spcPts val="80"/>
              </a:spcBef>
              <a:buNone/>
            </a:pPr>
            <a:r>
              <a:rPr lang="en-US" sz="1000" b="0" dirty="0">
                <a:solidFill>
                  <a:srgbClr val="16262E"/>
                </a:solidFill>
              </a:rPr>
              <a:t>›  Retention release</a:t>
            </a:r>
          </a:p>
          <a:p>
            <a:pPr algn="l">
              <a:lnSpc>
                <a:spcPts val="1250"/>
              </a:lnSpc>
              <a:spcBef>
                <a:spcPts val="80"/>
              </a:spcBef>
              <a:buNone/>
            </a:pPr>
            <a:r>
              <a:rPr lang="en-US" sz="1000" b="0" dirty="0">
                <a:solidFill>
                  <a:srgbClr val="16262E"/>
                </a:solidFill>
              </a:rPr>
              <a:t>›  Final project profit and loss</a:t>
            </a:r>
          </a:p>
        </p:txBody>
      </p:sp>
      <p:sp>
        <p:nvSpPr>
          <p:cNvPr id="139" name="s139"/>
          <p:cNvSpPr/>
          <p:nvPr/>
        </p:nvSpPr>
        <p:spPr>
          <a:xfrm>
            <a:off x="8128000" y="4902200"/>
            <a:ext cx="3556000" cy="1346200"/>
          </a:xfrm>
          <a:prstGeom prst="rect">
            <a:avLst/>
          </a:prstGeom>
          <a:solidFill>
            <a:srgbClr val="F7F9FA"/>
          </a:solidFill>
          <a:ln w="12700">
            <a:solidFill>
              <a:srgbClr val="DCE4E8"/>
            </a:solidFill>
          </a:ln>
        </p:spPr>
        <p:txBody>
          <a:bodyPr wrap="square" lIns="127000" tIns="76200" rIns="127000" bIns="76200" anchor="ctr">
            <a:noAutofit/>
          </a:bodyPr>
          <a:lstStyle/>
          <a:p>
            <a:pPr>
              <a:buNone/>
            </a:pPr>
            <a:endParaRPr lang="en-US"/>
          </a:p>
        </p:txBody>
      </p:sp>
      <p:sp>
        <p:nvSpPr>
          <p:cNvPr id="140" name="s140"/>
          <p:cNvSpPr/>
          <p:nvPr/>
        </p:nvSpPr>
        <p:spPr>
          <a:xfrm>
            <a:off x="8128000" y="4902200"/>
            <a:ext cx="50800" cy="1346200"/>
          </a:xfrm>
          <a:prstGeom prst="rect">
            <a:avLst/>
          </a:prstGeom>
          <a:solidFill>
            <a:srgbClr val="C8621B"/>
          </a:solidFill>
          <a:ln>
            <a:noFill/>
          </a:ln>
        </p:spPr>
        <p:txBody>
          <a:bodyPr wrap="square" lIns="127000" tIns="76200" rIns="127000" bIns="76200" anchor="ctr">
            <a:noAutofit/>
          </a:bodyPr>
          <a:lstStyle/>
          <a:p>
            <a:pPr>
              <a:buNone/>
            </a:pPr>
            <a:endParaRPr lang="en-US"/>
          </a:p>
        </p:txBody>
      </p:sp>
      <p:sp>
        <p:nvSpPr>
          <p:cNvPr id="141" name="s141"/>
          <p:cNvSpPr/>
          <p:nvPr/>
        </p:nvSpPr>
        <p:spPr>
          <a:xfrm>
            <a:off x="8128000" y="4902200"/>
            <a:ext cx="3556000" cy="1346200"/>
          </a:xfrm>
          <a:prstGeom prst="rect">
            <a:avLst/>
          </a:prstGeom>
          <a:noFill/>
          <a:ln>
            <a:noFill/>
          </a:ln>
        </p:spPr>
        <p:txBody>
          <a:bodyPr wrap="square" lIns="203200" tIns="127000" rIns="203200" bIns="127000" anchor="t">
            <a:noAutofit/>
          </a:bodyPr>
          <a:lstStyle/>
          <a:p>
            <a:pPr algn="l">
              <a:buNone/>
            </a:pPr>
            <a:r>
              <a:rPr lang="en-US" sz="1050" b="1" dirty="0">
                <a:solidFill>
                  <a:srgbClr val="C8621B"/>
                </a:solidFill>
              </a:rPr>
              <a:t>PEOPLE AND ASSETS</a:t>
            </a:r>
          </a:p>
          <a:p>
            <a:pPr algn="l">
              <a:lnSpc>
                <a:spcPts val="1250"/>
              </a:lnSpc>
              <a:spcBef>
                <a:spcPts val="80"/>
              </a:spcBef>
              <a:buNone/>
            </a:pPr>
            <a:r>
              <a:rPr lang="en-US" sz="1000" b="0" dirty="0">
                <a:solidFill>
                  <a:srgbClr val="16262E"/>
                </a:solidFill>
              </a:rPr>
              <a:t>›  Clearance and final pay</a:t>
            </a:r>
          </a:p>
          <a:p>
            <a:pPr algn="l">
              <a:lnSpc>
                <a:spcPts val="1250"/>
              </a:lnSpc>
              <a:spcBef>
                <a:spcPts val="80"/>
              </a:spcBef>
              <a:buNone/>
            </a:pPr>
            <a:r>
              <a:rPr lang="en-US" sz="1000" b="0" dirty="0">
                <a:solidFill>
                  <a:srgbClr val="16262E"/>
                </a:solidFill>
              </a:rPr>
              <a:t>›  Equipment and IT asset return</a:t>
            </a:r>
          </a:p>
          <a:p>
            <a:pPr algn="l">
              <a:lnSpc>
                <a:spcPts val="1250"/>
              </a:lnSpc>
              <a:spcBef>
                <a:spcPts val="80"/>
              </a:spcBef>
              <a:buNone/>
            </a:pPr>
            <a:r>
              <a:rPr lang="en-US" sz="1000" b="0" dirty="0">
                <a:solidFill>
                  <a:srgbClr val="16262E"/>
                </a:solidFill>
              </a:rPr>
              <a:t>›  Vendor and subcon scorecards</a:t>
            </a:r>
          </a:p>
        </p:txBody>
      </p:sp>
      <p:sp>
        <p:nvSpPr>
          <p:cNvPr id="142" name="s142"/>
          <p:cNvSpPr/>
          <p:nvPr/>
        </p:nvSpPr>
        <p:spPr>
          <a:xfrm>
            <a:off x="508000" y="6375400"/>
            <a:ext cx="11176000" cy="304800"/>
          </a:xfrm>
          <a:prstGeom prst="rect">
            <a:avLst/>
          </a:prstGeom>
          <a:noFill/>
          <a:ln>
            <a:noFill/>
          </a:ln>
        </p:spPr>
        <p:txBody>
          <a:bodyPr wrap="square" lIns="0" tIns="76200" rIns="0" bIns="76200" anchor="ctr">
            <a:noAutofit/>
          </a:bodyPr>
          <a:lstStyle/>
          <a:p>
            <a:pPr algn="l">
              <a:buNone/>
            </a:pPr>
            <a:r>
              <a:rPr lang="en-US" sz="1050" b="0" dirty="0">
                <a:solidFill>
                  <a:srgbClr val="3D4A52"/>
                </a:solidFill>
              </a:rPr>
              <a:t>A project stays open in the books until retention is collected; the close-out report names who cleared each item and when.</a:t>
            </a:r>
          </a:p>
        </p:txBody>
      </p:sp>
    </p:spTree>
    <p:extLst>
      <p:ext uri="{BB962C8B-B14F-4D97-AF65-F5344CB8AC3E}">
        <p14:creationId xmlns:p14="http://schemas.microsoft.com/office/powerpoint/2010/main" val="517815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0C27A-B811-09F1-B731-E2F78E3C7AAC}"/>
              </a:ext>
            </a:extLst>
          </p:cNvPr>
          <p:cNvSpPr>
            <a:spLocks noGrp="1"/>
          </p:cNvSpPr>
          <p:nvPr>
            <p:ph type="title"/>
          </p:nvPr>
        </p:nvSpPr>
        <p:spPr>
          <a:xfrm>
            <a:off x="508000" y="508000"/>
            <a:ext cx="11176000" cy="508000"/>
          </a:xfrm>
        </p:spPr>
        <p:txBody>
          <a:bodyPr/>
          <a:lstStyle/>
          <a:p>
            <a:pPr algn="l">
              <a:buNone/>
            </a:pPr>
            <a:r>
              <a:rPr lang="en-US" sz="2200" b="1" dirty="0">
                <a:solidFill>
                  <a:srgbClr val="12556B"/>
                </a:solidFill>
              </a:rPr>
              <a:t>Every process ends in the same place: the project cost ledger</a:t>
            </a:r>
          </a:p>
        </p:txBody>
      </p:sp>
      <p:sp>
        <p:nvSpPr>
          <p:cNvPr id="101" name="s101"/>
          <p:cNvSpPr/>
          <p:nvPr/>
        </p:nvSpPr>
        <p:spPr>
          <a:xfrm>
            <a:off x="508000" y="254000"/>
            <a:ext cx="7620000" cy="254000"/>
          </a:xfrm>
          <a:prstGeom prst="rect">
            <a:avLst/>
          </a:prstGeom>
          <a:noFill/>
          <a:ln>
            <a:noFill/>
          </a:ln>
        </p:spPr>
        <p:txBody>
          <a:bodyPr wrap="square" lIns="0" tIns="50800" rIns="0" bIns="50800" anchor="ctr">
            <a:noAutofit/>
          </a:bodyPr>
          <a:lstStyle/>
          <a:p>
            <a:pPr algn="l">
              <a:buNone/>
            </a:pPr>
            <a:r>
              <a:rPr lang="en-US" sz="1100" b="1" dirty="0">
                <a:solidFill>
                  <a:srgbClr val="C8621B"/>
                </a:solidFill>
              </a:rPr>
              <a:t>DOCUMENT HANDOFFS ACROSS THE FOUR CHAINS</a:t>
            </a:r>
          </a:p>
        </p:txBody>
      </p:sp>
      <p:sp>
        <p:nvSpPr>
          <p:cNvPr id="102" name="s102"/>
          <p:cNvSpPr/>
          <p:nvPr/>
        </p:nvSpPr>
        <p:spPr>
          <a:xfrm>
            <a:off x="508000" y="1320800"/>
            <a:ext cx="1803400" cy="762000"/>
          </a:xfrm>
          <a:prstGeom prst="rect">
            <a:avLst/>
          </a:prstGeom>
          <a:solidFill>
            <a:srgbClr val="F1F5F7"/>
          </a:solidFill>
          <a:ln>
            <a:noFill/>
          </a:ln>
        </p:spPr>
        <p:txBody>
          <a:bodyPr wrap="square" lIns="127000" tIns="50800" rIns="127000" bIns="50800" anchor="ctr">
            <a:noAutofit/>
          </a:bodyPr>
          <a:lstStyle/>
          <a:p>
            <a:pPr algn="l">
              <a:lnSpc>
                <a:spcPts val="1200"/>
              </a:lnSpc>
              <a:buNone/>
            </a:pPr>
            <a:r>
              <a:rPr lang="en-US" sz="1000" b="1" dirty="0">
                <a:solidFill>
                  <a:srgbClr val="0E8C9E"/>
                </a:solidFill>
              </a:rPr>
              <a:t>PROJECT ACQUISITION</a:t>
            </a:r>
          </a:p>
        </p:txBody>
      </p:sp>
      <p:sp>
        <p:nvSpPr>
          <p:cNvPr id="103" name="s103"/>
          <p:cNvSpPr/>
          <p:nvPr/>
        </p:nvSpPr>
        <p:spPr>
          <a:xfrm>
            <a:off x="508000" y="1320800"/>
            <a:ext cx="38100" cy="762000"/>
          </a:xfrm>
          <a:prstGeom prst="rect">
            <a:avLst/>
          </a:prstGeom>
          <a:solidFill>
            <a:srgbClr val="0E8C9E"/>
          </a:solidFill>
          <a:ln>
            <a:noFill/>
          </a:ln>
        </p:spPr>
        <p:txBody>
          <a:bodyPr wrap="square" lIns="101600" tIns="50800" rIns="101600" bIns="50800" anchor="ctr">
            <a:noAutofit/>
          </a:bodyPr>
          <a:lstStyle/>
          <a:p>
            <a:pPr>
              <a:buNone/>
            </a:pPr>
            <a:endParaRPr lang="en-US"/>
          </a:p>
        </p:txBody>
      </p:sp>
      <p:sp>
        <p:nvSpPr>
          <p:cNvPr id="104" name="s104"/>
          <p:cNvSpPr/>
          <p:nvPr/>
        </p:nvSpPr>
        <p:spPr>
          <a:xfrm>
            <a:off x="2413000" y="14224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Signed contract</a:t>
            </a:r>
          </a:p>
        </p:txBody>
      </p:sp>
      <p:sp>
        <p:nvSpPr>
          <p:cNvPr id="105" name="s105"/>
          <p:cNvSpPr/>
          <p:nvPr/>
        </p:nvSpPr>
        <p:spPr>
          <a:xfrm>
            <a:off x="3924300" y="1612900"/>
            <a:ext cx="101600" cy="177800"/>
          </a:xfrm>
          <a:prstGeom prst="rightArrow">
            <a:avLst/>
          </a:prstGeom>
          <a:solidFill>
            <a:srgbClr val="0E8C9E"/>
          </a:solidFill>
          <a:ln>
            <a:noFill/>
          </a:ln>
        </p:spPr>
        <p:txBody>
          <a:bodyPr wrap="square" lIns="101600" tIns="50800" rIns="101600" bIns="50800" anchor="ctr">
            <a:noAutofit/>
          </a:bodyPr>
          <a:lstStyle/>
          <a:p>
            <a:pPr>
              <a:buNone/>
            </a:pPr>
            <a:endParaRPr lang="en-US"/>
          </a:p>
        </p:txBody>
      </p:sp>
      <p:sp>
        <p:nvSpPr>
          <p:cNvPr id="106" name="s106"/>
          <p:cNvSpPr/>
          <p:nvPr/>
        </p:nvSpPr>
        <p:spPr>
          <a:xfrm>
            <a:off x="4038600" y="14224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Billing form</a:t>
            </a:r>
          </a:p>
        </p:txBody>
      </p:sp>
      <p:sp>
        <p:nvSpPr>
          <p:cNvPr id="107" name="s107"/>
          <p:cNvSpPr/>
          <p:nvPr/>
        </p:nvSpPr>
        <p:spPr>
          <a:xfrm>
            <a:off x="5549900" y="1612900"/>
            <a:ext cx="101600" cy="177800"/>
          </a:xfrm>
          <a:prstGeom prst="rightArrow">
            <a:avLst/>
          </a:prstGeom>
          <a:solidFill>
            <a:srgbClr val="0E8C9E"/>
          </a:solidFill>
          <a:ln>
            <a:noFill/>
          </a:ln>
        </p:spPr>
        <p:txBody>
          <a:bodyPr wrap="square" lIns="101600" tIns="50800" rIns="101600" bIns="50800" anchor="ctr">
            <a:noAutofit/>
          </a:bodyPr>
          <a:lstStyle/>
          <a:p>
            <a:pPr>
              <a:buNone/>
            </a:pPr>
            <a:endParaRPr lang="en-US"/>
          </a:p>
        </p:txBody>
      </p:sp>
      <p:sp>
        <p:nvSpPr>
          <p:cNvPr id="108" name="s108"/>
          <p:cNvSpPr/>
          <p:nvPr/>
        </p:nvSpPr>
        <p:spPr>
          <a:xfrm>
            <a:off x="5664200" y="14224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Sales invoice</a:t>
            </a:r>
          </a:p>
        </p:txBody>
      </p:sp>
      <p:sp>
        <p:nvSpPr>
          <p:cNvPr id="109" name="s109"/>
          <p:cNvSpPr/>
          <p:nvPr/>
        </p:nvSpPr>
        <p:spPr>
          <a:xfrm>
            <a:off x="7175500" y="1612900"/>
            <a:ext cx="101600" cy="177800"/>
          </a:xfrm>
          <a:prstGeom prst="rightArrow">
            <a:avLst/>
          </a:prstGeom>
          <a:solidFill>
            <a:srgbClr val="0E8C9E"/>
          </a:solidFill>
          <a:ln>
            <a:noFill/>
          </a:ln>
        </p:spPr>
        <p:txBody>
          <a:bodyPr wrap="square" lIns="101600" tIns="50800" rIns="101600" bIns="50800" anchor="ctr">
            <a:noAutofit/>
          </a:bodyPr>
          <a:lstStyle/>
          <a:p>
            <a:pPr>
              <a:buNone/>
            </a:pPr>
            <a:endParaRPr lang="en-US"/>
          </a:p>
        </p:txBody>
      </p:sp>
      <p:sp>
        <p:nvSpPr>
          <p:cNvPr id="110" name="s110"/>
          <p:cNvSpPr/>
          <p:nvPr/>
        </p:nvSpPr>
        <p:spPr>
          <a:xfrm>
            <a:off x="7289800" y="14224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Official receipt</a:t>
            </a:r>
          </a:p>
        </p:txBody>
      </p:sp>
      <p:sp>
        <p:nvSpPr>
          <p:cNvPr id="111" name="s111"/>
          <p:cNvSpPr/>
          <p:nvPr/>
        </p:nvSpPr>
        <p:spPr>
          <a:xfrm>
            <a:off x="8826500" y="1600200"/>
            <a:ext cx="203200" cy="203200"/>
          </a:xfrm>
          <a:prstGeom prst="rightArrow">
            <a:avLst/>
          </a:prstGeom>
          <a:solidFill>
            <a:srgbClr val="0E8C9E"/>
          </a:solidFill>
          <a:ln>
            <a:noFill/>
          </a:ln>
        </p:spPr>
        <p:txBody>
          <a:bodyPr wrap="square" lIns="101600" tIns="50800" rIns="101600" bIns="50800" anchor="ctr">
            <a:noAutofit/>
          </a:bodyPr>
          <a:lstStyle/>
          <a:p>
            <a:pPr>
              <a:buNone/>
            </a:pPr>
            <a:endParaRPr lang="en-US"/>
          </a:p>
        </p:txBody>
      </p:sp>
      <p:sp>
        <p:nvSpPr>
          <p:cNvPr id="112" name="s112"/>
          <p:cNvSpPr/>
          <p:nvPr/>
        </p:nvSpPr>
        <p:spPr>
          <a:xfrm>
            <a:off x="508000" y="2260600"/>
            <a:ext cx="1803400" cy="762000"/>
          </a:xfrm>
          <a:prstGeom prst="rect">
            <a:avLst/>
          </a:prstGeom>
          <a:solidFill>
            <a:srgbClr val="F1F5F7"/>
          </a:solidFill>
          <a:ln>
            <a:noFill/>
          </a:ln>
        </p:spPr>
        <p:txBody>
          <a:bodyPr wrap="square" lIns="127000" tIns="50800" rIns="127000" bIns="50800" anchor="ctr">
            <a:noAutofit/>
          </a:bodyPr>
          <a:lstStyle/>
          <a:p>
            <a:pPr algn="l">
              <a:lnSpc>
                <a:spcPts val="1200"/>
              </a:lnSpc>
              <a:buNone/>
            </a:pPr>
            <a:r>
              <a:rPr lang="en-US" sz="1000" b="1" dirty="0">
                <a:solidFill>
                  <a:srgbClr val="C8621B"/>
                </a:solidFill>
              </a:rPr>
              <a:t>MATERIAL AND VENDOR</a:t>
            </a:r>
          </a:p>
        </p:txBody>
      </p:sp>
      <p:sp>
        <p:nvSpPr>
          <p:cNvPr id="113" name="s113"/>
          <p:cNvSpPr/>
          <p:nvPr/>
        </p:nvSpPr>
        <p:spPr>
          <a:xfrm>
            <a:off x="508000" y="2260600"/>
            <a:ext cx="38100" cy="762000"/>
          </a:xfrm>
          <a:prstGeom prst="rect">
            <a:avLst/>
          </a:prstGeom>
          <a:solidFill>
            <a:srgbClr val="C8621B"/>
          </a:solidFill>
          <a:ln>
            <a:noFill/>
          </a:ln>
        </p:spPr>
        <p:txBody>
          <a:bodyPr wrap="square" lIns="101600" tIns="50800" rIns="101600" bIns="50800" anchor="ctr">
            <a:noAutofit/>
          </a:bodyPr>
          <a:lstStyle/>
          <a:p>
            <a:pPr>
              <a:buNone/>
            </a:pPr>
            <a:endParaRPr lang="en-US"/>
          </a:p>
        </p:txBody>
      </p:sp>
      <p:sp>
        <p:nvSpPr>
          <p:cNvPr id="114" name="s114"/>
          <p:cNvSpPr/>
          <p:nvPr/>
        </p:nvSpPr>
        <p:spPr>
          <a:xfrm>
            <a:off x="2413000" y="23622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Purchase requisition</a:t>
            </a:r>
          </a:p>
        </p:txBody>
      </p:sp>
      <p:sp>
        <p:nvSpPr>
          <p:cNvPr id="115" name="s115"/>
          <p:cNvSpPr/>
          <p:nvPr/>
        </p:nvSpPr>
        <p:spPr>
          <a:xfrm>
            <a:off x="3924300" y="2552700"/>
            <a:ext cx="101600" cy="177800"/>
          </a:xfrm>
          <a:prstGeom prst="rightArrow">
            <a:avLst/>
          </a:prstGeom>
          <a:solidFill>
            <a:srgbClr val="C8621B"/>
          </a:solidFill>
          <a:ln>
            <a:noFill/>
          </a:ln>
        </p:spPr>
        <p:txBody>
          <a:bodyPr wrap="square" lIns="101600" tIns="50800" rIns="101600" bIns="50800" anchor="ctr">
            <a:noAutofit/>
          </a:bodyPr>
          <a:lstStyle/>
          <a:p>
            <a:pPr>
              <a:buNone/>
            </a:pPr>
            <a:endParaRPr lang="en-US"/>
          </a:p>
        </p:txBody>
      </p:sp>
      <p:sp>
        <p:nvSpPr>
          <p:cNvPr id="116" name="s116"/>
          <p:cNvSpPr/>
          <p:nvPr/>
        </p:nvSpPr>
        <p:spPr>
          <a:xfrm>
            <a:off x="4038600" y="23622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Purchase order</a:t>
            </a:r>
          </a:p>
        </p:txBody>
      </p:sp>
      <p:sp>
        <p:nvSpPr>
          <p:cNvPr id="117" name="s117"/>
          <p:cNvSpPr/>
          <p:nvPr/>
        </p:nvSpPr>
        <p:spPr>
          <a:xfrm>
            <a:off x="5549900" y="2552700"/>
            <a:ext cx="101600" cy="177800"/>
          </a:xfrm>
          <a:prstGeom prst="rightArrow">
            <a:avLst/>
          </a:prstGeom>
          <a:solidFill>
            <a:srgbClr val="C8621B"/>
          </a:solidFill>
          <a:ln>
            <a:noFill/>
          </a:ln>
        </p:spPr>
        <p:txBody>
          <a:bodyPr wrap="square" lIns="101600" tIns="50800" rIns="101600" bIns="50800" anchor="ctr">
            <a:noAutofit/>
          </a:bodyPr>
          <a:lstStyle/>
          <a:p>
            <a:pPr>
              <a:buNone/>
            </a:pPr>
            <a:endParaRPr lang="en-US"/>
          </a:p>
        </p:txBody>
      </p:sp>
      <p:sp>
        <p:nvSpPr>
          <p:cNvPr id="118" name="s118"/>
          <p:cNvSpPr/>
          <p:nvPr/>
        </p:nvSpPr>
        <p:spPr>
          <a:xfrm>
            <a:off x="5664200" y="23622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Receiving report</a:t>
            </a:r>
          </a:p>
        </p:txBody>
      </p:sp>
      <p:sp>
        <p:nvSpPr>
          <p:cNvPr id="119" name="s119"/>
          <p:cNvSpPr/>
          <p:nvPr/>
        </p:nvSpPr>
        <p:spPr>
          <a:xfrm>
            <a:off x="7175500" y="2552700"/>
            <a:ext cx="101600" cy="177800"/>
          </a:xfrm>
          <a:prstGeom prst="rightArrow">
            <a:avLst/>
          </a:prstGeom>
          <a:solidFill>
            <a:srgbClr val="C8621B"/>
          </a:solidFill>
          <a:ln>
            <a:noFill/>
          </a:ln>
        </p:spPr>
        <p:txBody>
          <a:bodyPr wrap="square" lIns="101600" tIns="50800" rIns="101600" bIns="50800" anchor="ctr">
            <a:noAutofit/>
          </a:bodyPr>
          <a:lstStyle/>
          <a:p>
            <a:pPr>
              <a:buNone/>
            </a:pPr>
            <a:endParaRPr lang="en-US"/>
          </a:p>
        </p:txBody>
      </p:sp>
      <p:sp>
        <p:nvSpPr>
          <p:cNvPr id="120" name="s120"/>
          <p:cNvSpPr/>
          <p:nvPr/>
        </p:nvSpPr>
        <p:spPr>
          <a:xfrm>
            <a:off x="7289800" y="23622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AP voucher</a:t>
            </a:r>
          </a:p>
        </p:txBody>
      </p:sp>
      <p:sp>
        <p:nvSpPr>
          <p:cNvPr id="121" name="s121"/>
          <p:cNvSpPr/>
          <p:nvPr/>
        </p:nvSpPr>
        <p:spPr>
          <a:xfrm>
            <a:off x="8826500" y="2540000"/>
            <a:ext cx="203200" cy="203200"/>
          </a:xfrm>
          <a:prstGeom prst="rightArrow">
            <a:avLst/>
          </a:prstGeom>
          <a:solidFill>
            <a:srgbClr val="C8621B"/>
          </a:solidFill>
          <a:ln>
            <a:noFill/>
          </a:ln>
        </p:spPr>
        <p:txBody>
          <a:bodyPr wrap="square" lIns="101600" tIns="50800" rIns="101600" bIns="50800" anchor="ctr">
            <a:noAutofit/>
          </a:bodyPr>
          <a:lstStyle/>
          <a:p>
            <a:pPr>
              <a:buNone/>
            </a:pPr>
            <a:endParaRPr lang="en-US"/>
          </a:p>
        </p:txBody>
      </p:sp>
      <p:sp>
        <p:nvSpPr>
          <p:cNvPr id="122" name="s122"/>
          <p:cNvSpPr/>
          <p:nvPr/>
        </p:nvSpPr>
        <p:spPr>
          <a:xfrm>
            <a:off x="508000" y="3200400"/>
            <a:ext cx="1803400" cy="762000"/>
          </a:xfrm>
          <a:prstGeom prst="rect">
            <a:avLst/>
          </a:prstGeom>
          <a:solidFill>
            <a:srgbClr val="F1F5F7"/>
          </a:solidFill>
          <a:ln>
            <a:noFill/>
          </a:ln>
        </p:spPr>
        <p:txBody>
          <a:bodyPr wrap="square" lIns="127000" tIns="50800" rIns="127000" bIns="50800" anchor="ctr">
            <a:noAutofit/>
          </a:bodyPr>
          <a:lstStyle/>
          <a:p>
            <a:pPr algn="l">
              <a:lnSpc>
                <a:spcPts val="1200"/>
              </a:lnSpc>
              <a:buNone/>
            </a:pPr>
            <a:r>
              <a:rPr lang="en-US" sz="1000" b="1" dirty="0">
                <a:solidFill>
                  <a:srgbClr val="12556B"/>
                </a:solidFill>
              </a:rPr>
              <a:t>HRIS AND PAYROLL</a:t>
            </a:r>
          </a:p>
        </p:txBody>
      </p:sp>
      <p:sp>
        <p:nvSpPr>
          <p:cNvPr id="123" name="s123"/>
          <p:cNvSpPr/>
          <p:nvPr/>
        </p:nvSpPr>
        <p:spPr>
          <a:xfrm>
            <a:off x="508000" y="3200400"/>
            <a:ext cx="38100" cy="762000"/>
          </a:xfrm>
          <a:prstGeom prst="rect">
            <a:avLst/>
          </a:prstGeom>
          <a:solidFill>
            <a:srgbClr val="12556B"/>
          </a:solidFill>
          <a:ln>
            <a:noFill/>
          </a:ln>
        </p:spPr>
        <p:txBody>
          <a:bodyPr wrap="square" lIns="101600" tIns="50800" rIns="101600" bIns="50800" anchor="ctr">
            <a:noAutofit/>
          </a:bodyPr>
          <a:lstStyle/>
          <a:p>
            <a:pPr>
              <a:buNone/>
            </a:pPr>
            <a:endParaRPr lang="en-US"/>
          </a:p>
        </p:txBody>
      </p:sp>
      <p:sp>
        <p:nvSpPr>
          <p:cNvPr id="124" name="s124"/>
          <p:cNvSpPr/>
          <p:nvPr/>
        </p:nvSpPr>
        <p:spPr>
          <a:xfrm>
            <a:off x="2413000" y="33020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Validated DTR</a:t>
            </a:r>
          </a:p>
        </p:txBody>
      </p:sp>
      <p:sp>
        <p:nvSpPr>
          <p:cNvPr id="125" name="s125"/>
          <p:cNvSpPr/>
          <p:nvPr/>
        </p:nvSpPr>
        <p:spPr>
          <a:xfrm>
            <a:off x="3924300" y="3492500"/>
            <a:ext cx="101600" cy="177800"/>
          </a:xfrm>
          <a:prstGeom prst="rightArrow">
            <a:avLst/>
          </a:prstGeom>
          <a:solidFill>
            <a:srgbClr val="12556B"/>
          </a:solidFill>
          <a:ln>
            <a:noFill/>
          </a:ln>
        </p:spPr>
        <p:txBody>
          <a:bodyPr wrap="square" lIns="101600" tIns="50800" rIns="101600" bIns="50800" anchor="ctr">
            <a:noAutofit/>
          </a:bodyPr>
          <a:lstStyle/>
          <a:p>
            <a:pPr>
              <a:buNone/>
            </a:pPr>
            <a:endParaRPr lang="en-US"/>
          </a:p>
        </p:txBody>
      </p:sp>
      <p:sp>
        <p:nvSpPr>
          <p:cNvPr id="126" name="s126"/>
          <p:cNvSpPr/>
          <p:nvPr/>
        </p:nvSpPr>
        <p:spPr>
          <a:xfrm>
            <a:off x="4038600" y="33020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Payroll register</a:t>
            </a:r>
          </a:p>
        </p:txBody>
      </p:sp>
      <p:sp>
        <p:nvSpPr>
          <p:cNvPr id="127" name="s127"/>
          <p:cNvSpPr/>
          <p:nvPr/>
        </p:nvSpPr>
        <p:spPr>
          <a:xfrm>
            <a:off x="5549900" y="3492500"/>
            <a:ext cx="101600" cy="177800"/>
          </a:xfrm>
          <a:prstGeom prst="rightArrow">
            <a:avLst/>
          </a:prstGeom>
          <a:solidFill>
            <a:srgbClr val="12556B"/>
          </a:solidFill>
          <a:ln>
            <a:noFill/>
          </a:ln>
        </p:spPr>
        <p:txBody>
          <a:bodyPr wrap="square" lIns="101600" tIns="50800" rIns="101600" bIns="50800" anchor="ctr">
            <a:noAutofit/>
          </a:bodyPr>
          <a:lstStyle/>
          <a:p>
            <a:pPr>
              <a:buNone/>
            </a:pPr>
            <a:endParaRPr lang="en-US"/>
          </a:p>
        </p:txBody>
      </p:sp>
      <p:sp>
        <p:nvSpPr>
          <p:cNvPr id="128" name="s128"/>
          <p:cNvSpPr/>
          <p:nvPr/>
        </p:nvSpPr>
        <p:spPr>
          <a:xfrm>
            <a:off x="5664200" y="33020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Payslip</a:t>
            </a:r>
          </a:p>
        </p:txBody>
      </p:sp>
      <p:sp>
        <p:nvSpPr>
          <p:cNvPr id="129" name="s129"/>
          <p:cNvSpPr/>
          <p:nvPr/>
        </p:nvSpPr>
        <p:spPr>
          <a:xfrm>
            <a:off x="7175500" y="3492500"/>
            <a:ext cx="101600" cy="177800"/>
          </a:xfrm>
          <a:prstGeom prst="rightArrow">
            <a:avLst/>
          </a:prstGeom>
          <a:solidFill>
            <a:srgbClr val="12556B"/>
          </a:solidFill>
          <a:ln>
            <a:noFill/>
          </a:ln>
        </p:spPr>
        <p:txBody>
          <a:bodyPr wrap="square" lIns="101600" tIns="50800" rIns="101600" bIns="50800" anchor="ctr">
            <a:noAutofit/>
          </a:bodyPr>
          <a:lstStyle/>
          <a:p>
            <a:pPr>
              <a:buNone/>
            </a:pPr>
            <a:endParaRPr lang="en-US"/>
          </a:p>
        </p:txBody>
      </p:sp>
      <p:sp>
        <p:nvSpPr>
          <p:cNvPr id="130" name="s130"/>
          <p:cNvSpPr/>
          <p:nvPr/>
        </p:nvSpPr>
        <p:spPr>
          <a:xfrm>
            <a:off x="7289800" y="33020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Journal entry</a:t>
            </a:r>
          </a:p>
        </p:txBody>
      </p:sp>
      <p:sp>
        <p:nvSpPr>
          <p:cNvPr id="131" name="s131"/>
          <p:cNvSpPr/>
          <p:nvPr/>
        </p:nvSpPr>
        <p:spPr>
          <a:xfrm>
            <a:off x="8826500" y="3479800"/>
            <a:ext cx="203200" cy="203200"/>
          </a:xfrm>
          <a:prstGeom prst="rightArrow">
            <a:avLst/>
          </a:prstGeom>
          <a:solidFill>
            <a:srgbClr val="12556B"/>
          </a:solidFill>
          <a:ln>
            <a:noFill/>
          </a:ln>
        </p:spPr>
        <p:txBody>
          <a:bodyPr wrap="square" lIns="101600" tIns="50800" rIns="101600" bIns="50800" anchor="ctr">
            <a:noAutofit/>
          </a:bodyPr>
          <a:lstStyle/>
          <a:p>
            <a:pPr>
              <a:buNone/>
            </a:pPr>
            <a:endParaRPr lang="en-US"/>
          </a:p>
        </p:txBody>
      </p:sp>
      <p:sp>
        <p:nvSpPr>
          <p:cNvPr id="132" name="s132"/>
          <p:cNvSpPr/>
          <p:nvPr/>
        </p:nvSpPr>
        <p:spPr>
          <a:xfrm>
            <a:off x="508000" y="4140200"/>
            <a:ext cx="1803400" cy="762000"/>
          </a:xfrm>
          <a:prstGeom prst="rect">
            <a:avLst/>
          </a:prstGeom>
          <a:solidFill>
            <a:srgbClr val="F1F5F7"/>
          </a:solidFill>
          <a:ln>
            <a:noFill/>
          </a:ln>
        </p:spPr>
        <p:txBody>
          <a:bodyPr wrap="square" lIns="127000" tIns="50800" rIns="127000" bIns="50800" anchor="ctr">
            <a:noAutofit/>
          </a:bodyPr>
          <a:lstStyle/>
          <a:p>
            <a:pPr algn="l">
              <a:lnSpc>
                <a:spcPts val="1200"/>
              </a:lnSpc>
              <a:buNone/>
            </a:pPr>
            <a:r>
              <a:rPr lang="en-US" sz="1000" b="1" dirty="0">
                <a:solidFill>
                  <a:srgbClr val="0B3A4A"/>
                </a:solidFill>
              </a:rPr>
              <a:t>OPEX</a:t>
            </a:r>
          </a:p>
        </p:txBody>
      </p:sp>
      <p:sp>
        <p:nvSpPr>
          <p:cNvPr id="133" name="s133"/>
          <p:cNvSpPr/>
          <p:nvPr/>
        </p:nvSpPr>
        <p:spPr>
          <a:xfrm>
            <a:off x="508000" y="4140200"/>
            <a:ext cx="38100" cy="762000"/>
          </a:xfrm>
          <a:prstGeom prst="rect">
            <a:avLst/>
          </a:prstGeom>
          <a:solidFill>
            <a:srgbClr val="0B3A4A"/>
          </a:solidFill>
          <a:ln>
            <a:noFill/>
          </a:ln>
        </p:spPr>
        <p:txBody>
          <a:bodyPr wrap="square" lIns="101600" tIns="50800" rIns="101600" bIns="50800" anchor="ctr">
            <a:noAutofit/>
          </a:bodyPr>
          <a:lstStyle/>
          <a:p>
            <a:pPr>
              <a:buNone/>
            </a:pPr>
            <a:endParaRPr lang="en-US"/>
          </a:p>
        </p:txBody>
      </p:sp>
      <p:sp>
        <p:nvSpPr>
          <p:cNvPr id="134" name="s134"/>
          <p:cNvSpPr/>
          <p:nvPr/>
        </p:nvSpPr>
        <p:spPr>
          <a:xfrm>
            <a:off x="2413000" y="42418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Receipt and liquidation</a:t>
            </a:r>
          </a:p>
        </p:txBody>
      </p:sp>
      <p:sp>
        <p:nvSpPr>
          <p:cNvPr id="135" name="s135"/>
          <p:cNvSpPr/>
          <p:nvPr/>
        </p:nvSpPr>
        <p:spPr>
          <a:xfrm>
            <a:off x="3924300" y="4432300"/>
            <a:ext cx="101600" cy="177800"/>
          </a:xfrm>
          <a:prstGeom prst="rightArrow">
            <a:avLst/>
          </a:prstGeom>
          <a:solidFill>
            <a:srgbClr val="0B3A4A"/>
          </a:solidFill>
          <a:ln>
            <a:noFill/>
          </a:ln>
        </p:spPr>
        <p:txBody>
          <a:bodyPr wrap="square" lIns="101600" tIns="50800" rIns="101600" bIns="50800" anchor="ctr">
            <a:noAutofit/>
          </a:bodyPr>
          <a:lstStyle/>
          <a:p>
            <a:pPr>
              <a:buNone/>
            </a:pPr>
            <a:endParaRPr lang="en-US"/>
          </a:p>
        </p:txBody>
      </p:sp>
      <p:sp>
        <p:nvSpPr>
          <p:cNvPr id="136" name="s136"/>
          <p:cNvSpPr/>
          <p:nvPr/>
        </p:nvSpPr>
        <p:spPr>
          <a:xfrm>
            <a:off x="4038600" y="42418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Coded expense entry</a:t>
            </a:r>
          </a:p>
        </p:txBody>
      </p:sp>
      <p:sp>
        <p:nvSpPr>
          <p:cNvPr id="137" name="s137"/>
          <p:cNvSpPr/>
          <p:nvPr/>
        </p:nvSpPr>
        <p:spPr>
          <a:xfrm>
            <a:off x="5549900" y="4432300"/>
            <a:ext cx="101600" cy="177800"/>
          </a:xfrm>
          <a:prstGeom prst="rightArrow">
            <a:avLst/>
          </a:prstGeom>
          <a:solidFill>
            <a:srgbClr val="0B3A4A"/>
          </a:solidFill>
          <a:ln>
            <a:noFill/>
          </a:ln>
        </p:spPr>
        <p:txBody>
          <a:bodyPr wrap="square" lIns="101600" tIns="50800" rIns="101600" bIns="50800" anchor="ctr">
            <a:noAutofit/>
          </a:bodyPr>
          <a:lstStyle/>
          <a:p>
            <a:pPr>
              <a:buNone/>
            </a:pPr>
            <a:endParaRPr lang="en-US"/>
          </a:p>
        </p:txBody>
      </p:sp>
      <p:sp>
        <p:nvSpPr>
          <p:cNvPr id="138" name="s138"/>
          <p:cNvSpPr/>
          <p:nvPr/>
        </p:nvSpPr>
        <p:spPr>
          <a:xfrm>
            <a:off x="5664200" y="42418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OPEX schedule</a:t>
            </a:r>
          </a:p>
        </p:txBody>
      </p:sp>
      <p:sp>
        <p:nvSpPr>
          <p:cNvPr id="139" name="s139"/>
          <p:cNvSpPr/>
          <p:nvPr/>
        </p:nvSpPr>
        <p:spPr>
          <a:xfrm>
            <a:off x="7175500" y="4432300"/>
            <a:ext cx="101600" cy="177800"/>
          </a:xfrm>
          <a:prstGeom prst="rightArrow">
            <a:avLst/>
          </a:prstGeom>
          <a:solidFill>
            <a:srgbClr val="0B3A4A"/>
          </a:solidFill>
          <a:ln>
            <a:noFill/>
          </a:ln>
        </p:spPr>
        <p:txBody>
          <a:bodyPr wrap="square" lIns="101600" tIns="50800" rIns="101600" bIns="50800" anchor="ctr">
            <a:noAutofit/>
          </a:bodyPr>
          <a:lstStyle/>
          <a:p>
            <a:pPr>
              <a:buNone/>
            </a:pPr>
            <a:endParaRPr lang="en-US"/>
          </a:p>
        </p:txBody>
      </p:sp>
      <p:sp>
        <p:nvSpPr>
          <p:cNvPr id="140" name="s140"/>
          <p:cNvSpPr/>
          <p:nvPr/>
        </p:nvSpPr>
        <p:spPr>
          <a:xfrm>
            <a:off x="7289800" y="4241800"/>
            <a:ext cx="1498600" cy="558800"/>
          </a:xfrm>
          <a:prstGeom prst="rect">
            <a:avLst/>
          </a:prstGeom>
          <a:solidFill>
            <a:srgbClr val="FFFFFF"/>
          </a:solidFill>
          <a:ln w="12700">
            <a:solidFill>
              <a:srgbClr val="DCE4E8"/>
            </a:solidFill>
          </a:ln>
        </p:spPr>
        <p:txBody>
          <a:bodyPr wrap="square" lIns="101600" tIns="50800" rIns="101600" bIns="50800" anchor="ctr">
            <a:noAutofit/>
          </a:bodyPr>
          <a:lstStyle/>
          <a:p>
            <a:pPr algn="ctr">
              <a:lnSpc>
                <a:spcPts val="1200"/>
              </a:lnSpc>
              <a:buNone/>
            </a:pPr>
            <a:r>
              <a:rPr lang="en-US" sz="1000" b="0" dirty="0">
                <a:solidFill>
                  <a:srgbClr val="16262E"/>
                </a:solidFill>
              </a:rPr>
              <a:t>Budget against actual</a:t>
            </a:r>
          </a:p>
        </p:txBody>
      </p:sp>
      <p:sp>
        <p:nvSpPr>
          <p:cNvPr id="141" name="s141"/>
          <p:cNvSpPr/>
          <p:nvPr/>
        </p:nvSpPr>
        <p:spPr>
          <a:xfrm>
            <a:off x="8826500" y="4419600"/>
            <a:ext cx="203200" cy="203200"/>
          </a:xfrm>
          <a:prstGeom prst="rightArrow">
            <a:avLst/>
          </a:prstGeom>
          <a:solidFill>
            <a:srgbClr val="0B3A4A"/>
          </a:solidFill>
          <a:ln>
            <a:noFill/>
          </a:ln>
        </p:spPr>
        <p:txBody>
          <a:bodyPr wrap="square" lIns="101600" tIns="50800" rIns="101600" bIns="50800" anchor="ctr">
            <a:noAutofit/>
          </a:bodyPr>
          <a:lstStyle/>
          <a:p>
            <a:pPr>
              <a:buNone/>
            </a:pPr>
            <a:endParaRPr lang="en-US"/>
          </a:p>
        </p:txBody>
      </p:sp>
      <p:sp>
        <p:nvSpPr>
          <p:cNvPr id="142" name="s142"/>
          <p:cNvSpPr/>
          <p:nvPr/>
        </p:nvSpPr>
        <p:spPr>
          <a:xfrm>
            <a:off x="9093200" y="1320800"/>
            <a:ext cx="2590800" cy="3581400"/>
          </a:xfrm>
          <a:prstGeom prst="rect">
            <a:avLst/>
          </a:prstGeom>
          <a:solidFill>
            <a:srgbClr val="F7F9FA"/>
          </a:solidFill>
          <a:ln w="12700">
            <a:solidFill>
              <a:srgbClr val="12556B"/>
            </a:solidFill>
          </a:ln>
        </p:spPr>
        <p:txBody>
          <a:bodyPr wrap="square" lIns="101600" tIns="50800" rIns="101600" bIns="50800" anchor="ctr">
            <a:noAutofit/>
          </a:bodyPr>
          <a:lstStyle/>
          <a:p>
            <a:pPr>
              <a:buNone/>
            </a:pPr>
            <a:endParaRPr lang="en-US"/>
          </a:p>
        </p:txBody>
      </p:sp>
      <p:sp>
        <p:nvSpPr>
          <p:cNvPr id="143" name="s143"/>
          <p:cNvSpPr/>
          <p:nvPr/>
        </p:nvSpPr>
        <p:spPr>
          <a:xfrm>
            <a:off x="9093200" y="1320800"/>
            <a:ext cx="2590800" cy="355600"/>
          </a:xfrm>
          <a:prstGeom prst="rect">
            <a:avLst/>
          </a:prstGeom>
          <a:solidFill>
            <a:srgbClr val="12556B"/>
          </a:solidFill>
          <a:ln>
            <a:noFill/>
          </a:ln>
        </p:spPr>
        <p:txBody>
          <a:bodyPr wrap="square" lIns="101600" tIns="50800" rIns="101600" bIns="50800" anchor="ctr">
            <a:noAutofit/>
          </a:bodyPr>
          <a:lstStyle/>
          <a:p>
            <a:pPr algn="ctr">
              <a:buNone/>
            </a:pPr>
            <a:r>
              <a:rPr lang="en-US" sz="1000" b="1" dirty="0">
                <a:solidFill>
                  <a:srgbClr val="FFFFFF"/>
                </a:solidFill>
              </a:rPr>
              <a:t>PROJECT COST LEDGER</a:t>
            </a:r>
          </a:p>
        </p:txBody>
      </p:sp>
      <p:sp>
        <p:nvSpPr>
          <p:cNvPr id="144" name="s144"/>
          <p:cNvSpPr/>
          <p:nvPr/>
        </p:nvSpPr>
        <p:spPr>
          <a:xfrm>
            <a:off x="9271000" y="1879600"/>
            <a:ext cx="101600" cy="101600"/>
          </a:xfrm>
          <a:prstGeom prst="rect">
            <a:avLst/>
          </a:prstGeom>
          <a:solidFill>
            <a:srgbClr val="0E8C9E"/>
          </a:solidFill>
          <a:ln>
            <a:noFill/>
          </a:ln>
        </p:spPr>
        <p:txBody>
          <a:bodyPr wrap="square" lIns="101600" tIns="50800" rIns="101600" bIns="50800" anchor="ctr">
            <a:noAutofit/>
          </a:bodyPr>
          <a:lstStyle/>
          <a:p>
            <a:pPr>
              <a:buNone/>
            </a:pPr>
            <a:endParaRPr lang="en-US"/>
          </a:p>
        </p:txBody>
      </p:sp>
      <p:sp>
        <p:nvSpPr>
          <p:cNvPr id="145" name="s145"/>
          <p:cNvSpPr/>
          <p:nvPr/>
        </p:nvSpPr>
        <p:spPr>
          <a:xfrm>
            <a:off x="9448800" y="1778000"/>
            <a:ext cx="2133600" cy="330200"/>
          </a:xfrm>
          <a:prstGeom prst="rect">
            <a:avLst/>
          </a:prstGeom>
          <a:noFill/>
          <a:ln>
            <a:noFill/>
          </a:ln>
        </p:spPr>
        <p:txBody>
          <a:bodyPr wrap="square" lIns="0" tIns="50800" rIns="0" bIns="50800" anchor="ctr">
            <a:noAutofit/>
          </a:bodyPr>
          <a:lstStyle/>
          <a:p>
            <a:pPr algn="l">
              <a:lnSpc>
                <a:spcPts val="1150"/>
              </a:lnSpc>
              <a:buNone/>
            </a:pPr>
            <a:r>
              <a:rPr lang="en-US" sz="1000" b="1" dirty="0">
                <a:solidFill>
                  <a:srgbClr val="0E8C9E"/>
                </a:solidFill>
              </a:rPr>
              <a:t>Revenue and receivables</a:t>
            </a:r>
          </a:p>
        </p:txBody>
      </p:sp>
      <p:sp>
        <p:nvSpPr>
          <p:cNvPr id="146" name="s146"/>
          <p:cNvSpPr/>
          <p:nvPr/>
        </p:nvSpPr>
        <p:spPr>
          <a:xfrm>
            <a:off x="9271000" y="2286000"/>
            <a:ext cx="101600" cy="101600"/>
          </a:xfrm>
          <a:prstGeom prst="rect">
            <a:avLst/>
          </a:prstGeom>
          <a:solidFill>
            <a:srgbClr val="C8621B"/>
          </a:solidFill>
          <a:ln>
            <a:noFill/>
          </a:ln>
        </p:spPr>
        <p:txBody>
          <a:bodyPr wrap="square" lIns="101600" tIns="50800" rIns="101600" bIns="50800" anchor="ctr">
            <a:noAutofit/>
          </a:bodyPr>
          <a:lstStyle/>
          <a:p>
            <a:pPr>
              <a:buNone/>
            </a:pPr>
            <a:endParaRPr lang="en-US"/>
          </a:p>
        </p:txBody>
      </p:sp>
      <p:sp>
        <p:nvSpPr>
          <p:cNvPr id="147" name="s147"/>
          <p:cNvSpPr/>
          <p:nvPr/>
        </p:nvSpPr>
        <p:spPr>
          <a:xfrm>
            <a:off x="9448800" y="2184400"/>
            <a:ext cx="2133600" cy="330200"/>
          </a:xfrm>
          <a:prstGeom prst="rect">
            <a:avLst/>
          </a:prstGeom>
          <a:noFill/>
          <a:ln>
            <a:noFill/>
          </a:ln>
        </p:spPr>
        <p:txBody>
          <a:bodyPr wrap="square" lIns="0" tIns="50800" rIns="0" bIns="50800" anchor="ctr">
            <a:noAutofit/>
          </a:bodyPr>
          <a:lstStyle/>
          <a:p>
            <a:pPr algn="l">
              <a:lnSpc>
                <a:spcPts val="1150"/>
              </a:lnSpc>
              <a:buNone/>
            </a:pPr>
            <a:r>
              <a:rPr lang="en-US" sz="1000" b="1" dirty="0">
                <a:solidFill>
                  <a:srgbClr val="C8621B"/>
                </a:solidFill>
              </a:rPr>
              <a:t>Material and subcontract cost</a:t>
            </a:r>
          </a:p>
        </p:txBody>
      </p:sp>
      <p:sp>
        <p:nvSpPr>
          <p:cNvPr id="148" name="s148"/>
          <p:cNvSpPr/>
          <p:nvPr/>
        </p:nvSpPr>
        <p:spPr>
          <a:xfrm>
            <a:off x="9271000" y="2692400"/>
            <a:ext cx="101600" cy="101600"/>
          </a:xfrm>
          <a:prstGeom prst="rect">
            <a:avLst/>
          </a:prstGeom>
          <a:solidFill>
            <a:srgbClr val="12556B"/>
          </a:solidFill>
          <a:ln>
            <a:noFill/>
          </a:ln>
        </p:spPr>
        <p:txBody>
          <a:bodyPr wrap="square" lIns="101600" tIns="50800" rIns="101600" bIns="50800" anchor="ctr">
            <a:noAutofit/>
          </a:bodyPr>
          <a:lstStyle/>
          <a:p>
            <a:pPr>
              <a:buNone/>
            </a:pPr>
            <a:endParaRPr lang="en-US"/>
          </a:p>
        </p:txBody>
      </p:sp>
      <p:sp>
        <p:nvSpPr>
          <p:cNvPr id="149" name="s149"/>
          <p:cNvSpPr/>
          <p:nvPr/>
        </p:nvSpPr>
        <p:spPr>
          <a:xfrm>
            <a:off x="9448800" y="2590800"/>
            <a:ext cx="2133600" cy="330200"/>
          </a:xfrm>
          <a:prstGeom prst="rect">
            <a:avLst/>
          </a:prstGeom>
          <a:noFill/>
          <a:ln>
            <a:noFill/>
          </a:ln>
        </p:spPr>
        <p:txBody>
          <a:bodyPr wrap="square" lIns="0" tIns="50800" rIns="0" bIns="50800" anchor="ctr">
            <a:noAutofit/>
          </a:bodyPr>
          <a:lstStyle/>
          <a:p>
            <a:pPr algn="l">
              <a:lnSpc>
                <a:spcPts val="1150"/>
              </a:lnSpc>
              <a:buNone/>
            </a:pPr>
            <a:r>
              <a:rPr lang="en-US" sz="1000" b="1" dirty="0">
                <a:solidFill>
                  <a:srgbClr val="12556B"/>
                </a:solidFill>
              </a:rPr>
              <a:t>Labor cost</a:t>
            </a:r>
          </a:p>
        </p:txBody>
      </p:sp>
      <p:sp>
        <p:nvSpPr>
          <p:cNvPr id="150" name="s150"/>
          <p:cNvSpPr/>
          <p:nvPr/>
        </p:nvSpPr>
        <p:spPr>
          <a:xfrm>
            <a:off x="9271000" y="3098800"/>
            <a:ext cx="101600" cy="101600"/>
          </a:xfrm>
          <a:prstGeom prst="rect">
            <a:avLst/>
          </a:prstGeom>
          <a:solidFill>
            <a:srgbClr val="0B3A4A"/>
          </a:solidFill>
          <a:ln>
            <a:noFill/>
          </a:ln>
        </p:spPr>
        <p:txBody>
          <a:bodyPr wrap="square" lIns="101600" tIns="50800" rIns="101600" bIns="50800" anchor="ctr">
            <a:noAutofit/>
          </a:bodyPr>
          <a:lstStyle/>
          <a:p>
            <a:pPr>
              <a:buNone/>
            </a:pPr>
            <a:endParaRPr lang="en-US"/>
          </a:p>
        </p:txBody>
      </p:sp>
      <p:sp>
        <p:nvSpPr>
          <p:cNvPr id="151" name="s151"/>
          <p:cNvSpPr/>
          <p:nvPr/>
        </p:nvSpPr>
        <p:spPr>
          <a:xfrm>
            <a:off x="9448800" y="2997200"/>
            <a:ext cx="2133600" cy="330200"/>
          </a:xfrm>
          <a:prstGeom prst="rect">
            <a:avLst/>
          </a:prstGeom>
          <a:noFill/>
          <a:ln>
            <a:noFill/>
          </a:ln>
        </p:spPr>
        <p:txBody>
          <a:bodyPr wrap="square" lIns="0" tIns="50800" rIns="0" bIns="50800" anchor="ctr">
            <a:noAutofit/>
          </a:bodyPr>
          <a:lstStyle/>
          <a:p>
            <a:pPr algn="l">
              <a:lnSpc>
                <a:spcPts val="1150"/>
              </a:lnSpc>
              <a:buNone/>
            </a:pPr>
            <a:r>
              <a:rPr lang="en-US" sz="1000" b="1" dirty="0">
                <a:solidFill>
                  <a:srgbClr val="0B3A4A"/>
                </a:solidFill>
              </a:rPr>
              <a:t>Overhead</a:t>
            </a:r>
          </a:p>
        </p:txBody>
      </p:sp>
      <p:sp>
        <p:nvSpPr>
          <p:cNvPr id="152" name="s152"/>
          <p:cNvSpPr/>
          <p:nvPr/>
        </p:nvSpPr>
        <p:spPr>
          <a:xfrm>
            <a:off x="9271000" y="3479800"/>
            <a:ext cx="2235200" cy="12700"/>
          </a:xfrm>
          <a:prstGeom prst="rect">
            <a:avLst/>
          </a:prstGeom>
          <a:solidFill>
            <a:srgbClr val="C7D2D8"/>
          </a:solidFill>
          <a:ln>
            <a:noFill/>
          </a:ln>
        </p:spPr>
        <p:txBody>
          <a:bodyPr wrap="square" lIns="101600" tIns="50800" rIns="101600" bIns="50800" anchor="ctr">
            <a:noAutofit/>
          </a:bodyPr>
          <a:lstStyle/>
          <a:p>
            <a:pPr>
              <a:buNone/>
            </a:pPr>
            <a:endParaRPr lang="en-US"/>
          </a:p>
        </p:txBody>
      </p:sp>
      <p:sp>
        <p:nvSpPr>
          <p:cNvPr id="153" name="s153"/>
          <p:cNvSpPr/>
          <p:nvPr/>
        </p:nvSpPr>
        <p:spPr>
          <a:xfrm>
            <a:off x="9093200" y="3581400"/>
            <a:ext cx="2590800" cy="1270000"/>
          </a:xfrm>
          <a:prstGeom prst="rect">
            <a:avLst/>
          </a:prstGeom>
          <a:noFill/>
          <a:ln>
            <a:noFill/>
          </a:ln>
        </p:spPr>
        <p:txBody>
          <a:bodyPr wrap="square" lIns="177800" tIns="50800" rIns="177800" bIns="50800" anchor="t">
            <a:noAutofit/>
          </a:bodyPr>
          <a:lstStyle/>
          <a:p>
            <a:pPr algn="l">
              <a:buNone/>
            </a:pPr>
            <a:r>
              <a:rPr lang="en-US" sz="1000" b="1" dirty="0">
                <a:solidFill>
                  <a:srgbClr val="12556B"/>
                </a:solidFill>
              </a:rPr>
              <a:t>Outputs</a:t>
            </a:r>
          </a:p>
          <a:p>
            <a:pPr algn="l">
              <a:lnSpc>
                <a:spcPts val="1250"/>
              </a:lnSpc>
              <a:spcBef>
                <a:spcPts val="100"/>
              </a:spcBef>
              <a:buNone/>
            </a:pPr>
            <a:r>
              <a:rPr lang="en-US" sz="1000" b="0" dirty="0">
                <a:solidFill>
                  <a:srgbClr val="16262E"/>
                </a:solidFill>
              </a:rPr>
              <a:t>Project profit and loss</a:t>
            </a:r>
          </a:p>
          <a:p>
            <a:pPr algn="l">
              <a:lnSpc>
                <a:spcPts val="1250"/>
              </a:lnSpc>
              <a:spcBef>
                <a:spcPts val="100"/>
              </a:spcBef>
              <a:buNone/>
            </a:pPr>
            <a:r>
              <a:rPr lang="en-US" sz="1000" b="0" dirty="0">
                <a:solidFill>
                  <a:srgbClr val="16262E"/>
                </a:solidFill>
              </a:rPr>
              <a:t>Cost per unit of accomplishment</a:t>
            </a:r>
          </a:p>
          <a:p>
            <a:pPr algn="l">
              <a:lnSpc>
                <a:spcPts val="1250"/>
              </a:lnSpc>
              <a:spcBef>
                <a:spcPts val="100"/>
              </a:spcBef>
              <a:buNone/>
            </a:pPr>
            <a:r>
              <a:rPr lang="en-US" sz="1000" b="0" dirty="0">
                <a:solidFill>
                  <a:srgbClr val="16262E"/>
                </a:solidFill>
              </a:rPr>
              <a:t>Cash position and forecast</a:t>
            </a:r>
          </a:p>
        </p:txBody>
      </p:sp>
      <p:sp>
        <p:nvSpPr>
          <p:cNvPr id="154" name="s154"/>
          <p:cNvSpPr/>
          <p:nvPr/>
        </p:nvSpPr>
        <p:spPr>
          <a:xfrm>
            <a:off x="508000" y="5105400"/>
            <a:ext cx="8382000" cy="685800"/>
          </a:xfrm>
          <a:prstGeom prst="rect">
            <a:avLst/>
          </a:prstGeom>
          <a:solidFill>
            <a:srgbClr val="FDF3EC"/>
          </a:solidFill>
          <a:ln>
            <a:noFill/>
          </a:ln>
        </p:spPr>
        <p:txBody>
          <a:bodyPr wrap="square" lIns="177800" tIns="50800" rIns="177800" bIns="50800" anchor="ctr">
            <a:noAutofit/>
          </a:bodyPr>
          <a:lstStyle/>
          <a:p>
            <a:pPr algn="l">
              <a:lnSpc>
                <a:spcPts val="1300"/>
              </a:lnSpc>
              <a:buNone/>
            </a:pPr>
            <a:r>
              <a:rPr lang="en-US" sz="1050" b="0" dirty="0">
                <a:solidFill>
                  <a:srgbClr val="B3560F"/>
                </a:solidFill>
              </a:rPr>
              <a:t>Handoff rule: every document carries the project code, the cost code and the reference number of the document before it — PR on the PO, PO on the receiving report, receiving report on the AP voucher.</a:t>
            </a:r>
          </a:p>
        </p:txBody>
      </p:sp>
      <p:sp>
        <p:nvSpPr>
          <p:cNvPr id="155" name="s155"/>
          <p:cNvSpPr/>
          <p:nvPr/>
        </p:nvSpPr>
        <p:spPr>
          <a:xfrm>
            <a:off x="508000" y="5969000"/>
            <a:ext cx="11176000" cy="584200"/>
          </a:xfrm>
          <a:prstGeom prst="rect">
            <a:avLst/>
          </a:prstGeom>
          <a:noFill/>
          <a:ln>
            <a:noFill/>
          </a:ln>
        </p:spPr>
        <p:txBody>
          <a:bodyPr wrap="square" lIns="0" tIns="50800" rIns="0" bIns="50800" anchor="t">
            <a:noAutofit/>
          </a:bodyPr>
          <a:lstStyle/>
          <a:p>
            <a:pPr algn="l">
              <a:lnSpc>
                <a:spcPts val="1300"/>
              </a:lnSpc>
              <a:buNone/>
            </a:pPr>
            <a:r>
              <a:rPr lang="en-US" sz="1050" b="0" dirty="0">
                <a:solidFill>
                  <a:srgbClr val="3D4A52"/>
                </a:solidFill>
              </a:rPr>
              <a:t>Where the chains break today: PRs raised without cost codes, deliveries received without a PO reference, and site expenses booked after the cutoff. Each one shows up later as an unexplained variance in the project profit and loss.</a:t>
            </a:r>
          </a:p>
        </p:txBody>
      </p:sp>
    </p:spTree>
    <p:extLst>
      <p:ext uri="{BB962C8B-B14F-4D97-AF65-F5344CB8AC3E}">
        <p14:creationId xmlns:p14="http://schemas.microsoft.com/office/powerpoint/2010/main" val="1993489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F4031-5E3B-CB68-C5E4-23E9BB3030A8}"/>
              </a:ext>
            </a:extLst>
          </p:cNvPr>
          <p:cNvSpPr>
            <a:spLocks noGrp="1"/>
          </p:cNvSpPr>
          <p:nvPr>
            <p:ph type="title"/>
          </p:nvPr>
        </p:nvSpPr>
        <p:spPr>
          <a:xfrm>
            <a:off x="508000" y="508000"/>
            <a:ext cx="11176000" cy="508000"/>
          </a:xfrm>
        </p:spPr>
        <p:txBody>
          <a:bodyPr/>
          <a:lstStyle/>
          <a:p>
            <a:pPr algn="l">
              <a:buNone/>
            </a:pPr>
            <a:r>
              <a:rPr lang="en-US" sz="2200" b="1" dirty="0">
                <a:solidFill>
                  <a:srgbClr val="12556B"/>
                </a:solidFill>
              </a:rPr>
              <a:t>One owner, one cycle time and one hard control for every process</a:t>
            </a:r>
          </a:p>
        </p:txBody>
      </p:sp>
      <p:graphicFrame>
        <p:nvGraphicFramePr>
          <p:cNvPr id="4" name="Table 3">
            <a:extLst>
              <a:ext uri="{FF2B5EF4-FFF2-40B4-BE49-F238E27FC236}">
                <a16:creationId xmlns:a16="http://schemas.microsoft.com/office/drawing/2014/main" id="{65DDA11F-E7B5-428D-A557-EF600124142E}"/>
              </a:ext>
            </a:extLst>
          </p:cNvPr>
          <p:cNvGraphicFramePr>
            <a:graphicFrameLocks noGrp="1"/>
          </p:cNvGraphicFramePr>
          <p:nvPr/>
        </p:nvGraphicFramePr>
        <p:xfrm>
          <a:off x="508000" y="1320800"/>
          <a:ext cx="11176000" cy="41148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409895865"/>
                    </a:ext>
                  </a:extLst>
                </a:gridCol>
                <a:gridCol w="2222500">
                  <a:extLst>
                    <a:ext uri="{9D8B030D-6E8A-4147-A177-3AD203B41FA5}">
                      <a16:colId xmlns:a16="http://schemas.microsoft.com/office/drawing/2014/main" val="2050285510"/>
                    </a:ext>
                  </a:extLst>
                </a:gridCol>
                <a:gridCol w="1905000">
                  <a:extLst>
                    <a:ext uri="{9D8B030D-6E8A-4147-A177-3AD203B41FA5}">
                      <a16:colId xmlns:a16="http://schemas.microsoft.com/office/drawing/2014/main" val="2020347516"/>
                    </a:ext>
                  </a:extLst>
                </a:gridCol>
                <a:gridCol w="2159000">
                  <a:extLst>
                    <a:ext uri="{9D8B030D-6E8A-4147-A177-3AD203B41FA5}">
                      <a16:colId xmlns:a16="http://schemas.microsoft.com/office/drawing/2014/main" val="4171543790"/>
                    </a:ext>
                  </a:extLst>
                </a:gridCol>
                <a:gridCol w="2984500">
                  <a:extLst>
                    <a:ext uri="{9D8B030D-6E8A-4147-A177-3AD203B41FA5}">
                      <a16:colId xmlns:a16="http://schemas.microsoft.com/office/drawing/2014/main" val="396944385"/>
                    </a:ext>
                  </a:extLst>
                </a:gridCol>
              </a:tblGrid>
              <a:tr h="381000">
                <a:tc>
                  <a:txBody>
                    <a:bodyPr/>
                    <a:lstStyle/>
                    <a:p>
                      <a:pPr algn="l"/>
                      <a:r>
                        <a:rPr lang="en-US" sz="1100" b="1">
                          <a:solidFill>
                            <a:srgbClr val="12556B"/>
                          </a:solidFill>
                          <a:latin typeface="Segoe UI"/>
                          <a:cs typeface="Segoe UI"/>
                        </a:rPr>
                        <a:t>Process</a:t>
                      </a:r>
                    </a:p>
                  </a:txBody>
                  <a:tcPr marL="127000" marR="127000" anchor="ctr"/>
                </a:tc>
                <a:tc>
                  <a:txBody>
                    <a:bodyPr/>
                    <a:lstStyle/>
                    <a:p>
                      <a:pPr algn="l"/>
                      <a:r>
                        <a:rPr lang="en-US" sz="1100" b="1">
                          <a:solidFill>
                            <a:srgbClr val="12556B"/>
                          </a:solidFill>
                          <a:latin typeface="Segoe UI"/>
                          <a:cs typeface="Segoe UI"/>
                        </a:rPr>
                        <a:t>Trigger</a:t>
                      </a:r>
                    </a:p>
                  </a:txBody>
                  <a:tcPr marL="127000" marR="127000" anchor="ctr"/>
                </a:tc>
                <a:tc>
                  <a:txBody>
                    <a:bodyPr/>
                    <a:lstStyle/>
                    <a:p>
                      <a:pPr algn="l"/>
                      <a:r>
                        <a:rPr lang="en-US" sz="1100" b="1">
                          <a:solidFill>
                            <a:srgbClr val="12556B"/>
                          </a:solidFill>
                          <a:latin typeface="Segoe UI"/>
                          <a:cs typeface="Segoe UI"/>
                        </a:rPr>
                        <a:t>Owner</a:t>
                      </a:r>
                    </a:p>
                  </a:txBody>
                  <a:tcPr marL="127000" marR="127000" anchor="ctr"/>
                </a:tc>
                <a:tc>
                  <a:txBody>
                    <a:bodyPr/>
                    <a:lstStyle/>
                    <a:p>
                      <a:pPr algn="l"/>
                      <a:r>
                        <a:rPr lang="en-US" sz="1100" b="1">
                          <a:solidFill>
                            <a:srgbClr val="12556B"/>
                          </a:solidFill>
                          <a:latin typeface="Segoe UI"/>
                          <a:cs typeface="Segoe UI"/>
                        </a:rPr>
                        <a:t>Cycle time</a:t>
                      </a:r>
                    </a:p>
                  </a:txBody>
                  <a:tcPr marL="127000" marR="127000" anchor="ctr"/>
                </a:tc>
                <a:tc>
                  <a:txBody>
                    <a:bodyPr/>
                    <a:lstStyle/>
                    <a:p>
                      <a:pPr algn="l"/>
                      <a:r>
                        <a:rPr lang="en-US" sz="1100" b="1">
                          <a:solidFill>
                            <a:srgbClr val="12556B"/>
                          </a:solidFill>
                          <a:latin typeface="Segoe UI"/>
                          <a:cs typeface="Segoe UI"/>
                        </a:rPr>
                        <a:t>Control that must pass</a:t>
                      </a:r>
                    </a:p>
                  </a:txBody>
                  <a:tcPr marL="127000" marR="127000" anchor="ctr"/>
                </a:tc>
                <a:extLst>
                  <a:ext uri="{0D108BD9-81ED-4DB2-BD59-A6C34878D82A}">
                    <a16:rowId xmlns:a16="http://schemas.microsoft.com/office/drawing/2014/main" val="895781821"/>
                  </a:ext>
                </a:extLst>
              </a:tr>
              <a:tr h="533400">
                <a:tc>
                  <a:txBody>
                    <a:bodyPr/>
                    <a:lstStyle/>
                    <a:p>
                      <a:pPr algn="l"/>
                      <a:r>
                        <a:rPr lang="en-US" sz="1100" b="1">
                          <a:solidFill>
                            <a:srgbClr val="12556B"/>
                          </a:solidFill>
                          <a:latin typeface="Segoe UI"/>
                          <a:cs typeface="Segoe UI"/>
                        </a:rPr>
                        <a:t>Project acquisition</a:t>
                      </a:r>
                    </a:p>
                  </a:txBody>
                  <a:tcPr marL="127000" marR="127000" anchor="ctr"/>
                </a:tc>
                <a:tc>
                  <a:txBody>
                    <a:bodyPr/>
                    <a:lstStyle/>
                    <a:p>
                      <a:pPr algn="l"/>
                      <a:r>
                        <a:rPr lang="en-US" sz="1100" b="0">
                          <a:solidFill>
                            <a:srgbClr val="16262E"/>
                          </a:solidFill>
                          <a:latin typeface="Segoe UI"/>
                          <a:cs typeface="Segoe UI"/>
                        </a:rPr>
                        <a:t>Notice of award</a:t>
                      </a:r>
                    </a:p>
                  </a:txBody>
                  <a:tcPr marL="127000" marR="127000" anchor="ctr"/>
                </a:tc>
                <a:tc>
                  <a:txBody>
                    <a:bodyPr/>
                    <a:lstStyle/>
                    <a:p>
                      <a:pPr algn="l"/>
                      <a:r>
                        <a:rPr lang="en-US" sz="1100" b="0">
                          <a:solidFill>
                            <a:srgbClr val="16262E"/>
                          </a:solidFill>
                          <a:latin typeface="Segoe UI"/>
                          <a:cs typeface="Segoe UI"/>
                        </a:rPr>
                        <a:t>PMO and Business Dev</a:t>
                      </a:r>
                    </a:p>
                  </a:txBody>
                  <a:tcPr marL="127000" marR="127000" anchor="ctr"/>
                </a:tc>
                <a:tc>
                  <a:txBody>
                    <a:bodyPr/>
                    <a:lstStyle/>
                    <a:p>
                      <a:pPr algn="l"/>
                      <a:r>
                        <a:rPr lang="en-US" sz="1100" b="0">
                          <a:solidFill>
                            <a:srgbClr val="16262E"/>
                          </a:solidFill>
                          <a:latin typeface="Segoe UI"/>
                          <a:cs typeface="Segoe UI"/>
                        </a:rPr>
                        <a:t>5 days, award to mobilization</a:t>
                      </a:r>
                    </a:p>
                  </a:txBody>
                  <a:tcPr marL="127000" marR="127000" anchor="ctr"/>
                </a:tc>
                <a:tc>
                  <a:txBody>
                    <a:bodyPr/>
                    <a:lstStyle/>
                    <a:p>
                      <a:pPr algn="l"/>
                      <a:r>
                        <a:rPr lang="en-US" sz="1100" b="0">
                          <a:solidFill>
                            <a:srgbClr val="16262E"/>
                          </a:solidFill>
                          <a:latin typeface="Segoe UI"/>
                          <a:cs typeface="Segoe UI"/>
                        </a:rPr>
                        <a:t>Contract signed and budget opened before any PR</a:t>
                      </a:r>
                    </a:p>
                  </a:txBody>
                  <a:tcPr marL="127000" marR="127000" anchor="ctr"/>
                </a:tc>
                <a:extLst>
                  <a:ext uri="{0D108BD9-81ED-4DB2-BD59-A6C34878D82A}">
                    <a16:rowId xmlns:a16="http://schemas.microsoft.com/office/drawing/2014/main" val="2900313328"/>
                  </a:ext>
                </a:extLst>
              </a:tr>
              <a:tr h="533400">
                <a:tc>
                  <a:txBody>
                    <a:bodyPr/>
                    <a:lstStyle/>
                    <a:p>
                      <a:pPr algn="l"/>
                      <a:r>
                        <a:rPr lang="en-US" sz="1100" b="1">
                          <a:solidFill>
                            <a:srgbClr val="12556B"/>
                          </a:solidFill>
                          <a:latin typeface="Segoe UI"/>
                          <a:cs typeface="Segoe UI"/>
                        </a:rPr>
                        <a:t>Purchase requisition</a:t>
                      </a:r>
                    </a:p>
                  </a:txBody>
                  <a:tcPr marL="127000" marR="127000" anchor="ctr"/>
                </a:tc>
                <a:tc>
                  <a:txBody>
                    <a:bodyPr/>
                    <a:lstStyle/>
                    <a:p>
                      <a:pPr algn="l"/>
                      <a:r>
                        <a:rPr lang="en-US" sz="1100" b="0">
                          <a:solidFill>
                            <a:srgbClr val="16262E"/>
                          </a:solidFill>
                          <a:latin typeface="Segoe UI"/>
                          <a:cs typeface="Segoe UI"/>
                        </a:rPr>
                        <a:t>Approved BOM or site need</a:t>
                      </a:r>
                    </a:p>
                  </a:txBody>
                  <a:tcPr marL="127000" marR="127000" anchor="ctr"/>
                </a:tc>
                <a:tc>
                  <a:txBody>
                    <a:bodyPr/>
                    <a:lstStyle/>
                    <a:p>
                      <a:pPr algn="l"/>
                      <a:r>
                        <a:rPr lang="en-US" sz="1100" b="0">
                          <a:solidFill>
                            <a:srgbClr val="16262E"/>
                          </a:solidFill>
                          <a:latin typeface="Segoe UI"/>
                          <a:cs typeface="Segoe UI"/>
                        </a:rPr>
                        <a:t>Site Engineer</a:t>
                      </a:r>
                    </a:p>
                  </a:txBody>
                  <a:tcPr marL="127000" marR="127000" anchor="ctr"/>
                </a:tc>
                <a:tc>
                  <a:txBody>
                    <a:bodyPr/>
                    <a:lstStyle/>
                    <a:p>
                      <a:pPr algn="l"/>
                      <a:r>
                        <a:rPr lang="en-US" sz="1100" b="0">
                          <a:solidFill>
                            <a:srgbClr val="16262E"/>
                          </a:solidFill>
                          <a:latin typeface="Segoe UI"/>
                          <a:cs typeface="Segoe UI"/>
                        </a:rPr>
                        <a:t>1 working day</a:t>
                      </a:r>
                    </a:p>
                  </a:txBody>
                  <a:tcPr marL="127000" marR="127000" anchor="ctr"/>
                </a:tc>
                <a:tc>
                  <a:txBody>
                    <a:bodyPr/>
                    <a:lstStyle/>
                    <a:p>
                      <a:pPr algn="l"/>
                      <a:r>
                        <a:rPr lang="en-US" sz="1100" b="0">
                          <a:solidFill>
                            <a:srgbClr val="16262E"/>
                          </a:solidFill>
                          <a:latin typeface="Segoe UI"/>
                          <a:cs typeface="Segoe UI"/>
                        </a:rPr>
                        <a:t>Cost code and budget availability confirmed</a:t>
                      </a:r>
                    </a:p>
                  </a:txBody>
                  <a:tcPr marL="127000" marR="127000" anchor="ctr"/>
                </a:tc>
                <a:extLst>
                  <a:ext uri="{0D108BD9-81ED-4DB2-BD59-A6C34878D82A}">
                    <a16:rowId xmlns:a16="http://schemas.microsoft.com/office/drawing/2014/main" val="2296726177"/>
                  </a:ext>
                </a:extLst>
              </a:tr>
              <a:tr h="533400">
                <a:tc>
                  <a:txBody>
                    <a:bodyPr/>
                    <a:lstStyle/>
                    <a:p>
                      <a:pPr algn="l"/>
                      <a:r>
                        <a:rPr lang="en-US" sz="1100" b="1">
                          <a:solidFill>
                            <a:srgbClr val="12556B"/>
                          </a:solidFill>
                          <a:latin typeface="Segoe UI"/>
                          <a:cs typeface="Segoe UI"/>
                        </a:rPr>
                        <a:t>Vendor and subcon award</a:t>
                      </a:r>
                    </a:p>
                  </a:txBody>
                  <a:tcPr marL="127000" marR="127000" anchor="ctr"/>
                </a:tc>
                <a:tc>
                  <a:txBody>
                    <a:bodyPr/>
                    <a:lstStyle/>
                    <a:p>
                      <a:pPr algn="l"/>
                      <a:r>
                        <a:rPr lang="en-US" sz="1100" b="0">
                          <a:solidFill>
                            <a:srgbClr val="16262E"/>
                          </a:solidFill>
                          <a:latin typeface="Segoe UI"/>
                          <a:cs typeface="Segoe UI"/>
                        </a:rPr>
                        <a:t>Approved PR</a:t>
                      </a:r>
                    </a:p>
                  </a:txBody>
                  <a:tcPr marL="127000" marR="127000" anchor="ctr"/>
                </a:tc>
                <a:tc>
                  <a:txBody>
                    <a:bodyPr/>
                    <a:lstStyle/>
                    <a:p>
                      <a:pPr algn="l"/>
                      <a:r>
                        <a:rPr lang="en-US" sz="1100" b="0">
                          <a:solidFill>
                            <a:srgbClr val="16262E"/>
                          </a:solidFill>
                          <a:latin typeface="Segoe UI"/>
                          <a:cs typeface="Segoe UI"/>
                        </a:rPr>
                        <a:t>Procurement</a:t>
                      </a:r>
                    </a:p>
                  </a:txBody>
                  <a:tcPr marL="127000" marR="127000" anchor="ctr"/>
                </a:tc>
                <a:tc>
                  <a:txBody>
                    <a:bodyPr/>
                    <a:lstStyle/>
                    <a:p>
                      <a:pPr algn="l"/>
                      <a:r>
                        <a:rPr lang="en-US" sz="1100" b="0">
                          <a:solidFill>
                            <a:srgbClr val="16262E"/>
                          </a:solidFill>
                          <a:latin typeface="Segoe UI"/>
                          <a:cs typeface="Segoe UI"/>
                        </a:rPr>
                        <a:t>3 to 5 working days</a:t>
                      </a:r>
                    </a:p>
                  </a:txBody>
                  <a:tcPr marL="127000" marR="127000" anchor="ctr"/>
                </a:tc>
                <a:tc>
                  <a:txBody>
                    <a:bodyPr/>
                    <a:lstStyle/>
                    <a:p>
                      <a:pPr algn="l"/>
                      <a:r>
                        <a:rPr lang="en-US" sz="1100" b="0">
                          <a:solidFill>
                            <a:srgbClr val="16262E"/>
                          </a:solidFill>
                          <a:latin typeface="Segoe UI"/>
                          <a:cs typeface="Segoe UI"/>
                        </a:rPr>
                        <a:t>Three quotes and an abstract of canvass</a:t>
                      </a:r>
                    </a:p>
                  </a:txBody>
                  <a:tcPr marL="127000" marR="127000" anchor="ctr"/>
                </a:tc>
                <a:extLst>
                  <a:ext uri="{0D108BD9-81ED-4DB2-BD59-A6C34878D82A}">
                    <a16:rowId xmlns:a16="http://schemas.microsoft.com/office/drawing/2014/main" val="1386904515"/>
                  </a:ext>
                </a:extLst>
              </a:tr>
              <a:tr h="533400">
                <a:tc>
                  <a:txBody>
                    <a:bodyPr/>
                    <a:lstStyle/>
                    <a:p>
                      <a:pPr algn="l"/>
                      <a:r>
                        <a:rPr lang="en-US" sz="1100" b="1">
                          <a:solidFill>
                            <a:srgbClr val="12556B"/>
                          </a:solidFill>
                          <a:latin typeface="Segoe UI"/>
                          <a:cs typeface="Segoe UI"/>
                        </a:rPr>
                        <a:t>Delivery to payment</a:t>
                      </a:r>
                    </a:p>
                  </a:txBody>
                  <a:tcPr marL="127000" marR="127000" anchor="ctr"/>
                </a:tc>
                <a:tc>
                  <a:txBody>
                    <a:bodyPr/>
                    <a:lstStyle/>
                    <a:p>
                      <a:pPr algn="l"/>
                      <a:r>
                        <a:rPr lang="en-US" sz="1100" b="0">
                          <a:solidFill>
                            <a:srgbClr val="16262E"/>
                          </a:solidFill>
                          <a:latin typeface="Segoe UI"/>
                          <a:cs typeface="Segoe UI"/>
                        </a:rPr>
                        <a:t>PO issued</a:t>
                      </a:r>
                    </a:p>
                  </a:txBody>
                  <a:tcPr marL="127000" marR="127000" anchor="ctr"/>
                </a:tc>
                <a:tc>
                  <a:txBody>
                    <a:bodyPr/>
                    <a:lstStyle/>
                    <a:p>
                      <a:pPr algn="l"/>
                      <a:r>
                        <a:rPr lang="en-US" sz="1100" b="0">
                          <a:solidFill>
                            <a:srgbClr val="16262E"/>
                          </a:solidFill>
                          <a:latin typeface="Segoe UI"/>
                          <a:cs typeface="Segoe UI"/>
                        </a:rPr>
                        <a:t>Warehouse and Accounting</a:t>
                      </a:r>
                    </a:p>
                  </a:txBody>
                  <a:tcPr marL="127000" marR="127000" anchor="ctr"/>
                </a:tc>
                <a:tc>
                  <a:txBody>
                    <a:bodyPr/>
                    <a:lstStyle/>
                    <a:p>
                      <a:pPr algn="l"/>
                      <a:r>
                        <a:rPr lang="en-US" sz="1100" b="0">
                          <a:solidFill>
                            <a:srgbClr val="16262E"/>
                          </a:solidFill>
                          <a:latin typeface="Segoe UI"/>
                          <a:cs typeface="Segoe UI"/>
                        </a:rPr>
                        <a:t>Per PO terms, 30 days typical</a:t>
                      </a:r>
                    </a:p>
                  </a:txBody>
                  <a:tcPr marL="127000" marR="127000" anchor="ctr"/>
                </a:tc>
                <a:tc>
                  <a:txBody>
                    <a:bodyPr/>
                    <a:lstStyle/>
                    <a:p>
                      <a:pPr algn="l"/>
                      <a:r>
                        <a:rPr lang="en-US" sz="1100" b="0">
                          <a:solidFill>
                            <a:srgbClr val="16262E"/>
                          </a:solidFill>
                          <a:latin typeface="Segoe UI"/>
                          <a:cs typeface="Segoe UI"/>
                        </a:rPr>
                        <a:t>PO, receiving report and invoice match</a:t>
                      </a:r>
                    </a:p>
                  </a:txBody>
                  <a:tcPr marL="127000" marR="127000" anchor="ctr"/>
                </a:tc>
                <a:extLst>
                  <a:ext uri="{0D108BD9-81ED-4DB2-BD59-A6C34878D82A}">
                    <a16:rowId xmlns:a16="http://schemas.microsoft.com/office/drawing/2014/main" val="3165740044"/>
                  </a:ext>
                </a:extLst>
              </a:tr>
              <a:tr h="533400">
                <a:tc>
                  <a:txBody>
                    <a:bodyPr/>
                    <a:lstStyle/>
                    <a:p>
                      <a:pPr algn="l"/>
                      <a:r>
                        <a:rPr lang="en-US" sz="1100" b="1">
                          <a:solidFill>
                            <a:srgbClr val="12556B"/>
                          </a:solidFill>
                          <a:latin typeface="Segoe UI"/>
                          <a:cs typeface="Segoe UI"/>
                        </a:rPr>
                        <a:t>Progress billing</a:t>
                      </a:r>
                    </a:p>
                  </a:txBody>
                  <a:tcPr marL="127000" marR="127000" anchor="ctr"/>
                </a:tc>
                <a:tc>
                  <a:txBody>
                    <a:bodyPr/>
                    <a:lstStyle/>
                    <a:p>
                      <a:pPr algn="l"/>
                      <a:r>
                        <a:rPr lang="en-US" sz="1100" b="0">
                          <a:solidFill>
                            <a:srgbClr val="16262E"/>
                          </a:solidFill>
                          <a:latin typeface="Segoe UI"/>
                          <a:cs typeface="Segoe UI"/>
                        </a:rPr>
                        <a:t>Monthly accomplishment cutoff</a:t>
                      </a:r>
                    </a:p>
                  </a:txBody>
                  <a:tcPr marL="127000" marR="127000" anchor="ctr"/>
                </a:tc>
                <a:tc>
                  <a:txBody>
                    <a:bodyPr/>
                    <a:lstStyle/>
                    <a:p>
                      <a:pPr algn="l"/>
                      <a:r>
                        <a:rPr lang="en-US" sz="1100" b="0">
                          <a:solidFill>
                            <a:srgbClr val="16262E"/>
                          </a:solidFill>
                          <a:latin typeface="Segoe UI"/>
                          <a:cs typeface="Segoe UI"/>
                        </a:rPr>
                        <a:t>QS and Finance</a:t>
                      </a:r>
                    </a:p>
                  </a:txBody>
                  <a:tcPr marL="127000" marR="127000" anchor="ctr"/>
                </a:tc>
                <a:tc>
                  <a:txBody>
                    <a:bodyPr/>
                    <a:lstStyle/>
                    <a:p>
                      <a:pPr algn="l"/>
                      <a:r>
                        <a:rPr lang="en-US" sz="1100" b="0">
                          <a:solidFill>
                            <a:srgbClr val="16262E"/>
                          </a:solidFill>
                          <a:latin typeface="Segoe UI"/>
                          <a:cs typeface="Segoe UI"/>
                        </a:rPr>
                        <a:t>5 working days after cutoff</a:t>
                      </a:r>
                    </a:p>
                  </a:txBody>
                  <a:tcPr marL="127000" marR="127000" anchor="ctr"/>
                </a:tc>
                <a:tc>
                  <a:txBody>
                    <a:bodyPr/>
                    <a:lstStyle/>
                    <a:p>
                      <a:pPr algn="l"/>
                      <a:r>
                        <a:rPr lang="en-US" sz="1100" b="0">
                          <a:solidFill>
                            <a:srgbClr val="16262E"/>
                          </a:solidFill>
                          <a:latin typeface="Segoe UI"/>
                          <a:cs typeface="Segoe UI"/>
                        </a:rPr>
                        <a:t>Joint survey signed by the client</a:t>
                      </a:r>
                    </a:p>
                  </a:txBody>
                  <a:tcPr marL="127000" marR="127000" anchor="ctr"/>
                </a:tc>
                <a:extLst>
                  <a:ext uri="{0D108BD9-81ED-4DB2-BD59-A6C34878D82A}">
                    <a16:rowId xmlns:a16="http://schemas.microsoft.com/office/drawing/2014/main" val="1644677353"/>
                  </a:ext>
                </a:extLst>
              </a:tr>
              <a:tr h="533400">
                <a:tc>
                  <a:txBody>
                    <a:bodyPr/>
                    <a:lstStyle/>
                    <a:p>
                      <a:pPr algn="l"/>
                      <a:r>
                        <a:rPr lang="en-US" sz="1100" b="1">
                          <a:solidFill>
                            <a:srgbClr val="12556B"/>
                          </a:solidFill>
                          <a:latin typeface="Segoe UI"/>
                          <a:cs typeface="Segoe UI"/>
                        </a:rPr>
                        <a:t>Payroll</a:t>
                      </a:r>
                    </a:p>
                  </a:txBody>
                  <a:tcPr marL="127000" marR="127000" anchor="ctr"/>
                </a:tc>
                <a:tc>
                  <a:txBody>
                    <a:bodyPr/>
                    <a:lstStyle/>
                    <a:p>
                      <a:pPr algn="l"/>
                      <a:r>
                        <a:rPr lang="en-US" sz="1100" b="0">
                          <a:solidFill>
                            <a:srgbClr val="16262E"/>
                          </a:solidFill>
                          <a:latin typeface="Segoe UI"/>
                          <a:cs typeface="Segoe UI"/>
                        </a:rPr>
                        <a:t>Semi-monthly cutoff</a:t>
                      </a:r>
                    </a:p>
                  </a:txBody>
                  <a:tcPr marL="127000" marR="127000" anchor="ctr"/>
                </a:tc>
                <a:tc>
                  <a:txBody>
                    <a:bodyPr/>
                    <a:lstStyle/>
                    <a:p>
                      <a:pPr algn="l"/>
                      <a:r>
                        <a:rPr lang="en-US" sz="1100" b="0">
                          <a:solidFill>
                            <a:srgbClr val="16262E"/>
                          </a:solidFill>
                          <a:latin typeface="Segoe UI"/>
                          <a:cs typeface="Segoe UI"/>
                        </a:rPr>
                        <a:t>HR and Treasury</a:t>
                      </a:r>
                    </a:p>
                  </a:txBody>
                  <a:tcPr marL="127000" marR="127000" anchor="ctr"/>
                </a:tc>
                <a:tc>
                  <a:txBody>
                    <a:bodyPr/>
                    <a:lstStyle/>
                    <a:p>
                      <a:pPr algn="l"/>
                      <a:r>
                        <a:rPr lang="en-US" sz="1100" b="0">
                          <a:solidFill>
                            <a:srgbClr val="16262E"/>
                          </a:solidFill>
                          <a:latin typeface="Segoe UI"/>
                          <a:cs typeface="Segoe UI"/>
                        </a:rPr>
                        <a:t>3 working days after cutoff</a:t>
                      </a:r>
                    </a:p>
                  </a:txBody>
                  <a:tcPr marL="127000" marR="127000" anchor="ctr"/>
                </a:tc>
                <a:tc>
                  <a:txBody>
                    <a:bodyPr/>
                    <a:lstStyle/>
                    <a:p>
                      <a:pPr algn="l"/>
                      <a:r>
                        <a:rPr lang="en-US" sz="1100" b="0">
                          <a:solidFill>
                            <a:srgbClr val="16262E"/>
                          </a:solidFill>
                          <a:latin typeface="Segoe UI"/>
                          <a:cs typeface="Segoe UI"/>
                        </a:rPr>
                        <a:t>Validated DTR and written OT approval</a:t>
                      </a:r>
                    </a:p>
                  </a:txBody>
                  <a:tcPr marL="127000" marR="127000" anchor="ctr"/>
                </a:tc>
                <a:extLst>
                  <a:ext uri="{0D108BD9-81ED-4DB2-BD59-A6C34878D82A}">
                    <a16:rowId xmlns:a16="http://schemas.microsoft.com/office/drawing/2014/main" val="2519361304"/>
                  </a:ext>
                </a:extLst>
              </a:tr>
              <a:tr h="533400">
                <a:tc>
                  <a:txBody>
                    <a:bodyPr/>
                    <a:lstStyle/>
                    <a:p>
                      <a:pPr algn="l"/>
                      <a:r>
                        <a:rPr lang="en-US" sz="1100" b="1">
                          <a:solidFill>
                            <a:srgbClr val="12556B"/>
                          </a:solidFill>
                          <a:latin typeface="Segoe UI"/>
                          <a:cs typeface="Segoe UI"/>
                        </a:rPr>
                        <a:t>OPEX consolidation</a:t>
                      </a:r>
                    </a:p>
                  </a:txBody>
                  <a:tcPr marL="127000" marR="127000" anchor="ctr"/>
                </a:tc>
                <a:tc>
                  <a:txBody>
                    <a:bodyPr/>
                    <a:lstStyle/>
                    <a:p>
                      <a:pPr algn="l"/>
                      <a:r>
                        <a:rPr lang="en-US" sz="1100" b="0">
                          <a:solidFill>
                            <a:srgbClr val="16262E"/>
                          </a:solidFill>
                          <a:latin typeface="Segoe UI"/>
                          <a:cs typeface="Segoe UI"/>
                        </a:rPr>
                        <a:t>Month end</a:t>
                      </a:r>
                    </a:p>
                  </a:txBody>
                  <a:tcPr marL="127000" marR="127000" anchor="ctr"/>
                </a:tc>
                <a:tc>
                  <a:txBody>
                    <a:bodyPr/>
                    <a:lstStyle/>
                    <a:p>
                      <a:pPr algn="l"/>
                      <a:r>
                        <a:rPr lang="en-US" sz="1100" b="0">
                          <a:solidFill>
                            <a:srgbClr val="16262E"/>
                          </a:solidFill>
                          <a:latin typeface="Segoe UI"/>
                          <a:cs typeface="Segoe UI"/>
                        </a:rPr>
                        <a:t>Accounting</a:t>
                      </a:r>
                    </a:p>
                  </a:txBody>
                  <a:tcPr marL="127000" marR="127000" anchor="ctr"/>
                </a:tc>
                <a:tc>
                  <a:txBody>
                    <a:bodyPr/>
                    <a:lstStyle/>
                    <a:p>
                      <a:pPr algn="l"/>
                      <a:r>
                        <a:rPr lang="en-US" sz="1100" b="0">
                          <a:solidFill>
                            <a:srgbClr val="16262E"/>
                          </a:solidFill>
                          <a:latin typeface="Segoe UI"/>
                          <a:cs typeface="Segoe UI"/>
                        </a:rPr>
                        <a:t>Close by day 30, report by day 5</a:t>
                      </a:r>
                    </a:p>
                  </a:txBody>
                  <a:tcPr marL="127000" marR="127000" anchor="ctr"/>
                </a:tc>
                <a:tc>
                  <a:txBody>
                    <a:bodyPr/>
                    <a:lstStyle/>
                    <a:p>
                      <a:pPr algn="l"/>
                      <a:r>
                        <a:rPr lang="en-US" sz="1100" b="0">
                          <a:solidFill>
                            <a:srgbClr val="16262E"/>
                          </a:solidFill>
                          <a:latin typeface="Segoe UI"/>
                          <a:cs typeface="Segoe UI"/>
                        </a:rPr>
                        <a:t>Coded receipts within the cutoff only</a:t>
                      </a:r>
                    </a:p>
                  </a:txBody>
                  <a:tcPr marL="127000" marR="127000" anchor="ctr"/>
                </a:tc>
                <a:extLst>
                  <a:ext uri="{0D108BD9-81ED-4DB2-BD59-A6C34878D82A}">
                    <a16:rowId xmlns:a16="http://schemas.microsoft.com/office/drawing/2014/main" val="77053383"/>
                  </a:ext>
                </a:extLst>
              </a:tr>
            </a:tbl>
          </a:graphicData>
        </a:graphic>
      </p:graphicFrame>
      <p:sp>
        <p:nvSpPr>
          <p:cNvPr id="101" name="s101"/>
          <p:cNvSpPr/>
          <p:nvPr/>
        </p:nvSpPr>
        <p:spPr>
          <a:xfrm>
            <a:off x="508000" y="254000"/>
            <a:ext cx="7620000" cy="254000"/>
          </a:xfrm>
          <a:prstGeom prst="rect">
            <a:avLst/>
          </a:prstGeom>
          <a:noFill/>
          <a:ln>
            <a:noFill/>
          </a:ln>
        </p:spPr>
        <p:txBody>
          <a:bodyPr wrap="square" lIns="0" tIns="50800" rIns="0" bIns="50800" anchor="ctr">
            <a:noAutofit/>
          </a:bodyPr>
          <a:lstStyle/>
          <a:p>
            <a:pPr algn="l">
              <a:buNone/>
            </a:pPr>
            <a:r>
              <a:rPr lang="en-US" sz="1100" b="1" dirty="0">
                <a:solidFill>
                  <a:srgbClr val="C8621B"/>
                </a:solidFill>
              </a:rPr>
              <a:t>ACCOUNTABILITY SUMMARY</a:t>
            </a:r>
          </a:p>
        </p:txBody>
      </p:sp>
      <p:sp>
        <p:nvSpPr>
          <p:cNvPr id="102" name="s102"/>
          <p:cNvSpPr/>
          <p:nvPr/>
        </p:nvSpPr>
        <p:spPr>
          <a:xfrm>
            <a:off x="508000" y="1701800"/>
            <a:ext cx="11176000" cy="25400"/>
          </a:xfrm>
          <a:prstGeom prst="rect">
            <a:avLst/>
          </a:prstGeom>
          <a:solidFill>
            <a:srgbClr val="12556B"/>
          </a:solidFill>
          <a:ln>
            <a:noFill/>
          </a:ln>
        </p:spPr>
        <p:txBody>
          <a:bodyPr wrap="square" lIns="0" tIns="50800" rIns="0" bIns="50800" anchor="ctr">
            <a:noAutofit/>
          </a:bodyPr>
          <a:lstStyle/>
          <a:p>
            <a:pPr>
              <a:buNone/>
            </a:pPr>
            <a:endParaRPr lang="en-US"/>
          </a:p>
        </p:txBody>
      </p:sp>
      <p:sp>
        <p:nvSpPr>
          <p:cNvPr id="103" name="s103"/>
          <p:cNvSpPr/>
          <p:nvPr/>
        </p:nvSpPr>
        <p:spPr>
          <a:xfrm>
            <a:off x="508000" y="2235200"/>
            <a:ext cx="11176000" cy="12700"/>
          </a:xfrm>
          <a:prstGeom prst="rect">
            <a:avLst/>
          </a:prstGeom>
          <a:solidFill>
            <a:srgbClr val="DCE4E8"/>
          </a:solidFill>
          <a:ln>
            <a:noFill/>
          </a:ln>
        </p:spPr>
        <p:txBody>
          <a:bodyPr wrap="square" lIns="0" tIns="50800" rIns="0" bIns="50800" anchor="ctr">
            <a:noAutofit/>
          </a:bodyPr>
          <a:lstStyle/>
          <a:p>
            <a:pPr>
              <a:buNone/>
            </a:pPr>
            <a:endParaRPr lang="en-US"/>
          </a:p>
        </p:txBody>
      </p:sp>
      <p:sp>
        <p:nvSpPr>
          <p:cNvPr id="104" name="s104"/>
          <p:cNvSpPr/>
          <p:nvPr/>
        </p:nvSpPr>
        <p:spPr>
          <a:xfrm>
            <a:off x="508000" y="2768600"/>
            <a:ext cx="11176000" cy="12700"/>
          </a:xfrm>
          <a:prstGeom prst="rect">
            <a:avLst/>
          </a:prstGeom>
          <a:solidFill>
            <a:srgbClr val="DCE4E8"/>
          </a:solidFill>
          <a:ln>
            <a:noFill/>
          </a:ln>
        </p:spPr>
        <p:txBody>
          <a:bodyPr wrap="square" lIns="0" tIns="50800" rIns="0" bIns="50800" anchor="ctr">
            <a:noAutofit/>
          </a:bodyPr>
          <a:lstStyle/>
          <a:p>
            <a:pPr>
              <a:buNone/>
            </a:pPr>
            <a:endParaRPr lang="en-US"/>
          </a:p>
        </p:txBody>
      </p:sp>
      <p:sp>
        <p:nvSpPr>
          <p:cNvPr id="105" name="s105"/>
          <p:cNvSpPr/>
          <p:nvPr/>
        </p:nvSpPr>
        <p:spPr>
          <a:xfrm>
            <a:off x="508000" y="3302000"/>
            <a:ext cx="11176000" cy="12700"/>
          </a:xfrm>
          <a:prstGeom prst="rect">
            <a:avLst/>
          </a:prstGeom>
          <a:solidFill>
            <a:srgbClr val="DCE4E8"/>
          </a:solidFill>
          <a:ln>
            <a:noFill/>
          </a:ln>
        </p:spPr>
        <p:txBody>
          <a:bodyPr wrap="square" lIns="0" tIns="50800" rIns="0" bIns="50800" anchor="ctr">
            <a:noAutofit/>
          </a:bodyPr>
          <a:lstStyle/>
          <a:p>
            <a:pPr>
              <a:buNone/>
            </a:pPr>
            <a:endParaRPr lang="en-US"/>
          </a:p>
        </p:txBody>
      </p:sp>
      <p:sp>
        <p:nvSpPr>
          <p:cNvPr id="106" name="s106"/>
          <p:cNvSpPr/>
          <p:nvPr/>
        </p:nvSpPr>
        <p:spPr>
          <a:xfrm>
            <a:off x="508000" y="3835400"/>
            <a:ext cx="11176000" cy="12700"/>
          </a:xfrm>
          <a:prstGeom prst="rect">
            <a:avLst/>
          </a:prstGeom>
          <a:solidFill>
            <a:srgbClr val="DCE4E8"/>
          </a:solidFill>
          <a:ln>
            <a:noFill/>
          </a:ln>
        </p:spPr>
        <p:txBody>
          <a:bodyPr wrap="square" lIns="0" tIns="50800" rIns="0" bIns="50800" anchor="ctr">
            <a:noAutofit/>
          </a:bodyPr>
          <a:lstStyle/>
          <a:p>
            <a:pPr>
              <a:buNone/>
            </a:pPr>
            <a:endParaRPr lang="en-US"/>
          </a:p>
        </p:txBody>
      </p:sp>
      <p:sp>
        <p:nvSpPr>
          <p:cNvPr id="107" name="s107"/>
          <p:cNvSpPr/>
          <p:nvPr/>
        </p:nvSpPr>
        <p:spPr>
          <a:xfrm>
            <a:off x="508000" y="4368800"/>
            <a:ext cx="11176000" cy="12700"/>
          </a:xfrm>
          <a:prstGeom prst="rect">
            <a:avLst/>
          </a:prstGeom>
          <a:solidFill>
            <a:srgbClr val="DCE4E8"/>
          </a:solidFill>
          <a:ln>
            <a:noFill/>
          </a:ln>
        </p:spPr>
        <p:txBody>
          <a:bodyPr wrap="square" lIns="0" tIns="50800" rIns="0" bIns="50800" anchor="ctr">
            <a:noAutofit/>
          </a:bodyPr>
          <a:lstStyle/>
          <a:p>
            <a:pPr>
              <a:buNone/>
            </a:pPr>
            <a:endParaRPr lang="en-US"/>
          </a:p>
        </p:txBody>
      </p:sp>
      <p:sp>
        <p:nvSpPr>
          <p:cNvPr id="108" name="s108"/>
          <p:cNvSpPr/>
          <p:nvPr/>
        </p:nvSpPr>
        <p:spPr>
          <a:xfrm>
            <a:off x="508000" y="4902200"/>
            <a:ext cx="11176000" cy="12700"/>
          </a:xfrm>
          <a:prstGeom prst="rect">
            <a:avLst/>
          </a:prstGeom>
          <a:solidFill>
            <a:srgbClr val="DCE4E8"/>
          </a:solidFill>
          <a:ln>
            <a:noFill/>
          </a:ln>
        </p:spPr>
        <p:txBody>
          <a:bodyPr wrap="square" lIns="0" tIns="50800" rIns="0" bIns="50800" anchor="ctr">
            <a:noAutofit/>
          </a:bodyPr>
          <a:lstStyle/>
          <a:p>
            <a:pPr>
              <a:buNone/>
            </a:pPr>
            <a:endParaRPr lang="en-US"/>
          </a:p>
        </p:txBody>
      </p:sp>
      <p:sp>
        <p:nvSpPr>
          <p:cNvPr id="109" name="s109"/>
          <p:cNvSpPr/>
          <p:nvPr/>
        </p:nvSpPr>
        <p:spPr>
          <a:xfrm>
            <a:off x="508000" y="5435600"/>
            <a:ext cx="11176000" cy="12700"/>
          </a:xfrm>
          <a:prstGeom prst="rect">
            <a:avLst/>
          </a:prstGeom>
          <a:solidFill>
            <a:srgbClr val="DCE4E8"/>
          </a:solidFill>
          <a:ln>
            <a:noFill/>
          </a:ln>
        </p:spPr>
        <p:txBody>
          <a:bodyPr wrap="square" lIns="0" tIns="50800" rIns="0" bIns="50800" anchor="ctr">
            <a:noAutofit/>
          </a:bodyPr>
          <a:lstStyle/>
          <a:p>
            <a:pPr>
              <a:buNone/>
            </a:pPr>
            <a:endParaRPr lang="en-US"/>
          </a:p>
        </p:txBody>
      </p:sp>
      <p:sp>
        <p:nvSpPr>
          <p:cNvPr id="110" name="s110"/>
          <p:cNvSpPr/>
          <p:nvPr/>
        </p:nvSpPr>
        <p:spPr>
          <a:xfrm>
            <a:off x="508000" y="5664200"/>
            <a:ext cx="11176000" cy="558800"/>
          </a:xfrm>
          <a:prstGeom prst="rect">
            <a:avLst/>
          </a:prstGeom>
          <a:noFill/>
          <a:ln>
            <a:noFill/>
          </a:ln>
        </p:spPr>
        <p:txBody>
          <a:bodyPr wrap="square" lIns="0" tIns="50800" rIns="0" bIns="50800" anchor="t">
            <a:noAutofit/>
          </a:bodyPr>
          <a:lstStyle/>
          <a:p>
            <a:pPr algn="l">
              <a:lnSpc>
                <a:spcPts val="1300"/>
              </a:lnSpc>
              <a:buNone/>
            </a:pPr>
            <a:r>
              <a:rPr lang="en-US" sz="1050" b="0" dirty="0">
                <a:solidFill>
                  <a:srgbClr val="3D4A52"/>
                </a:solidFill>
              </a:rPr>
              <a:t>Cycle times are targets for the process owner, measured from the trigger to the signed output. Missed targets are reported at the weekly operations meeting with the reason and the affected project.</a:t>
            </a:r>
          </a:p>
        </p:txBody>
      </p:sp>
    </p:spTree>
    <p:extLst>
      <p:ext uri="{BB962C8B-B14F-4D97-AF65-F5344CB8AC3E}">
        <p14:creationId xmlns:p14="http://schemas.microsoft.com/office/powerpoint/2010/main" val="1084167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B00BD-6D66-8B0A-9655-3DB394DEFC95}"/>
              </a:ext>
            </a:extLst>
          </p:cNvPr>
          <p:cNvSpPr>
            <a:spLocks noGrp="1"/>
          </p:cNvSpPr>
          <p:nvPr>
            <p:ph type="title"/>
          </p:nvPr>
        </p:nvSpPr>
        <p:spPr>
          <a:xfrm>
            <a:off x="508000" y="508000"/>
            <a:ext cx="11176000" cy="508000"/>
          </a:xfrm>
        </p:spPr>
        <p:txBody>
          <a:bodyPr/>
          <a:lstStyle/>
          <a:p>
            <a:pPr algn="l">
              <a:buNone/>
            </a:pPr>
            <a:r>
              <a:rPr lang="en-US" sz="2200" b="1" dirty="0">
                <a:solidFill>
                  <a:srgbClr val="12556B"/>
                </a:solidFill>
              </a:rPr>
              <a:t>What to confirm before this is issued as the standard process</a:t>
            </a:r>
          </a:p>
        </p:txBody>
      </p:sp>
      <p:sp>
        <p:nvSpPr>
          <p:cNvPr id="101" name="s101"/>
          <p:cNvSpPr/>
          <p:nvPr/>
        </p:nvSpPr>
        <p:spPr>
          <a:xfrm>
            <a:off x="508000" y="254000"/>
            <a:ext cx="7620000" cy="254000"/>
          </a:xfrm>
          <a:prstGeom prst="rect">
            <a:avLst/>
          </a:prstGeom>
          <a:noFill/>
          <a:ln>
            <a:noFill/>
          </a:ln>
        </p:spPr>
        <p:txBody>
          <a:bodyPr wrap="square" lIns="0" tIns="76200" rIns="0" bIns="76200" anchor="ctr">
            <a:noAutofit/>
          </a:bodyPr>
          <a:lstStyle/>
          <a:p>
            <a:pPr algn="l">
              <a:buNone/>
            </a:pPr>
            <a:r>
              <a:rPr lang="en-US" sz="1100" b="1" dirty="0">
                <a:solidFill>
                  <a:srgbClr val="C8621B"/>
                </a:solidFill>
              </a:rPr>
              <a:t>FORMS, SYSTEMS AND NEXT STEPS</a:t>
            </a:r>
          </a:p>
        </p:txBody>
      </p:sp>
      <p:sp>
        <p:nvSpPr>
          <p:cNvPr id="102" name="s102"/>
          <p:cNvSpPr/>
          <p:nvPr/>
        </p:nvSpPr>
        <p:spPr>
          <a:xfrm>
            <a:off x="508000" y="1244600"/>
            <a:ext cx="7010400" cy="3759200"/>
          </a:xfrm>
          <a:prstGeom prst="rect">
            <a:avLst/>
          </a:prstGeom>
          <a:solidFill>
            <a:srgbClr val="FFFFFF"/>
          </a:solidFill>
          <a:ln w="12700">
            <a:solidFill>
              <a:srgbClr val="DCE4E8"/>
            </a:solidFill>
          </a:ln>
        </p:spPr>
        <p:txBody>
          <a:bodyPr wrap="square" lIns="127000" tIns="76200" rIns="127000" bIns="76200" anchor="ctr">
            <a:noAutofit/>
          </a:bodyPr>
          <a:lstStyle/>
          <a:p>
            <a:pPr>
              <a:buNone/>
            </a:pPr>
            <a:endParaRPr lang="en-US"/>
          </a:p>
        </p:txBody>
      </p:sp>
      <p:sp>
        <p:nvSpPr>
          <p:cNvPr id="103" name="s103"/>
          <p:cNvSpPr/>
          <p:nvPr/>
        </p:nvSpPr>
        <p:spPr>
          <a:xfrm>
            <a:off x="508000" y="1244600"/>
            <a:ext cx="7010400" cy="355600"/>
          </a:xfrm>
          <a:prstGeom prst="rect">
            <a:avLst/>
          </a:prstGeom>
          <a:solidFill>
            <a:srgbClr val="0E8C9E"/>
          </a:solidFill>
          <a:ln>
            <a:noFill/>
          </a:ln>
        </p:spPr>
        <p:txBody>
          <a:bodyPr wrap="square" lIns="152400" tIns="76200" rIns="152400" bIns="76200" anchor="ctr">
            <a:noAutofit/>
          </a:bodyPr>
          <a:lstStyle/>
          <a:p>
            <a:pPr algn="l">
              <a:buNone/>
            </a:pPr>
            <a:r>
              <a:rPr lang="en-US" sz="1050" b="1" dirty="0">
                <a:solidFill>
                  <a:srgbClr val="FFFFFF"/>
                </a:solidFill>
              </a:rPr>
              <a:t>FORMS AND SYSTEM TOUCHPOINTS</a:t>
            </a:r>
          </a:p>
        </p:txBody>
      </p:sp>
      <p:sp>
        <p:nvSpPr>
          <p:cNvPr id="104" name="s104"/>
          <p:cNvSpPr/>
          <p:nvPr/>
        </p:nvSpPr>
        <p:spPr>
          <a:xfrm>
            <a:off x="660400" y="1651000"/>
            <a:ext cx="1905000" cy="762000"/>
          </a:xfrm>
          <a:prstGeom prst="rect">
            <a:avLst/>
          </a:prstGeom>
          <a:noFill/>
          <a:ln>
            <a:noFill/>
          </a:ln>
        </p:spPr>
        <p:txBody>
          <a:bodyPr wrap="square" lIns="0" tIns="76200" rIns="0" bIns="76200" anchor="ctr">
            <a:noAutofit/>
          </a:bodyPr>
          <a:lstStyle/>
          <a:p>
            <a:pPr algn="l">
              <a:lnSpc>
                <a:spcPts val="1250"/>
              </a:lnSpc>
              <a:buNone/>
            </a:pPr>
            <a:r>
              <a:rPr lang="en-US" sz="1050" b="1" dirty="0">
                <a:solidFill>
                  <a:srgbClr val="12556B"/>
                </a:solidFill>
              </a:rPr>
              <a:t>Project acquisition</a:t>
            </a:r>
          </a:p>
        </p:txBody>
      </p:sp>
      <p:sp>
        <p:nvSpPr>
          <p:cNvPr id="105" name="s105"/>
          <p:cNvSpPr/>
          <p:nvPr/>
        </p:nvSpPr>
        <p:spPr>
          <a:xfrm>
            <a:off x="2667000" y="1651000"/>
            <a:ext cx="2946400" cy="762000"/>
          </a:xfrm>
          <a:prstGeom prst="rect">
            <a:avLst/>
          </a:prstGeom>
          <a:noFill/>
          <a:ln>
            <a:noFill/>
          </a:ln>
        </p:spPr>
        <p:txBody>
          <a:bodyPr wrap="square" lIns="0" tIns="76200" rIns="0" bIns="76200" anchor="ctr">
            <a:noAutofit/>
          </a:bodyPr>
          <a:lstStyle/>
          <a:p>
            <a:pPr algn="l">
              <a:lnSpc>
                <a:spcPts val="1200"/>
              </a:lnSpc>
              <a:buNone/>
            </a:pPr>
            <a:r>
              <a:rPr lang="en-US" sz="1000" b="0" dirty="0">
                <a:solidFill>
                  <a:srgbClr val="16262E"/>
                </a:solidFill>
              </a:rPr>
              <a:t>Billing form, invoice request, statement of accomplishment, official receipt</a:t>
            </a:r>
          </a:p>
        </p:txBody>
      </p:sp>
      <p:sp>
        <p:nvSpPr>
          <p:cNvPr id="106" name="s106"/>
          <p:cNvSpPr/>
          <p:nvPr/>
        </p:nvSpPr>
        <p:spPr>
          <a:xfrm>
            <a:off x="5715000" y="1651000"/>
            <a:ext cx="1676400" cy="762000"/>
          </a:xfrm>
          <a:prstGeom prst="rect">
            <a:avLst/>
          </a:prstGeom>
          <a:noFill/>
          <a:ln>
            <a:noFill/>
          </a:ln>
        </p:spPr>
        <p:txBody>
          <a:bodyPr wrap="square" lIns="0" tIns="76200" rIns="0" bIns="76200" anchor="ctr">
            <a:noAutofit/>
          </a:bodyPr>
          <a:lstStyle/>
          <a:p>
            <a:pPr algn="l">
              <a:lnSpc>
                <a:spcPts val="1200"/>
              </a:lnSpc>
              <a:buNone/>
            </a:pPr>
            <a:r>
              <a:rPr lang="en-US" sz="1000" b="0" dirty="0">
                <a:solidFill>
                  <a:srgbClr val="B3560F"/>
                </a:solidFill>
              </a:rPr>
              <a:t>PMO tracker and accounting system</a:t>
            </a:r>
          </a:p>
        </p:txBody>
      </p:sp>
      <p:sp>
        <p:nvSpPr>
          <p:cNvPr id="107" name="s107"/>
          <p:cNvSpPr/>
          <p:nvPr/>
        </p:nvSpPr>
        <p:spPr>
          <a:xfrm>
            <a:off x="660400" y="2438400"/>
            <a:ext cx="6731000" cy="12700"/>
          </a:xfrm>
          <a:prstGeom prst="rect">
            <a:avLst/>
          </a:prstGeom>
          <a:solidFill>
            <a:srgbClr val="E4EAED"/>
          </a:solidFill>
          <a:ln>
            <a:noFill/>
          </a:ln>
        </p:spPr>
        <p:txBody>
          <a:bodyPr wrap="square" lIns="127000" tIns="76200" rIns="127000" bIns="76200" anchor="ctr">
            <a:noAutofit/>
          </a:bodyPr>
          <a:lstStyle/>
          <a:p>
            <a:pPr>
              <a:buNone/>
            </a:pPr>
            <a:endParaRPr lang="en-US"/>
          </a:p>
        </p:txBody>
      </p:sp>
      <p:sp>
        <p:nvSpPr>
          <p:cNvPr id="108" name="s108"/>
          <p:cNvSpPr/>
          <p:nvPr/>
        </p:nvSpPr>
        <p:spPr>
          <a:xfrm>
            <a:off x="660400" y="2489200"/>
            <a:ext cx="1905000" cy="762000"/>
          </a:xfrm>
          <a:prstGeom prst="rect">
            <a:avLst/>
          </a:prstGeom>
          <a:noFill/>
          <a:ln>
            <a:noFill/>
          </a:ln>
        </p:spPr>
        <p:txBody>
          <a:bodyPr wrap="square" lIns="0" tIns="76200" rIns="0" bIns="76200" anchor="ctr">
            <a:noAutofit/>
          </a:bodyPr>
          <a:lstStyle/>
          <a:p>
            <a:pPr algn="l">
              <a:lnSpc>
                <a:spcPts val="1250"/>
              </a:lnSpc>
              <a:buNone/>
            </a:pPr>
            <a:r>
              <a:rPr lang="en-US" sz="1050" b="1" dirty="0">
                <a:solidFill>
                  <a:srgbClr val="12556B"/>
                </a:solidFill>
              </a:rPr>
              <a:t>Material and vendor</a:t>
            </a:r>
          </a:p>
        </p:txBody>
      </p:sp>
      <p:sp>
        <p:nvSpPr>
          <p:cNvPr id="109" name="s109"/>
          <p:cNvSpPr/>
          <p:nvPr/>
        </p:nvSpPr>
        <p:spPr>
          <a:xfrm>
            <a:off x="2667000" y="2489200"/>
            <a:ext cx="2946400" cy="762000"/>
          </a:xfrm>
          <a:prstGeom prst="rect">
            <a:avLst/>
          </a:prstGeom>
          <a:noFill/>
          <a:ln>
            <a:noFill/>
          </a:ln>
        </p:spPr>
        <p:txBody>
          <a:bodyPr wrap="square" lIns="0" tIns="76200" rIns="0" bIns="76200" anchor="ctr">
            <a:noAutofit/>
          </a:bodyPr>
          <a:lstStyle/>
          <a:p>
            <a:pPr algn="l">
              <a:lnSpc>
                <a:spcPts val="1200"/>
              </a:lnSpc>
              <a:buNone/>
            </a:pPr>
            <a:r>
              <a:rPr lang="en-US" sz="1000" b="0" dirty="0">
                <a:solidFill>
                  <a:srgbClr val="16262E"/>
                </a:solidFill>
              </a:rPr>
              <a:t>PR form, RFQ, abstract of canvass, PO, receiving report, return to vendor slip</a:t>
            </a:r>
          </a:p>
        </p:txBody>
      </p:sp>
      <p:sp>
        <p:nvSpPr>
          <p:cNvPr id="110" name="s110"/>
          <p:cNvSpPr/>
          <p:nvPr/>
        </p:nvSpPr>
        <p:spPr>
          <a:xfrm>
            <a:off x="5715000" y="2489200"/>
            <a:ext cx="1676400" cy="762000"/>
          </a:xfrm>
          <a:prstGeom prst="rect">
            <a:avLst/>
          </a:prstGeom>
          <a:noFill/>
          <a:ln>
            <a:noFill/>
          </a:ln>
        </p:spPr>
        <p:txBody>
          <a:bodyPr wrap="square" lIns="0" tIns="76200" rIns="0" bIns="76200" anchor="ctr">
            <a:noAutofit/>
          </a:bodyPr>
          <a:lstStyle/>
          <a:p>
            <a:pPr algn="l">
              <a:lnSpc>
                <a:spcPts val="1200"/>
              </a:lnSpc>
              <a:buNone/>
            </a:pPr>
            <a:r>
              <a:rPr lang="en-US" sz="1000" b="0" dirty="0">
                <a:solidFill>
                  <a:srgbClr val="B3560F"/>
                </a:solidFill>
              </a:rPr>
              <a:t>Procurement log and inventory module</a:t>
            </a:r>
          </a:p>
        </p:txBody>
      </p:sp>
      <p:sp>
        <p:nvSpPr>
          <p:cNvPr id="111" name="s111"/>
          <p:cNvSpPr/>
          <p:nvPr/>
        </p:nvSpPr>
        <p:spPr>
          <a:xfrm>
            <a:off x="660400" y="3276600"/>
            <a:ext cx="6731000" cy="12700"/>
          </a:xfrm>
          <a:prstGeom prst="rect">
            <a:avLst/>
          </a:prstGeom>
          <a:solidFill>
            <a:srgbClr val="E4EAED"/>
          </a:solidFill>
          <a:ln>
            <a:noFill/>
          </a:ln>
        </p:spPr>
        <p:txBody>
          <a:bodyPr wrap="square" lIns="127000" tIns="76200" rIns="127000" bIns="76200" anchor="ctr">
            <a:noAutofit/>
          </a:bodyPr>
          <a:lstStyle/>
          <a:p>
            <a:pPr>
              <a:buNone/>
            </a:pPr>
            <a:endParaRPr lang="en-US"/>
          </a:p>
        </p:txBody>
      </p:sp>
      <p:sp>
        <p:nvSpPr>
          <p:cNvPr id="112" name="s112"/>
          <p:cNvSpPr/>
          <p:nvPr/>
        </p:nvSpPr>
        <p:spPr>
          <a:xfrm>
            <a:off x="660400" y="3327400"/>
            <a:ext cx="1905000" cy="762000"/>
          </a:xfrm>
          <a:prstGeom prst="rect">
            <a:avLst/>
          </a:prstGeom>
          <a:noFill/>
          <a:ln>
            <a:noFill/>
          </a:ln>
        </p:spPr>
        <p:txBody>
          <a:bodyPr wrap="square" lIns="0" tIns="76200" rIns="0" bIns="76200" anchor="ctr">
            <a:noAutofit/>
          </a:bodyPr>
          <a:lstStyle/>
          <a:p>
            <a:pPr algn="l">
              <a:lnSpc>
                <a:spcPts val="1250"/>
              </a:lnSpc>
              <a:buNone/>
            </a:pPr>
            <a:r>
              <a:rPr lang="en-US" sz="1050" b="1" dirty="0">
                <a:solidFill>
                  <a:srgbClr val="12556B"/>
                </a:solidFill>
              </a:rPr>
              <a:t>HRIS and payroll</a:t>
            </a:r>
          </a:p>
        </p:txBody>
      </p:sp>
      <p:sp>
        <p:nvSpPr>
          <p:cNvPr id="113" name="s113"/>
          <p:cNvSpPr/>
          <p:nvPr/>
        </p:nvSpPr>
        <p:spPr>
          <a:xfrm>
            <a:off x="2667000" y="3327400"/>
            <a:ext cx="2946400" cy="762000"/>
          </a:xfrm>
          <a:prstGeom prst="rect">
            <a:avLst/>
          </a:prstGeom>
          <a:noFill/>
          <a:ln>
            <a:noFill/>
          </a:ln>
        </p:spPr>
        <p:txBody>
          <a:bodyPr wrap="square" lIns="0" tIns="76200" rIns="0" bIns="76200" anchor="ctr">
            <a:noAutofit/>
          </a:bodyPr>
          <a:lstStyle/>
          <a:p>
            <a:pPr algn="l">
              <a:lnSpc>
                <a:spcPts val="1200"/>
              </a:lnSpc>
              <a:buNone/>
            </a:pPr>
            <a:r>
              <a:rPr lang="en-US" sz="1000" b="0" dirty="0">
                <a:solidFill>
                  <a:srgbClr val="16262E"/>
                </a:solidFill>
              </a:rPr>
              <a:t>Manpower requisition, 201 checklist, DTR, overtime slip, payroll register, payslip</a:t>
            </a:r>
          </a:p>
        </p:txBody>
      </p:sp>
      <p:sp>
        <p:nvSpPr>
          <p:cNvPr id="114" name="s114"/>
          <p:cNvSpPr/>
          <p:nvPr/>
        </p:nvSpPr>
        <p:spPr>
          <a:xfrm>
            <a:off x="5715000" y="3327400"/>
            <a:ext cx="1676400" cy="762000"/>
          </a:xfrm>
          <a:prstGeom prst="rect">
            <a:avLst/>
          </a:prstGeom>
          <a:noFill/>
          <a:ln>
            <a:noFill/>
          </a:ln>
        </p:spPr>
        <p:txBody>
          <a:bodyPr wrap="square" lIns="0" tIns="76200" rIns="0" bIns="76200" anchor="ctr">
            <a:noAutofit/>
          </a:bodyPr>
          <a:lstStyle/>
          <a:p>
            <a:pPr algn="l">
              <a:lnSpc>
                <a:spcPts val="1200"/>
              </a:lnSpc>
              <a:buNone/>
            </a:pPr>
            <a:r>
              <a:rPr lang="en-US" sz="1000" b="0" dirty="0">
                <a:solidFill>
                  <a:srgbClr val="B3560F"/>
                </a:solidFill>
              </a:rPr>
              <a:t>Biometrics and HRIS payroll module</a:t>
            </a:r>
          </a:p>
        </p:txBody>
      </p:sp>
      <p:sp>
        <p:nvSpPr>
          <p:cNvPr id="115" name="s115"/>
          <p:cNvSpPr/>
          <p:nvPr/>
        </p:nvSpPr>
        <p:spPr>
          <a:xfrm>
            <a:off x="660400" y="4114800"/>
            <a:ext cx="6731000" cy="12700"/>
          </a:xfrm>
          <a:prstGeom prst="rect">
            <a:avLst/>
          </a:prstGeom>
          <a:solidFill>
            <a:srgbClr val="E4EAED"/>
          </a:solidFill>
          <a:ln>
            <a:noFill/>
          </a:ln>
        </p:spPr>
        <p:txBody>
          <a:bodyPr wrap="square" lIns="127000" tIns="76200" rIns="127000" bIns="76200" anchor="ctr">
            <a:noAutofit/>
          </a:bodyPr>
          <a:lstStyle/>
          <a:p>
            <a:pPr>
              <a:buNone/>
            </a:pPr>
            <a:endParaRPr lang="en-US"/>
          </a:p>
        </p:txBody>
      </p:sp>
      <p:sp>
        <p:nvSpPr>
          <p:cNvPr id="116" name="s116"/>
          <p:cNvSpPr/>
          <p:nvPr/>
        </p:nvSpPr>
        <p:spPr>
          <a:xfrm>
            <a:off x="660400" y="4165600"/>
            <a:ext cx="1905000" cy="762000"/>
          </a:xfrm>
          <a:prstGeom prst="rect">
            <a:avLst/>
          </a:prstGeom>
          <a:noFill/>
          <a:ln>
            <a:noFill/>
          </a:ln>
        </p:spPr>
        <p:txBody>
          <a:bodyPr wrap="square" lIns="0" tIns="76200" rIns="0" bIns="76200" anchor="ctr">
            <a:noAutofit/>
          </a:bodyPr>
          <a:lstStyle/>
          <a:p>
            <a:pPr algn="l">
              <a:lnSpc>
                <a:spcPts val="1250"/>
              </a:lnSpc>
              <a:buNone/>
            </a:pPr>
            <a:r>
              <a:rPr lang="en-US" sz="1050" b="1" dirty="0">
                <a:solidFill>
                  <a:srgbClr val="12556B"/>
                </a:solidFill>
              </a:rPr>
              <a:t>OPEX</a:t>
            </a:r>
          </a:p>
        </p:txBody>
      </p:sp>
      <p:sp>
        <p:nvSpPr>
          <p:cNvPr id="117" name="s117"/>
          <p:cNvSpPr/>
          <p:nvPr/>
        </p:nvSpPr>
        <p:spPr>
          <a:xfrm>
            <a:off x="2667000" y="4165600"/>
            <a:ext cx="2946400" cy="762000"/>
          </a:xfrm>
          <a:prstGeom prst="rect">
            <a:avLst/>
          </a:prstGeom>
          <a:noFill/>
          <a:ln>
            <a:noFill/>
          </a:ln>
        </p:spPr>
        <p:txBody>
          <a:bodyPr wrap="square" lIns="0" tIns="76200" rIns="0" bIns="76200" anchor="ctr">
            <a:noAutofit/>
          </a:bodyPr>
          <a:lstStyle/>
          <a:p>
            <a:pPr algn="l">
              <a:lnSpc>
                <a:spcPts val="1200"/>
              </a:lnSpc>
              <a:buNone/>
            </a:pPr>
            <a:r>
              <a:rPr lang="en-US" sz="1000" b="0" dirty="0">
                <a:solidFill>
                  <a:srgbClr val="16262E"/>
                </a:solidFill>
              </a:rPr>
              <a:t>Liquidation form, expense coding sheet, budget against actual report</a:t>
            </a:r>
          </a:p>
        </p:txBody>
      </p:sp>
      <p:sp>
        <p:nvSpPr>
          <p:cNvPr id="118" name="s118"/>
          <p:cNvSpPr/>
          <p:nvPr/>
        </p:nvSpPr>
        <p:spPr>
          <a:xfrm>
            <a:off x="5715000" y="4165600"/>
            <a:ext cx="1676400" cy="762000"/>
          </a:xfrm>
          <a:prstGeom prst="rect">
            <a:avLst/>
          </a:prstGeom>
          <a:noFill/>
          <a:ln>
            <a:noFill/>
          </a:ln>
        </p:spPr>
        <p:txBody>
          <a:bodyPr wrap="square" lIns="0" tIns="76200" rIns="0" bIns="76200" anchor="ctr">
            <a:noAutofit/>
          </a:bodyPr>
          <a:lstStyle/>
          <a:p>
            <a:pPr algn="l">
              <a:lnSpc>
                <a:spcPts val="1200"/>
              </a:lnSpc>
              <a:buNone/>
            </a:pPr>
            <a:r>
              <a:rPr lang="en-US" sz="1000" b="0" dirty="0">
                <a:solidFill>
                  <a:srgbClr val="B3560F"/>
                </a:solidFill>
              </a:rPr>
              <a:t>Accounting system and expense ledger</a:t>
            </a:r>
          </a:p>
        </p:txBody>
      </p:sp>
      <p:sp>
        <p:nvSpPr>
          <p:cNvPr id="119" name="s119"/>
          <p:cNvSpPr/>
          <p:nvPr/>
        </p:nvSpPr>
        <p:spPr>
          <a:xfrm>
            <a:off x="7772400" y="1244600"/>
            <a:ext cx="3911600" cy="3759200"/>
          </a:xfrm>
          <a:prstGeom prst="rect">
            <a:avLst/>
          </a:prstGeom>
          <a:solidFill>
            <a:srgbClr val="F7F9FA"/>
          </a:solidFill>
          <a:ln w="12700">
            <a:solidFill>
              <a:srgbClr val="12556B"/>
            </a:solidFill>
          </a:ln>
        </p:spPr>
        <p:txBody>
          <a:bodyPr wrap="square" lIns="127000" tIns="76200" rIns="127000" bIns="76200" anchor="ctr">
            <a:noAutofit/>
          </a:bodyPr>
          <a:lstStyle/>
          <a:p>
            <a:pPr>
              <a:buNone/>
            </a:pPr>
            <a:endParaRPr lang="en-US"/>
          </a:p>
        </p:txBody>
      </p:sp>
      <p:sp>
        <p:nvSpPr>
          <p:cNvPr id="120" name="s120"/>
          <p:cNvSpPr/>
          <p:nvPr/>
        </p:nvSpPr>
        <p:spPr>
          <a:xfrm>
            <a:off x="7772400" y="1244600"/>
            <a:ext cx="3911600" cy="355600"/>
          </a:xfrm>
          <a:prstGeom prst="rect">
            <a:avLst/>
          </a:prstGeom>
          <a:solidFill>
            <a:srgbClr val="12556B"/>
          </a:solidFill>
          <a:ln>
            <a:noFill/>
          </a:ln>
        </p:spPr>
        <p:txBody>
          <a:bodyPr wrap="square" lIns="152400" tIns="76200" rIns="152400" bIns="76200" anchor="ctr">
            <a:noAutofit/>
          </a:bodyPr>
          <a:lstStyle/>
          <a:p>
            <a:pPr algn="l">
              <a:buNone/>
            </a:pPr>
            <a:r>
              <a:rPr lang="en-US" sz="1050" b="1" dirty="0">
                <a:solidFill>
                  <a:srgbClr val="FFFFFF"/>
                </a:solidFill>
              </a:rPr>
              <a:t>DECISIONS NEEDED</a:t>
            </a:r>
          </a:p>
        </p:txBody>
      </p:sp>
      <p:sp>
        <p:nvSpPr>
          <p:cNvPr id="121" name="s121"/>
          <p:cNvSpPr/>
          <p:nvPr/>
        </p:nvSpPr>
        <p:spPr>
          <a:xfrm>
            <a:off x="7772400" y="1651000"/>
            <a:ext cx="3911600" cy="3276600"/>
          </a:xfrm>
          <a:prstGeom prst="rect">
            <a:avLst/>
          </a:prstGeom>
          <a:noFill/>
          <a:ln>
            <a:noFill/>
          </a:ln>
        </p:spPr>
        <p:txBody>
          <a:bodyPr wrap="square" lIns="203200" tIns="101600" rIns="203200" bIns="101600" anchor="t">
            <a:noAutofit/>
          </a:bodyPr>
          <a:lstStyle/>
          <a:p>
            <a:pPr algn="l">
              <a:lnSpc>
                <a:spcPts val="1300"/>
              </a:lnSpc>
              <a:buNone/>
            </a:pPr>
            <a:r>
              <a:rPr lang="en-US" sz="1050" b="0" dirty="0">
                <a:solidFill>
                  <a:srgbClr val="16262E"/>
                </a:solidFill>
              </a:rPr>
              <a:t>1.  Peso limits for each approval tier</a:t>
            </a:r>
          </a:p>
          <a:p>
            <a:pPr algn="l">
              <a:lnSpc>
                <a:spcPts val="1300"/>
              </a:lnSpc>
              <a:spcBef>
                <a:spcPts val="140"/>
              </a:spcBef>
              <a:buNone/>
            </a:pPr>
            <a:r>
              <a:rPr lang="en-US" sz="1050" b="0" dirty="0">
                <a:solidFill>
                  <a:srgbClr val="16262E"/>
                </a:solidFill>
              </a:rPr>
              <a:t>2.  Billing milestones per contract type — 30/50/75/95/100 is the default here</a:t>
            </a:r>
          </a:p>
          <a:p>
            <a:pPr algn="l">
              <a:lnSpc>
                <a:spcPts val="1300"/>
              </a:lnSpc>
              <a:spcBef>
                <a:spcPts val="140"/>
              </a:spcBef>
              <a:buNone/>
            </a:pPr>
            <a:r>
              <a:rPr lang="en-US" sz="1050" b="0" dirty="0">
                <a:solidFill>
                  <a:srgbClr val="16262E"/>
                </a:solidFill>
              </a:rPr>
              <a:t>3.  Retention rate and the defects liability period</a:t>
            </a:r>
          </a:p>
          <a:p>
            <a:pPr algn="l">
              <a:lnSpc>
                <a:spcPts val="1300"/>
              </a:lnSpc>
              <a:spcBef>
                <a:spcPts val="140"/>
              </a:spcBef>
              <a:buNone/>
            </a:pPr>
            <a:r>
              <a:rPr lang="en-US" sz="1050" b="0" dirty="0">
                <a:solidFill>
                  <a:srgbClr val="16262E"/>
                </a:solidFill>
              </a:rPr>
              <a:t>4.  Payroll cutoff and release dates</a:t>
            </a:r>
          </a:p>
          <a:p>
            <a:pPr algn="l">
              <a:lnSpc>
                <a:spcPts val="1300"/>
              </a:lnSpc>
              <a:spcBef>
                <a:spcPts val="140"/>
              </a:spcBef>
              <a:buNone/>
            </a:pPr>
            <a:r>
              <a:rPr lang="en-US" sz="1050" b="0" dirty="0">
                <a:solidFill>
                  <a:srgbClr val="16262E"/>
                </a:solidFill>
              </a:rPr>
              <a:t>5.  Named owner for each of the seven acquisition steps</a:t>
            </a:r>
          </a:p>
          <a:p>
            <a:pPr algn="l">
              <a:lnSpc>
                <a:spcPts val="1300"/>
              </a:lnSpc>
              <a:spcBef>
                <a:spcPts val="140"/>
              </a:spcBef>
              <a:buNone/>
            </a:pPr>
            <a:r>
              <a:rPr lang="en-US" sz="1050" b="0" dirty="0">
                <a:solidFill>
                  <a:srgbClr val="16262E"/>
                </a:solidFill>
              </a:rPr>
              <a:t>6.  Which forms already exist in the system and which are still manual</a:t>
            </a:r>
          </a:p>
        </p:txBody>
      </p:sp>
      <p:sp>
        <p:nvSpPr>
          <p:cNvPr id="122" name="s122"/>
          <p:cNvSpPr/>
          <p:nvPr/>
        </p:nvSpPr>
        <p:spPr>
          <a:xfrm>
            <a:off x="508000" y="5257800"/>
            <a:ext cx="2743200" cy="584200"/>
          </a:xfrm>
          <a:prstGeom prst="chevron">
            <a:avLst/>
          </a:prstGeom>
          <a:solidFill>
            <a:srgbClr val="3FB4C4"/>
          </a:solidFill>
          <a:ln>
            <a:noFill/>
          </a:ln>
        </p:spPr>
        <p:txBody>
          <a:bodyPr wrap="square" lIns="177800" tIns="76200" rIns="177800" bIns="76200" anchor="ctr">
            <a:noAutofit/>
          </a:bodyPr>
          <a:lstStyle/>
          <a:p>
            <a:pPr algn="ctr">
              <a:lnSpc>
                <a:spcPts val="1200"/>
              </a:lnSpc>
              <a:buNone/>
            </a:pPr>
            <a:r>
              <a:rPr lang="en-US" sz="1100" b="1" dirty="0">
                <a:solidFill>
                  <a:srgbClr val="FFFFFF"/>
                </a:solidFill>
              </a:rPr>
              <a:t>1   CIRCULATE</a:t>
            </a:r>
          </a:p>
        </p:txBody>
      </p:sp>
      <p:sp>
        <p:nvSpPr>
          <p:cNvPr id="123" name="s123"/>
          <p:cNvSpPr/>
          <p:nvPr/>
        </p:nvSpPr>
        <p:spPr>
          <a:xfrm>
            <a:off x="3327400" y="5257800"/>
            <a:ext cx="2743200" cy="584200"/>
          </a:xfrm>
          <a:prstGeom prst="chevron">
            <a:avLst/>
          </a:prstGeom>
          <a:solidFill>
            <a:srgbClr val="0E8C9E"/>
          </a:solidFill>
          <a:ln>
            <a:noFill/>
          </a:ln>
        </p:spPr>
        <p:txBody>
          <a:bodyPr wrap="square" lIns="177800" tIns="76200" rIns="177800" bIns="76200" anchor="ctr">
            <a:noAutofit/>
          </a:bodyPr>
          <a:lstStyle/>
          <a:p>
            <a:pPr algn="ctr">
              <a:lnSpc>
                <a:spcPts val="1200"/>
              </a:lnSpc>
              <a:buNone/>
            </a:pPr>
            <a:r>
              <a:rPr lang="en-US" sz="1100" b="1" dirty="0">
                <a:solidFill>
                  <a:srgbClr val="FFFFFF"/>
                </a:solidFill>
              </a:rPr>
              <a:t>2   CONFIRM LIMITS</a:t>
            </a:r>
          </a:p>
        </p:txBody>
      </p:sp>
      <p:sp>
        <p:nvSpPr>
          <p:cNvPr id="124" name="s124"/>
          <p:cNvSpPr/>
          <p:nvPr/>
        </p:nvSpPr>
        <p:spPr>
          <a:xfrm>
            <a:off x="6146800" y="5257800"/>
            <a:ext cx="2743200" cy="584200"/>
          </a:xfrm>
          <a:prstGeom prst="chevron">
            <a:avLst/>
          </a:prstGeom>
          <a:solidFill>
            <a:srgbClr val="12556B"/>
          </a:solidFill>
          <a:ln>
            <a:noFill/>
          </a:ln>
        </p:spPr>
        <p:txBody>
          <a:bodyPr wrap="square" lIns="177800" tIns="76200" rIns="177800" bIns="76200" anchor="ctr">
            <a:noAutofit/>
          </a:bodyPr>
          <a:lstStyle/>
          <a:p>
            <a:pPr algn="ctr">
              <a:lnSpc>
                <a:spcPts val="1200"/>
              </a:lnSpc>
              <a:buNone/>
            </a:pPr>
            <a:r>
              <a:rPr lang="en-US" sz="1100" b="1" dirty="0">
                <a:solidFill>
                  <a:srgbClr val="FFFFFF"/>
                </a:solidFill>
              </a:rPr>
              <a:t>3   ISSUE AS SOP</a:t>
            </a:r>
          </a:p>
        </p:txBody>
      </p:sp>
      <p:sp>
        <p:nvSpPr>
          <p:cNvPr id="125" name="s125"/>
          <p:cNvSpPr/>
          <p:nvPr/>
        </p:nvSpPr>
        <p:spPr>
          <a:xfrm>
            <a:off x="8966200" y="5257800"/>
            <a:ext cx="2743200" cy="584200"/>
          </a:xfrm>
          <a:prstGeom prst="chevron">
            <a:avLst/>
          </a:prstGeom>
          <a:solidFill>
            <a:srgbClr val="0B3A4A"/>
          </a:solidFill>
          <a:ln>
            <a:noFill/>
          </a:ln>
        </p:spPr>
        <p:txBody>
          <a:bodyPr wrap="square" lIns="177800" tIns="76200" rIns="177800" bIns="76200" anchor="ctr">
            <a:noAutofit/>
          </a:bodyPr>
          <a:lstStyle/>
          <a:p>
            <a:pPr algn="ctr">
              <a:lnSpc>
                <a:spcPts val="1200"/>
              </a:lnSpc>
              <a:buNone/>
            </a:pPr>
            <a:r>
              <a:rPr lang="en-US" sz="1100" b="1" dirty="0">
                <a:solidFill>
                  <a:srgbClr val="FFFFFF"/>
                </a:solidFill>
              </a:rPr>
              <a:t>4   AUDIT ONE CYCLE</a:t>
            </a:r>
          </a:p>
        </p:txBody>
      </p:sp>
      <p:sp>
        <p:nvSpPr>
          <p:cNvPr id="126" name="s126"/>
          <p:cNvSpPr/>
          <p:nvPr/>
        </p:nvSpPr>
        <p:spPr>
          <a:xfrm>
            <a:off x="508000" y="6172200"/>
            <a:ext cx="11176000" cy="558800"/>
          </a:xfrm>
          <a:prstGeom prst="rect">
            <a:avLst/>
          </a:prstGeom>
          <a:noFill/>
          <a:ln>
            <a:noFill/>
          </a:ln>
        </p:spPr>
        <p:txBody>
          <a:bodyPr wrap="square" lIns="0" tIns="76200" rIns="0" bIns="76200" anchor="t">
            <a:noAutofit/>
          </a:bodyPr>
          <a:lstStyle/>
          <a:p>
            <a:pPr algn="l">
              <a:lnSpc>
                <a:spcPts val="1300"/>
              </a:lnSpc>
              <a:buNone/>
            </a:pPr>
            <a:r>
              <a:rPr lang="en-US" sz="1100" b="0" dirty="0">
                <a:solidFill>
                  <a:srgbClr val="3D4A52"/>
                </a:solidFill>
              </a:rPr>
              <a:t>The flows here follow the sequence you gave: award, requisition, vendor and subcontractor award, PO, mobilization, progress billing, then invoice and receipt. Everything added — thresholds, cutoffs, retention, three-way match — is a standard construction control, shown so the team can confirm or replace it with your own rule.</a:t>
            </a:r>
          </a:p>
        </p:txBody>
      </p:sp>
    </p:spTree>
    <p:extLst>
      <p:ext uri="{BB962C8B-B14F-4D97-AF65-F5344CB8AC3E}">
        <p14:creationId xmlns:p14="http://schemas.microsoft.com/office/powerpoint/2010/main" val="3251203364"/>
      </p:ext>
    </p:extLst>
  </p:cSld>
  <p:clrMapOvr>
    <a:masterClrMapping/>
  </p:clrMapOvr>
</p:sld>
</file>

<file path=ppt/theme/theme1.xml><?xml version="1.0" encoding="utf-8"?>
<a:theme xmlns:a="http://schemas.openxmlformats.org/drawingml/2006/main" name="Office Theme [1788778998099]">
  <a:themeElements>
    <a:clrScheme name="Office">
      <a:dk1>
        <a:srgbClr val="16262E"/>
      </a:dk1>
      <a:lt1>
        <a:srgbClr val="FFFFFF"/>
      </a:lt1>
      <a:dk2>
        <a:srgbClr val="12556B"/>
      </a:dk2>
      <a:lt2>
        <a:srgbClr val="F1F5F7"/>
      </a:lt2>
      <a:accent1>
        <a:srgbClr val="0E8C9E"/>
      </a:accent1>
      <a:accent2>
        <a:srgbClr val="12556B"/>
      </a:accent2>
      <a:accent3>
        <a:srgbClr val="C8621B"/>
      </a:accent3>
      <a:accent4>
        <a:srgbClr val="6B7B85"/>
      </a:accent4>
      <a:accent5>
        <a:srgbClr val="3FB4C4"/>
      </a:accent5>
      <a:accent6>
        <a:srgbClr val="9AAEB6"/>
      </a:accent6>
      <a:hlink>
        <a:srgbClr val="467886"/>
      </a:hlink>
      <a:folHlink>
        <a:srgbClr val="96607D"/>
      </a:folHlink>
    </a:clrScheme>
    <a:fontScheme name="Office">
      <a:majorFont>
        <a:latin typeface="Segoe UI"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93"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317A6B6-26BE-4D0B-BC71-A6E727BB9397}">
  <we:reference id="WA200010001" version="1.0.0.1" store="Omex" storeType="OMEX"/>
  <we:alternateReferences>
    <we:reference id="WA200010001" version="1.0.0.1" store="WA200010001" storeType="OMEX"/>
  </we:alternateReferences>
  <we:properties>
    <we:property name="claude.fileId" value="&quot;d10a08e9-5105-4ffd-87be-e0a48a7efd25&quot;"/>
  </we:properties>
  <we:bindings/>
  <we:snapshot xmlns:r="http://schemas.openxmlformats.org/officeDocument/2006/relationships"/>
</we:webextension>
</file>

<file path=docMetadata/LabelInfo.xml><?xml version="1.0" encoding="utf-8"?>
<clbl:labelList xmlns:clbl="http://schemas.microsoft.com/office/2020/mipLabelMetadata">
  <clbl:label id="{8d541049-65ad-47a0-a06a-7db1899466e6}" enabled="1" method="Privileged" siteId="{282b2a09-344b-4443-9558-a00d8e020235}" contentBits="0" removed="0"/>
</clbl:labelList>
</file>

<file path=docProps/app.xml><?xml version="1.0" encoding="utf-8"?>
<Properties xmlns="http://schemas.openxmlformats.org/officeDocument/2006/extended-properties" xmlns:vt="http://schemas.openxmlformats.org/officeDocument/2006/docPropsVTypes">
  <TotalTime>27</TotalTime>
  <Words>2659</Words>
  <Application>Microsoft Office PowerPoint</Application>
  <PresentationFormat>Widescreen</PresentationFormat>
  <Paragraphs>451</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Segoe UI</vt:lpstr>
      <vt:lpstr>Office Theme [1788778998099]</vt:lpstr>
      <vt:lpstr>Construction Operations End-to-End Process Flows</vt:lpstr>
      <vt:lpstr>Four process chains run across the four project phases</vt:lpstr>
      <vt:lpstr>Project acquisition runs seven gated steps from award to first collection</vt:lpstr>
      <vt:lpstr>Material and vendor acquisition: from PR to payment in nine steps</vt:lpstr>
      <vt:lpstr>Approval authority and accreditation decide who can buy, from whom, and how fast</vt:lpstr>
      <vt:lpstr>Billing runs from a 30% downpayment to 100%, then branches to invoice and receipt</vt:lpstr>
      <vt:lpstr>HRIS turns daily timelogs into payroll and posted labor cost in nine steps</vt:lpstr>
      <vt:lpstr>OPEX is consolidated on a fixed monthly calendar, from capture to management report</vt:lpstr>
      <vt:lpstr>Close-out is not finished at turnover — it ends when retention is collected and the books are closed</vt:lpstr>
      <vt:lpstr>Every process ends in the same place: the project cost ledger</vt:lpstr>
      <vt:lpstr>One owner, one cycle time and one hard control for every process</vt:lpstr>
      <vt:lpstr>What to confirm before this is issued as the standard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Dave Laryll Santos</dc:creator>
  <cp:lastModifiedBy>Dave Laryll Santos</cp:lastModifiedBy>
  <cp:revision>2</cp:revision>
  <dcterms:created xsi:type="dcterms:W3CDTF">2026-09-07T11:03:17Z</dcterms:created>
  <dcterms:modified xsi:type="dcterms:W3CDTF">2026-09-07T11:30:56Z</dcterms:modified>
</cp:coreProperties>
</file>